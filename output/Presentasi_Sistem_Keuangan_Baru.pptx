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caef564ce9469d" /><Relationship Type="http://schemas.openxmlformats.org/officeDocument/2006/relationships/extended-properties" Target="/docProps/app.xml" Id="R69516c076c4c44a2" /><Relationship Type="http://schemas.openxmlformats.org/officeDocument/2006/relationships/officeDocument" Target="/ppt/presentation.xml" Id="Rca965cf7f1b94173" /></Relationships>
</file>

<file path=ppt/presentation.xml><?xml version="1.0" encoding="utf-8"?>
<p:presentation xmlns:p="http://schemas.openxmlformats.org/presentationml/2006/main">
  <p:sldMasterIdLst>
    <p:sldMasterId xmlns:r="http://schemas.openxmlformats.org/officeDocument/2006/relationships" id="2147483648" r:id="Rcd2c52983b9f455e"/>
  </p:sldMasterIdLst>
  <p:notesMasterIdLst>
    <p:notesMasterId xmlns:r="http://schemas.openxmlformats.org/officeDocument/2006/relationships" r:id="R2bf0fa65d58e456d"/>
  </p:notesMasterIdLst>
  <p:sldIdLst>
    <p:sldId xmlns:r="http://schemas.openxmlformats.org/officeDocument/2006/relationships" id="256" r:id="Rdfd84a1f4e184200"/>
    <p:sldId xmlns:r="http://schemas.openxmlformats.org/officeDocument/2006/relationships" id="257" r:id="Ra54fd03451bd4728"/>
    <p:sldId xmlns:r="http://schemas.openxmlformats.org/officeDocument/2006/relationships" id="258" r:id="R123a4e63850b4944"/>
    <p:sldId xmlns:r="http://schemas.openxmlformats.org/officeDocument/2006/relationships" id="259" r:id="Rec92ad799ef74f79"/>
    <p:sldId xmlns:r="http://schemas.openxmlformats.org/officeDocument/2006/relationships" id="260" r:id="Re66b27e937d4446f"/>
    <p:sldId xmlns:r="http://schemas.openxmlformats.org/officeDocument/2006/relationships" id="261" r:id="Rfa00649eec804634"/>
    <p:sldId xmlns:r="http://schemas.openxmlformats.org/officeDocument/2006/relationships" id="262" r:id="Rad9ea15d2b994d3a"/>
    <p:sldId xmlns:r="http://schemas.openxmlformats.org/officeDocument/2006/relationships" id="263" r:id="R13b05c19fad440ef"/>
    <p:sldId xmlns:r="http://schemas.openxmlformats.org/officeDocument/2006/relationships" id="264" r:id="Ra5c872f4ab8e479e"/>
    <p:sldId xmlns:r="http://schemas.openxmlformats.org/officeDocument/2006/relationships" id="265" r:id="R3fe9223ec6224617"/>
    <p:sldId xmlns:r="http://schemas.openxmlformats.org/officeDocument/2006/relationships" id="266" r:id="R030ea2a3361f4da7"/>
    <p:sldId xmlns:r="http://schemas.openxmlformats.org/officeDocument/2006/relationships" id="267" r:id="R077f0d5b6fb54e13"/>
    <p:sldId xmlns:r="http://schemas.openxmlformats.org/officeDocument/2006/relationships" id="268" r:id="R14d7a22f055641a1"/>
    <p:sldId xmlns:r="http://schemas.openxmlformats.org/officeDocument/2006/relationships" id="269" r:id="R93378829e8c044b8"/>
    <p:sldId xmlns:r="http://schemas.openxmlformats.org/officeDocument/2006/relationships" id="270" r:id="Rf4e27ebdfc964b35"/>
    <p:sldId xmlns:r="http://schemas.openxmlformats.org/officeDocument/2006/relationships" id="271" r:id="Re60028d7277d4eb3"/>
    <p:sldId xmlns:r="http://schemas.openxmlformats.org/officeDocument/2006/relationships" id="272" r:id="R9eabdd21a2314dcc"/>
    <p:sldId xmlns:r="http://schemas.openxmlformats.org/officeDocument/2006/relationships" id="273" r:id="R14b4446749834cd1"/>
    <p:sldId xmlns:r="http://schemas.openxmlformats.org/officeDocument/2006/relationships" id="274" r:id="Rc47ddb83822e460d"/>
    <p:sldId xmlns:r="http://schemas.openxmlformats.org/officeDocument/2006/relationships" id="275" r:id="Ra58ad9cd0d1043b2"/>
    <p:sldId xmlns:r="http://schemas.openxmlformats.org/officeDocument/2006/relationships" id="276" r:id="R2d37b97c1cfc4252"/>
    <p:sldId xmlns:r="http://schemas.openxmlformats.org/officeDocument/2006/relationships" id="277" r:id="Re0424566b3fe4a19"/>
    <p:sldId xmlns:r="http://schemas.openxmlformats.org/officeDocument/2006/relationships" id="278" r:id="R570ff826ccab4640"/>
    <p:sldId xmlns:r="http://schemas.openxmlformats.org/officeDocument/2006/relationships" id="279" r:id="R778386fe25bf455c"/>
    <p:sldId xmlns:r="http://schemas.openxmlformats.org/officeDocument/2006/relationships" id="280" r:id="Rb062fec3d7da4415"/>
    <p:sldId xmlns:r="http://schemas.openxmlformats.org/officeDocument/2006/relationships" id="281" r:id="R4fc948e997d04e9c"/>
    <p:sldId xmlns:r="http://schemas.openxmlformats.org/officeDocument/2006/relationships" id="282" r:id="R52ad3058f70a49da"/>
    <p:sldId xmlns:r="http://schemas.openxmlformats.org/officeDocument/2006/relationships" id="283" r:id="Rb03c5bb9e5c7464f"/>
    <p:sldId xmlns:r="http://schemas.openxmlformats.org/officeDocument/2006/relationships" id="284" r:id="R82528cd2b4904054"/>
    <p:sldId xmlns:r="http://schemas.openxmlformats.org/officeDocument/2006/relationships" id="285" r:id="R61055598591947ba"/>
    <p:sldId xmlns:r="http://schemas.openxmlformats.org/officeDocument/2006/relationships" id="286" r:id="R7e3b942741554d0c"/>
    <p:sldId xmlns:r="http://schemas.openxmlformats.org/officeDocument/2006/relationships" id="287" r:id="Ra63078e8c01f4f18"/>
    <p:sldId xmlns:r="http://schemas.openxmlformats.org/officeDocument/2006/relationships" id="288" r:id="Rbb1930b20a724194"/>
    <p:sldId xmlns:r="http://schemas.openxmlformats.org/officeDocument/2006/relationships" id="289" r:id="R05300ffed41a479d"/>
    <p:sldId xmlns:r="http://schemas.openxmlformats.org/officeDocument/2006/relationships" id="290" r:id="Rf169c9b94da74f64"/>
    <p:sldId xmlns:r="http://schemas.openxmlformats.org/officeDocument/2006/relationships" id="291" r:id="R5661e5834650405b"/>
    <p:sldId xmlns:r="http://schemas.openxmlformats.org/officeDocument/2006/relationships" id="292" r:id="R5f7a2220d4f443d7"/>
    <p:sldId xmlns:r="http://schemas.openxmlformats.org/officeDocument/2006/relationships" id="293" r:id="R355225d0ac4547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67c199e24e49ec" /><Relationship Type="http://schemas.openxmlformats.org/officeDocument/2006/relationships/slideMaster" Target="/ppt/slideMasters/slideMaster1.xml" Id="Rcd2c52983b9f455e" /><Relationship Type="http://schemas.openxmlformats.org/officeDocument/2006/relationships/notesMaster" Target="/ppt/notesMasters/notesMaster1.xml" Id="R2bf0fa65d58e456d" /><Relationship Type="http://schemas.openxmlformats.org/officeDocument/2006/relationships/presProps" Target="/ppt/presProps.xml" Id="R168568cdda034d75" /><Relationship Type="http://schemas.openxmlformats.org/officeDocument/2006/relationships/tableStyles" Target="/ppt/tableStyles.xml" Id="Rc4c5ad68310e4f96" /><Relationship Type="http://schemas.openxmlformats.org/officeDocument/2006/relationships/slide" Target="/ppt/slides/slide1.xml" Id="Rdfd84a1f4e184200" /><Relationship Type="http://schemas.openxmlformats.org/officeDocument/2006/relationships/slide" Target="/ppt/slides/slide2.xml" Id="Ra54fd03451bd4728" /><Relationship Type="http://schemas.openxmlformats.org/officeDocument/2006/relationships/slide" Target="/ppt/slides/slide3.xml" Id="R123a4e63850b4944" /><Relationship Type="http://schemas.openxmlformats.org/officeDocument/2006/relationships/slide" Target="/ppt/slides/slide4.xml" Id="Rec92ad799ef74f79" /><Relationship Type="http://schemas.openxmlformats.org/officeDocument/2006/relationships/slide" Target="/ppt/slides/slide5.xml" Id="Re66b27e937d4446f" /><Relationship Type="http://schemas.openxmlformats.org/officeDocument/2006/relationships/slide" Target="/ppt/slides/slide6.xml" Id="Rfa00649eec804634" /><Relationship Type="http://schemas.openxmlformats.org/officeDocument/2006/relationships/slide" Target="/ppt/slides/slide7.xml" Id="Rad9ea15d2b994d3a" /><Relationship Type="http://schemas.openxmlformats.org/officeDocument/2006/relationships/slide" Target="/ppt/slides/slide8.xml" Id="R13b05c19fad440ef" /><Relationship Type="http://schemas.openxmlformats.org/officeDocument/2006/relationships/slide" Target="/ppt/slides/slide9.xml" Id="Ra5c872f4ab8e479e" /><Relationship Type="http://schemas.openxmlformats.org/officeDocument/2006/relationships/slide" Target="/ppt/slides/slide10.xml" Id="R3fe9223ec6224617" /><Relationship Type="http://schemas.openxmlformats.org/officeDocument/2006/relationships/slide" Target="/ppt/slides/slide11.xml" Id="R030ea2a3361f4da7" /><Relationship Type="http://schemas.openxmlformats.org/officeDocument/2006/relationships/slide" Target="/ppt/slides/slide12.xml" Id="R077f0d5b6fb54e13" /><Relationship Type="http://schemas.openxmlformats.org/officeDocument/2006/relationships/slide" Target="/ppt/slides/slide13.xml" Id="R14d7a22f055641a1" /><Relationship Type="http://schemas.openxmlformats.org/officeDocument/2006/relationships/slide" Target="/ppt/slides/slide14.xml" Id="R93378829e8c044b8" /><Relationship Type="http://schemas.openxmlformats.org/officeDocument/2006/relationships/slide" Target="/ppt/slides/slide15.xml" Id="Rf4e27ebdfc964b35" /><Relationship Type="http://schemas.openxmlformats.org/officeDocument/2006/relationships/slide" Target="/ppt/slides/slide16.xml" Id="Re60028d7277d4eb3" /><Relationship Type="http://schemas.openxmlformats.org/officeDocument/2006/relationships/slide" Target="/ppt/slides/slide17.xml" Id="R9eabdd21a2314dcc" /><Relationship Type="http://schemas.openxmlformats.org/officeDocument/2006/relationships/slide" Target="/ppt/slides/slide18.xml" Id="R14b4446749834cd1" /><Relationship Type="http://schemas.openxmlformats.org/officeDocument/2006/relationships/slide" Target="/ppt/slides/slide19.xml" Id="Rc47ddb83822e460d" /><Relationship Type="http://schemas.openxmlformats.org/officeDocument/2006/relationships/slide" Target="/ppt/slides/slide20.xml" Id="Ra58ad9cd0d1043b2" /><Relationship Type="http://schemas.openxmlformats.org/officeDocument/2006/relationships/slide" Target="/ppt/slides/slide21.xml" Id="R2d37b97c1cfc4252" /><Relationship Type="http://schemas.openxmlformats.org/officeDocument/2006/relationships/slide" Target="/ppt/slides/slide22.xml" Id="Re0424566b3fe4a19" /><Relationship Type="http://schemas.openxmlformats.org/officeDocument/2006/relationships/slide" Target="/ppt/slides/slide23.xml" Id="R570ff826ccab4640" /><Relationship Type="http://schemas.openxmlformats.org/officeDocument/2006/relationships/slide" Target="/ppt/slides/slide24.xml" Id="R778386fe25bf455c" /><Relationship Type="http://schemas.openxmlformats.org/officeDocument/2006/relationships/slide" Target="/ppt/slides/slide25.xml" Id="Rb062fec3d7da4415" /><Relationship Type="http://schemas.openxmlformats.org/officeDocument/2006/relationships/slide" Target="/ppt/slides/slide26.xml" Id="R4fc948e997d04e9c" /><Relationship Type="http://schemas.openxmlformats.org/officeDocument/2006/relationships/slide" Target="/ppt/slides/slide27.xml" Id="R52ad3058f70a49da" /><Relationship Type="http://schemas.openxmlformats.org/officeDocument/2006/relationships/slide" Target="/ppt/slides/slide28.xml" Id="Rb03c5bb9e5c7464f" /><Relationship Type="http://schemas.openxmlformats.org/officeDocument/2006/relationships/slide" Target="/ppt/slides/slide29.xml" Id="R82528cd2b4904054" /><Relationship Type="http://schemas.openxmlformats.org/officeDocument/2006/relationships/slide" Target="/ppt/slides/slide30.xml" Id="R61055598591947ba" /><Relationship Type="http://schemas.openxmlformats.org/officeDocument/2006/relationships/slide" Target="/ppt/slides/slide31.xml" Id="R7e3b942741554d0c" /><Relationship Type="http://schemas.openxmlformats.org/officeDocument/2006/relationships/slide" Target="/ppt/slides/slide32.xml" Id="Ra63078e8c01f4f18" /><Relationship Type="http://schemas.openxmlformats.org/officeDocument/2006/relationships/slide" Target="/ppt/slides/slide33.xml" Id="Rbb1930b20a724194" /><Relationship Type="http://schemas.openxmlformats.org/officeDocument/2006/relationships/slide" Target="/ppt/slides/slide34.xml" Id="R05300ffed41a479d" /><Relationship Type="http://schemas.openxmlformats.org/officeDocument/2006/relationships/slide" Target="/ppt/slides/slide35.xml" Id="Rf169c9b94da74f64" /><Relationship Type="http://schemas.openxmlformats.org/officeDocument/2006/relationships/slide" Target="/ppt/slides/slide36.xml" Id="R5661e5834650405b" /><Relationship Type="http://schemas.openxmlformats.org/officeDocument/2006/relationships/slide" Target="/ppt/slides/slide37.xml" Id="R5f7a2220d4f443d7" /><Relationship Type="http://schemas.openxmlformats.org/officeDocument/2006/relationships/slide" Target="/ppt/slides/slide38.xml" Id="R355225d0ac4547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41d1d57f1f40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3d8353dde34ec9" /><Relationship Type="http://schemas.openxmlformats.org/officeDocument/2006/relationships/notesMaster" Target="/ppt/notesMasters/notesMaster1.xml" Id="R46c2b5b462d14a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bd895ca0cf49a4" /><Relationship Type="http://schemas.openxmlformats.org/officeDocument/2006/relationships/notesMaster" Target="/ppt/notesMasters/notesMaster1.xml" Id="R8288d751862d40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f919fb7d0740f1" /><Relationship Type="http://schemas.openxmlformats.org/officeDocument/2006/relationships/notesMaster" Target="/ppt/notesMasters/notesMaster1.xml" Id="Rafc1d6f08c764c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e76a28259342b0" /><Relationship Type="http://schemas.openxmlformats.org/officeDocument/2006/relationships/notesMaster" Target="/ppt/notesMasters/notesMaster1.xml" Id="R41f025c9010849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6bd7791a2048a6" /><Relationship Type="http://schemas.openxmlformats.org/officeDocument/2006/relationships/notesMaster" Target="/ppt/notesMasters/notesMaster1.xml" Id="Rd8cff16bac9944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e776854b7744d6" /><Relationship Type="http://schemas.openxmlformats.org/officeDocument/2006/relationships/notesMaster" Target="/ppt/notesMasters/notesMaster1.xml" Id="Rdd0cf0c69fe24b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1b938c92e74b4c" /><Relationship Type="http://schemas.openxmlformats.org/officeDocument/2006/relationships/notesMaster" Target="/ppt/notesMasters/notesMaster1.xml" Id="Re9405bc035c244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2c79776aac4253" /><Relationship Type="http://schemas.openxmlformats.org/officeDocument/2006/relationships/notesMaster" Target="/ppt/notesMasters/notesMaster1.xml" Id="Rff5d7965741b44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f39f2d33f44bce" /><Relationship Type="http://schemas.openxmlformats.org/officeDocument/2006/relationships/notesMaster" Target="/ppt/notesMasters/notesMaster1.xml" Id="R5f1280b6409f49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ea5750da8b4127" /><Relationship Type="http://schemas.openxmlformats.org/officeDocument/2006/relationships/notesMaster" Target="/ppt/notesMasters/notesMaster1.xml" Id="R55af4c6d534941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234c3ef4ad46e1" /><Relationship Type="http://schemas.openxmlformats.org/officeDocument/2006/relationships/notesMaster" Target="/ppt/notesMasters/notesMaster1.xml" Id="R4ebc45e2771845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6c078f1c8b942b7" /><Relationship Type="http://schemas.openxmlformats.org/officeDocument/2006/relationships/notesMaster" Target="/ppt/notesMasters/notesMaster1.xml" Id="R483939bb9e26413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8ac09bd2f54ff2" /><Relationship Type="http://schemas.openxmlformats.org/officeDocument/2006/relationships/notesMaster" Target="/ppt/notesMasters/notesMaster1.xml" Id="R2b2f77fd59fb41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2b7ee9cf2b4f30" /><Relationship Type="http://schemas.openxmlformats.org/officeDocument/2006/relationships/notesMaster" Target="/ppt/notesMasters/notesMaster1.xml" Id="R5e9b606d798d49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fcf31de77d45e8" /><Relationship Type="http://schemas.openxmlformats.org/officeDocument/2006/relationships/notesMaster" Target="/ppt/notesMasters/notesMaster1.xml" Id="R39b308eb28aa498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c1ea4eee1d4176" /><Relationship Type="http://schemas.openxmlformats.org/officeDocument/2006/relationships/notesMaster" Target="/ppt/notesMasters/notesMaster1.xml" Id="Rbc6d5b26e0b94e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0a0189fd92468c" /><Relationship Type="http://schemas.openxmlformats.org/officeDocument/2006/relationships/notesMaster" Target="/ppt/notesMasters/notesMaster1.xml" Id="Rca468033c09642b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01068440a54cca" /><Relationship Type="http://schemas.openxmlformats.org/officeDocument/2006/relationships/notesMaster" Target="/ppt/notesMasters/notesMaster1.xml" Id="R1691fb510d8147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b2bd8112aaf4c8d" /><Relationship Type="http://schemas.openxmlformats.org/officeDocument/2006/relationships/notesMaster" Target="/ppt/notesMasters/notesMaster1.xml" Id="R82c7524d071e42e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522526ad1884746" /><Relationship Type="http://schemas.openxmlformats.org/officeDocument/2006/relationships/notesMaster" Target="/ppt/notesMasters/notesMaster1.xml" Id="Re78bf8bbf81c497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561878327049d1" /><Relationship Type="http://schemas.openxmlformats.org/officeDocument/2006/relationships/notesMaster" Target="/ppt/notesMasters/notesMaster1.xml" Id="R8560ed5bccac4f2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3bf5141b76c4e4b" /><Relationship Type="http://schemas.openxmlformats.org/officeDocument/2006/relationships/notesMaster" Target="/ppt/notesMasters/notesMaster1.xml" Id="Rcaca7c93abfe4a8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cb63413d2aa4ff4" /><Relationship Type="http://schemas.openxmlformats.org/officeDocument/2006/relationships/notesMaster" Target="/ppt/notesMasters/notesMaster1.xml" Id="R3566ec789f51490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c7119e88e254e9f" /><Relationship Type="http://schemas.openxmlformats.org/officeDocument/2006/relationships/notesMaster" Target="/ppt/notesMasters/notesMaster1.xml" Id="Rb86c1ffb0eb6409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6de9b5490014042" /><Relationship Type="http://schemas.openxmlformats.org/officeDocument/2006/relationships/notesMaster" Target="/ppt/notesMasters/notesMaster1.xml" Id="R3ca77f8db0cf42a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03c99afdc8b4fc7" /><Relationship Type="http://schemas.openxmlformats.org/officeDocument/2006/relationships/notesMaster" Target="/ppt/notesMasters/notesMaster1.xml" Id="R15715fe1cd9b4c5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c27d0a1b9154e59" /><Relationship Type="http://schemas.openxmlformats.org/officeDocument/2006/relationships/notesMaster" Target="/ppt/notesMasters/notesMaster1.xml" Id="R57e7d4a5e0d646e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a4ad10c0e9e426b" /><Relationship Type="http://schemas.openxmlformats.org/officeDocument/2006/relationships/notesMaster" Target="/ppt/notesMasters/notesMaster1.xml" Id="R5f5f66418e444b1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3bd02e82d3742ce" /><Relationship Type="http://schemas.openxmlformats.org/officeDocument/2006/relationships/notesMaster" Target="/ppt/notesMasters/notesMaster1.xml" Id="R16d043c86ae646c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25385023ae441e2" /><Relationship Type="http://schemas.openxmlformats.org/officeDocument/2006/relationships/notesMaster" Target="/ppt/notesMasters/notesMaster1.xml" Id="Rbc95dd9cd35b468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1a482b6360948f8" /><Relationship Type="http://schemas.openxmlformats.org/officeDocument/2006/relationships/notesMaster" Target="/ppt/notesMasters/notesMaster1.xml" Id="Ra6c31eb6479340f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7cee19463504571" /><Relationship Type="http://schemas.openxmlformats.org/officeDocument/2006/relationships/notesMaster" Target="/ppt/notesMasters/notesMaster1.xml" Id="R3521f0c7c241445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a028b4b94fa47bd" /><Relationship Type="http://schemas.openxmlformats.org/officeDocument/2006/relationships/notesMaster" Target="/ppt/notesMasters/notesMaster1.xml" Id="R626eb0d7d7db435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e12a567256347a2" /><Relationship Type="http://schemas.openxmlformats.org/officeDocument/2006/relationships/notesMaster" Target="/ppt/notesMasters/notesMaster1.xml" Id="R6264539ab3c14da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15d72b126de449c" /><Relationship Type="http://schemas.openxmlformats.org/officeDocument/2006/relationships/notesMaster" Target="/ppt/notesMasters/notesMaster1.xml" Id="Rf8e73873ddf94a7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a050ce057c64f4b" /><Relationship Type="http://schemas.openxmlformats.org/officeDocument/2006/relationships/notesMaster" Target="/ppt/notesMasters/notesMaster1.xml" Id="Raba7ee907b20436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31037e3fdd14fac" /><Relationship Type="http://schemas.openxmlformats.org/officeDocument/2006/relationships/notesMaster" Target="/ppt/notesMasters/notesMaster1.xml" Id="R342998eb7e0743b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2eeee037d45438d" /><Relationship Type="http://schemas.openxmlformats.org/officeDocument/2006/relationships/notesMaster" Target="/ppt/notesMasters/notesMaster1.xml" Id="Raf6ed4dc6be047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Sistem Keuangan Baru. Materi untuk pimpinan pesantren.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Sumber internal: C:/DATA/eskahade/docs/SISTEM_KEUANGAN_BARU_PRD.md; C:/DATA/eskahade/docs/IMPLEMENTATION_PLAN.md</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Sistem Keuangan Baru. Materi untuk pimpinan pesantren.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Pembagian ini menjelaskan fokus operasional, bukan janji bahwa setiap izin telah dipisahkan secara rinci.</a:t>
            </a:r>
          </a:p>
          <a:p xmlns:a="http://schemas.openxmlformats.org/drawingml/2006/main">
            <a:r>
              <a:t/>
            </a:r>
          </a:p>
          <a:p xmlns:a="http://schemas.openxmlformats.org/drawingml/2006/main">
            <a:r>
              <a:t>Sumber internal: C:/DATA/eskahade/docs/SISTEM_KEUANGAN_BARU_PRD.md; C:/DATA/eskahade/app/dashboard/keuangan/status-pembayaran/actions.ts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Tagihan adalah kewajiban. Pesanan mencatat pilihan orang tua. Pembayaran menyatakan penerimaan uang. Alokasi menjelaskan untuk apa uang itu. Settlement khusus dana online yang diteruskan gateway ke bank. Penyaluran mencatat dana kepada penerima. Jalur tunai tidak menunggu settlement gateway.</a:t>
            </a:r>
          </a:p>
          <a:p xmlns:a="http://schemas.openxmlformats.org/drawingml/2006/main">
            <a:r>
              <a:t/>
            </a:r>
          </a:p>
          <a:p xmlns:a="http://schemas.openxmlformats.org/drawingml/2006/main">
            <a:r>
              <a:t>Sumber internal: C:/DATA/eskahade/docs/SISTEM_KEUANGAN_BARU_PRD.md; C:/DATA/eskahade/lib/finance/payments.ts; C:/DATA/eskahade/lib/finance/settlement.ts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Sumber internal: C:/DATA/eskahade/docs/SISTEM_KEUANGAN_BARU_PRD.md; C:/DATA/eskahade/lib/portal/finance.ts; C:/DATA/eskahade/lib/finance/payments.ts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Rancangan proses dan implementasi inti tersedia. Kesiapan merchant dan Fixed VA perlu uji operasional. Pembayaran yang identitas atau nominalnya tidak cocok memerlukan pemeriksaan, bukan alokasi berdasarkan tebakan.</a:t>
            </a:r>
          </a:p>
          <a:p xmlns:a="http://schemas.openxmlformats.org/drawingml/2006/main">
            <a:r>
              <a:t/>
            </a:r>
          </a:p>
          <a:p xmlns:a="http://schemas.openxmlformats.org/drawingml/2006/main">
            <a:r>
              <a:t>Sumber internal: C:/DATA/eskahade/docs/SISTEM_KEUANGAN_BARU_PRD.md; C:/DATA/eskahade/lib/portal/finance.ts; C:/DATA/eskahade/lib/finance/gateway/duitku-v2.ts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Contoh PRD, bukan tarif aktual. Jika salah satu alokasi gagal, keseluruhan pencatatan harus gagal agar tidak setengah berhasil.</a:t>
            </a:r>
          </a:p>
          <a:p xmlns:a="http://schemas.openxmlformats.org/drawingml/2006/main">
            <a:r>
              <a:t/>
            </a:r>
          </a:p>
          <a:p xmlns:a="http://schemas.openxmlformats.org/drawingml/2006/main">
            <a:r>
              <a:t>Sumber internal: C:/DATA/eskahade/docs/SISTEM_KEUANGAN_BARU_PRD.md; C:/DATA/eskahade/lib/finance/orders.ts; C:/DATA/eskahade/lib/finance/payments.ts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Sumber internal: C:/DATA/eskahade/docs/SISTEM_KEUANGAN_BARU_PRD.md; C:/DATA/eskahade/app/dashboard/keuangan/status-pembayaran/actions.ts; C:/DATA/eskahade/app/dashboard/koperasi/loket/actions.ts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Sumber internal: C:/DATA/eskahade/docs/SISTEM_KEUANGAN_BARU_PRD.md; C:/DATA/eskahade/lib/finance/wallet.ts; C:/DATA/eskahade/app/dashboard/koperasi/loket/actions.ts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Perlu membedakan dana tersedia menurut alokasi dari likuiditas kas/bank. Kode seleksi alokasi tidak mewajibkan status settlement. Bendahara perlu memastikan ketersediaan dana nyata sebelum transfer.</a:t>
            </a:r>
          </a:p>
          <a:p xmlns:a="http://schemas.openxmlformats.org/drawingml/2006/main">
            <a:r>
              <a:t/>
            </a:r>
          </a:p>
          <a:p xmlns:a="http://schemas.openxmlformats.org/drawingml/2006/main">
            <a:r>
              <a:t>Sumber internal: C:/DATA/eskahade/docs/SISTEM_KEUANGAN_BARU_PRD.md; C:/DATA/eskahade/lib/finance/distributions.ts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Sumber internal: C:/DATA/eskahade/docs/SISTEM_KEUANGAN_BARU_PRD.md; C:/DATA/eskahade/lib/finance/reconciliation.ts; C:/DATA/eskahade/lib/finance/corrections.ts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PRD bab 15.1 menegaskan saldo awal nol. Itu bukan bukti bahwa kewajiban atas saldo lama sudah diselesaikan. Usulan tata kelola: tetapkan tanggal efektif, verifikasi saldo lama, penanggung jawab penyelesaiannya, serta pemberitahuan kepada orang tua.</a:t>
            </a:r>
          </a:p>
          <a:p xmlns:a="http://schemas.openxmlformats.org/drawingml/2006/main">
            <a:r>
              <a:t/>
            </a:r>
          </a:p>
          <a:p xmlns:a="http://schemas.openxmlformats.org/drawingml/2006/main">
            <a:r>
              <a:t>Sumber internal: C:/DATA/eskahade/docs/SISTEM_KEUANGAN_BARU_PRD.md; C:/DATA/eskahade/lib/finance/bridge.ts; C:/DATA/eskahade/lib/finance/fund-management.ts; C:/DATA/eskahade/lib/finance/legacy.ts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Sistem Keuangan Baru. Materi untuk pimpinan pesantren.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Peta ini membatasi pembahasan pada Sistem Keuangan Baru, bukan seluruh modul keuangan lama.</a:t>
            </a:r>
          </a:p>
          <a:p xmlns:a="http://schemas.openxmlformats.org/drawingml/2006/main">
            <a:r>
              <a:t/>
            </a:r>
          </a:p>
          <a:p xmlns:a="http://schemas.openxmlformats.org/drawingml/2006/main">
            <a:r>
              <a:t>Sumber internal: C:/DATA/eskahade/docs/SISTEM_KEUANGAN_BARU_PRD.md; C:/DATA/eskahade/app/dashboard/keuangan; C:/DATA/eskahade/app/dashboard/koperasi/loket; C:/DATA/eskahade/lib/portal/finance.ts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Sumber internal: C:/DATA/eskahade/docs/SISTEM_KEUANGAN_BARU_PRD.md; C:/DATA/eskahade/lib/finance/dashboard.ts; C:/DATA/eskahade/app/dashboard/keuangan/_page-content.tsx</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Sumber internal: C:/DATA/eskahade/docs/SISTEM_KEUANGAN_BARU_PRD.md; C:/DATA/eskahade/app/dashboard/keuangan/tarif/_page-content.tsx; C:/DATA/eskahade/lib/finance/tariffs.ts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SPP dibayar penuh untuk sisa kewajiban bulan yang dipilih. Pembayaran tahunan tetap tiga item terpisah meski dikelola bersama.</a:t>
            </a:r>
          </a:p>
          <a:p xmlns:a="http://schemas.openxmlformats.org/drawingml/2006/main">
            <a:r>
              <a:t/>
            </a:r>
          </a:p>
          <a:p xmlns:a="http://schemas.openxmlformats.org/drawingml/2006/main">
            <a:r>
              <a:t>Sumber internal: C:/DATA/eskahade/docs/SISTEM_KEUANGAN_BARU_PRD.md; C:/DATA/eskahade/lib/finance/obligations.ts; C:/DATA/eskahade/lib/portal/finance.ts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AL-BAGHORY dikecualikan dari daftar, laporan, dan agregat keuangan. Transfer yang tetap masuk perlu penanganan melalui pencatatan kejadian gateway dan pemeriksaan.</a:t>
            </a:r>
          </a:p>
          <a:p xmlns:a="http://schemas.openxmlformats.org/drawingml/2006/main">
            <a:r>
              <a:t/>
            </a:r>
          </a:p>
          <a:p xmlns:a="http://schemas.openxmlformats.org/drawingml/2006/main">
            <a:r>
              <a:t>Sumber internal: C:/DATA/eskahade/docs/SISTEM_KEUANGAN_BARU_PRD.md; C:/DATA/eskahade/lib/finance/non-billable-santri.ts; C:/DATA/eskahade/lib/finance/exemptions.ts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Filter dan detail santri membantu penelusuran. Jangan menganggap semua kewajiban masa depan sebagai tunggakan.</a:t>
            </a:r>
          </a:p>
          <a:p xmlns:a="http://schemas.openxmlformats.org/drawingml/2006/main">
            <a:r>
              <a:t/>
            </a:r>
          </a:p>
          <a:p xmlns:a="http://schemas.openxmlformats.org/drawingml/2006/main">
            <a:r>
              <a:t>Sumber internal: C:/DATA/eskahade/docs/SISTEM_KEUANGAN_BARU_PRD.md; C:/DATA/eskahade/app/dashboard/keuangan/status-pembayaran/_page-content.tsx; C:/DATA/eskahade/app/dashboard/keuangan/status-pembayaran/actions.ts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Portal existing tetap digunakan. Implementasi checkout ditemukan, tetapi penelaahan ini tidak menguji transaksi produksi.</a:t>
            </a:r>
          </a:p>
          <a:p xmlns:a="http://schemas.openxmlformats.org/drawingml/2006/main">
            <a:r>
              <a:t/>
            </a:r>
          </a:p>
          <a:p xmlns:a="http://schemas.openxmlformats.org/drawingml/2006/main">
            <a:r>
              <a:t>Sumber internal: C:/DATA/eskahade/docs/SISTEM_KEUANGAN_BARU_PRD.md; C:/DATA/eskahade/lib/portal/finance.ts; C:/DATA/eskahade/app/portal-ortu/(app)/tagihan; C:/DATA/eskahade/app/portal-ortu/(app)/akun</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Temuan: createPortalPaymentOrder memakai checkout V2. Fungsi createSnapVirtualAccount dan assignStudentFixedVa tersedia, namun pemanggil penerbitan end-to-end tidak ditemukan pada penelusuran app/lib. Fallback saat konfigurasi gateway belum tersedia perlu ditinjau sebelum layanan nyata. PRD Fixed VA tetap menjadi requirement.</a:t>
            </a:r>
          </a:p>
          <a:p xmlns:a="http://schemas.openxmlformats.org/drawingml/2006/main">
            <a:r>
              <a:t/>
            </a:r>
          </a:p>
          <a:p xmlns:a="http://schemas.openxmlformats.org/drawingml/2006/main">
            <a:r>
              <a:t>Sumber internal: C:/DATA/eskahade/docs/SISTEM_KEUANGAN_BARU_PRD.md; C:/DATA/eskahade/lib/portal/finance.ts; C:/DATA/eskahade/lib/finance/gateway/duitku-snap.ts; C:/DATA/eskahade/lib/finance/va.ts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Contoh limit bersifat ilustratif. Saldo tersedia dan pencairan yang sudah dilakukan tetap memengaruhi nominal yang bisa ditarik. Struktur kode juga mengevaluasi batas mingguan dan bulanan.</a:t>
            </a:r>
          </a:p>
          <a:p xmlns:a="http://schemas.openxmlformats.org/drawingml/2006/main">
            <a:r>
              <a:t/>
            </a:r>
          </a:p>
          <a:p xmlns:a="http://schemas.openxmlformats.org/drawingml/2006/main">
            <a:r>
              <a:t>Sumber internal: C:/DATA/eskahade/docs/SISTEM_KEUANGAN_BARU_PRD.md; C:/DATA/eskahade/lib/finance/wallet.ts; C:/DATA/eskahade/app/dashboard/keuangan/uang-jajan/actions.ts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QR menggunakan token acak, bukan NIS mentah. Angka batas kesalahan dan durasi berasal dari konstanta implementasi saat penelaahan.</a:t>
            </a:r>
          </a:p>
          <a:p xmlns:a="http://schemas.openxmlformats.org/drawingml/2006/main">
            <a:r>
              <a:t/>
            </a:r>
          </a:p>
          <a:p xmlns:a="http://schemas.openxmlformats.org/drawingml/2006/main">
            <a:r>
              <a:t>Sumber internal: C:/DATA/eskahade/docs/SISTEM_KEUANGAN_BARU_PRD.md; C:/DATA/eskahade/lib/finance/cards.ts; C:/DATA/eskahade/lib/finance/pins.ts; C:/DATA/eskahade/app/dashboard/keuangan/kredensial/actions.ts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Alur PIN ditekankan pada pencairan. Pembayaran tunai melalui Status Pembayaran tidak memerlukan kartu dan PIN.</a:t>
            </a:r>
          </a:p>
          <a:p xmlns:a="http://schemas.openxmlformats.org/drawingml/2006/main">
            <a:r>
              <a:t/>
            </a:r>
          </a:p>
          <a:p xmlns:a="http://schemas.openxmlformats.org/drawingml/2006/main">
            <a:r>
              <a:t>Sumber internal: C:/DATA/eskahade/docs/SISTEM_KEUANGAN_BARU_PRD.md; C:/DATA/eskahade/app/dashboard/koperasi/loket/actions.ts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Contoh angka ilustratif. Usulan praktik: tentukan penanggung jawab tindak lanjut selisih dan batas waktu penyelesaiannya.</a:t>
            </a:r>
          </a:p>
          <a:p xmlns:a="http://schemas.openxmlformats.org/drawingml/2006/main">
            <a:r>
              <a:t/>
            </a:r>
          </a:p>
          <a:p xmlns:a="http://schemas.openxmlformats.org/drawingml/2006/main">
            <a:r>
              <a:t>Sumber internal: C:/DATA/eskahade/docs/SISTEM_KEUANGAN_BARU_PRD.md; C:/DATA/eskahade/lib/finance/cash-session.ts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Kode membatasi alokasi penyaluran kepada dana kelolaan KOPERASI. Catatan dana pra-koperasi perlu dibedakan. Pengecekan likuiditas rekening tetap perlu dilakukan.</a:t>
            </a:r>
          </a:p>
          <a:p xmlns:a="http://schemas.openxmlformats.org/drawingml/2006/main">
            <a:r>
              <a:t/>
            </a:r>
          </a:p>
          <a:p xmlns:a="http://schemas.openxmlformats.org/drawingml/2006/main">
            <a:r>
              <a:t>Sumber internal: C:/DATA/eskahade/docs/SISTEM_KEUANGAN_BARU_PRD.md; C:/DATA/eskahade/lib/finance/distributions.ts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Contoh nama penyedia bersifat ilustratif. Hubungan historis perlu lengkap sebelum tagihan atau pembayaran terlambat diproses, agar sistem tidak memakai relasi terkini secara keliru.</a:t>
            </a:r>
          </a:p>
          <a:p xmlns:a="http://schemas.openxmlformats.org/drawingml/2006/main">
            <a:r>
              <a:t/>
            </a:r>
          </a:p>
          <a:p xmlns:a="http://schemas.openxmlformats.org/drawingml/2006/main">
            <a:r>
              <a:t>Sumber internal: C:/DATA/eskahade/docs/SISTEM_KEUANGAN_BARU_PRD.md; C:/DATA/eskahade/lib/finance/obligations.ts; C:/DATA/eskahade/lib/finance/distributions.ts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Kode menyediakan pencatatan batch settlement dengan kandidat pembayaran. Ini tidak membuktikan sinkronisasi otomatis rekening bank.</a:t>
            </a:r>
          </a:p>
          <a:p xmlns:a="http://schemas.openxmlformats.org/drawingml/2006/main">
            <a:r>
              <a:t/>
            </a:r>
          </a:p>
          <a:p xmlns:a="http://schemas.openxmlformats.org/drawingml/2006/main">
            <a:r>
              <a:t>Sumber internal: C:/DATA/eskahade/docs/SISTEM_KEUANGAN_BARU_PRD.md; C:/DATA/eskahade/app/dashboard/keuangan/rekonsiliasi/_page-content.tsx; C:/DATA/eskahade/lib/finance/settlement.ts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Refund dalam modul ini adalah pencatatan koreksi dan pengembalian, bukan bukti adanya transfer otomatis dari bank/gateway. Refund tunai memerlukan sesi kas. Koreksi dapat sebagian atau penuh sesuai sisa alokasi.</a:t>
            </a:r>
          </a:p>
          <a:p xmlns:a="http://schemas.openxmlformats.org/drawingml/2006/main">
            <a:r>
              <a:t/>
            </a:r>
          </a:p>
          <a:p xmlns:a="http://schemas.openxmlformats.org/drawingml/2006/main">
            <a:r>
              <a:t>Sumber internal: C:/DATA/eskahade/docs/SISTEM_KEUANGAN_BARU_PRD.md; C:/DATA/eskahade/lib/finance/corrections.ts; C:/DATA/eskahade/app/dashboard/keuangan/rekonsiliasi/record-correction-modal.tsx</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Sumber internal: C:/DATA/eskahade/docs/SISTEM_KEUANGAN_BARU_PRD.md; C:/DATA/eskahade/lib/finance/history.ts; C:/DATA/eskahade/app/dashboard/keuangan/riwayat/_page-content.tsx</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Kode memuat sembilan tipe laporan. Pilih periode, tahun ajaran, asrama, santri, atau filter yang relevan sebelum mencetak. Jangan menjumlahkan laporan detail penerimaan per alokasi sebagai jumlah pembayaran tanpa memeriksa unit baris.</a:t>
            </a:r>
          </a:p>
          <a:p xmlns:a="http://schemas.openxmlformats.org/drawingml/2006/main">
            <a:r>
              <a:t/>
            </a:r>
          </a:p>
          <a:p xmlns:a="http://schemas.openxmlformats.org/drawingml/2006/main">
            <a:r>
              <a:t>Sumber internal: C:/DATA/eskahade/docs/SISTEM_KEUANGAN_BARU_PRD.md; C:/DATA/eskahade/lib/finance/reports.ts; C:/DATA/eskahade/lib/finance/report-exports.ts; C:/DATA/eskahade/app/dashboard/keuangan/laporan/_page-content.tsx</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 adalah prinsip dan mekanisme yang ditemukan, bukan sertifikasi keamanan. Penelaahan tidak mencakup audit menyeluruh atau uji serangan.</a:t>
            </a:r>
          </a:p>
          <a:p xmlns:a="http://schemas.openxmlformats.org/drawingml/2006/main">
            <a:r>
              <a:t/>
            </a:r>
          </a:p>
          <a:p xmlns:a="http://schemas.openxmlformats.org/drawingml/2006/main">
            <a:r>
              <a:t>Sumber internal: C:/DATA/eskahade/docs/SISTEM_KEUANGAN_BARU_PRD.md; C:/DATA/eskahade/lib/finance/payments.ts; C:/DATA/eskahade/lib/finance/gateway/duitku-v2.ts; C:/DATA/eskahade/lib/finance/pins.ts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Sumber internal: C:/DATA/eskahade/docs/SISTEM_KEUANGAN_BARU_PRD.md; C:/DATA/eskahade/lib/portal/finance.ts; C:/DATA/eskahade/lib/finance/reconciliation.ts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Sumber internal: C:/DATA/eskahade/docs/SISTEM_KEUANGAN_BARU_PRD.md; C:/DATA/eskahade/lib/finance/wallet.ts; C:/DATA/eskahade/lib/finance/cards.ts; C:/DATA/eskahade/lib/finance/pins.ts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Sumber internal: C:/DATA/eskahade/docs/SISTEM_KEUANGAN_BARU_PRD.md; C:/DATA/eskahade/lib/finance/corrections.ts; C:/DATA/eskahade/lib/finance/distributions.ts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Temuan utama: Fixed VA permanen belum terkonfirmasi end-to-end, fallback checkout perlu ditinjau, dan seleksi alokasi penyaluran tidak mensyaratkan SETTLED. Dokumen sandbox menyebut keterbatasan tahun ajaran dan provider, sehingga demo penuh perlu persiapan. Ini bukan penetapan seluruh sistem siap produksi.</a:t>
            </a:r>
          </a:p>
          <a:p xmlns:a="http://schemas.openxmlformats.org/drawingml/2006/main">
            <a:r>
              <a:t/>
            </a:r>
          </a:p>
          <a:p xmlns:a="http://schemas.openxmlformats.org/drawingml/2006/main">
            <a:r>
              <a:t>Sumber internal: C:/DATA/eskahade/docs/SISTEM_KEUANGAN_BARU_PRD.md; C:/DATA/eskahade/lib/portal/finance.ts; C:/DATA/eskahade/lib/finance/fund-management.ts; C:/DATA/eskahade/lib/finance/distributions.ts; C:/DATA/eskahade/docs/SANDBOX_DEMO_KEUANGAN.md</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Plan menggambarkan urutan pengembangan, bukan bukti bahwa fitur belum atau sudah operasional. Kode aktual digunakan untuk memeriksa cakupan implementasi. Tidak ada transaksi nyata maupun perubahan aplikasi pada pekerjaan presentasi ini.</a:t>
            </a:r>
          </a:p>
          <a:p xmlns:a="http://schemas.openxmlformats.org/drawingml/2006/main">
            <a:r>
              <a:t/>
            </a:r>
          </a:p>
          <a:p xmlns:a="http://schemas.openxmlformats.org/drawingml/2006/main">
            <a:r>
              <a:t>Sumber internal: C:/DATA/eskahade/docs/SISTEM_KEUANGAN_BARU_PRD.md; C:/DATA/eskahade/docs/UI_UX_GUIDELINES.md; C:/DATA/eskahade/docs/IMPLEMENTATION_PLAN.md; C:/DATA/eskahade/lib/finance; C:/DATA/eskahade/lib/portal/finance.ts</a:t>
            </a:r>
          </a:p>
          <a:p xmlns:a="http://schemas.openxmlformats.org/drawingml/2006/main">
            <a:r>
              <a:t>Dasar materi: penelaahan dokumen dan kode pada 28 September 2026. Bukan konfirmasi deployment produksi.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6be476cdb94b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135b4411c94234" /><Relationship Type="http://schemas.openxmlformats.org/officeDocument/2006/relationships/slideLayout" Target="/ppt/slideLayouts/slideLayout1.xml" Id="R75abdbc5ed2740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abdbc5ed2740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dd57018f634424" /><Relationship Type="http://schemas.openxmlformats.org/officeDocument/2006/relationships/notesSlide" Target="/ppt/notesSlides/notesSlide1.xml" Id="R933e64e7a32649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0746e3a146491d" /><Relationship Type="http://schemas.openxmlformats.org/officeDocument/2006/relationships/notesSlide" Target="/ppt/notesSlides/notesSlide2.xml" Id="R04a7e402f6ac4f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21a74dcaeb40c3" /><Relationship Type="http://schemas.openxmlformats.org/officeDocument/2006/relationships/notesSlide" Target="/ppt/notesSlides/notesSlide3.xml" Id="R2025900a7b014c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c4fad66ee24646" /><Relationship Type="http://schemas.openxmlformats.org/officeDocument/2006/relationships/notesSlide" Target="/ppt/notesSlides/notesSlide4.xml" Id="Rb67ddfd5b23448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fa3af623854405" /><Relationship Type="http://schemas.openxmlformats.org/officeDocument/2006/relationships/notesSlide" Target="/ppt/notesSlides/notesSlide5.xml" Id="R8dd403a5c2f74c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d59c4b6b5441e1" /><Relationship Type="http://schemas.openxmlformats.org/officeDocument/2006/relationships/notesSlide" Target="/ppt/notesSlides/notesSlide6.xml" Id="Rebec571893ef48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382495ab3d43a1" /><Relationship Type="http://schemas.openxmlformats.org/officeDocument/2006/relationships/notesSlide" Target="/ppt/notesSlides/notesSlide7.xml" Id="R7252c237a01e44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d3247e276542a9" /><Relationship Type="http://schemas.openxmlformats.org/officeDocument/2006/relationships/notesSlide" Target="/ppt/notesSlides/notesSlide8.xml" Id="Rf74a8f378ae048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c41bd918e994d94" /><Relationship Type="http://schemas.openxmlformats.org/officeDocument/2006/relationships/notesSlide" Target="/ppt/notesSlides/notesSlide9.xml" Id="R0d893222b6c947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e916311fb9498f" /><Relationship Type="http://schemas.openxmlformats.org/officeDocument/2006/relationships/notesSlide" Target="/ppt/notesSlides/notesSlide10.xml" Id="Rf0b45cffaac040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131013e61c1478d" /><Relationship Type="http://schemas.openxmlformats.org/officeDocument/2006/relationships/notesSlide" Target="/ppt/notesSlides/notesSlide11.xml" Id="R5ef3d82cfe4049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53b50b07bfa4dbd" /><Relationship Type="http://schemas.openxmlformats.org/officeDocument/2006/relationships/notesSlide" Target="/ppt/notesSlides/notesSlide12.xml" Id="Rc40a4f9b8cca418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2cebe049a04409a" /><Relationship Type="http://schemas.openxmlformats.org/officeDocument/2006/relationships/notesSlide" Target="/ppt/notesSlides/notesSlide13.xml" Id="R220020067d304bb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5be5e48d71e4875" /><Relationship Type="http://schemas.openxmlformats.org/officeDocument/2006/relationships/notesSlide" Target="/ppt/notesSlides/notesSlide14.xml" Id="R41100ab3932147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290d0e6ba9a4e53" /><Relationship Type="http://schemas.openxmlformats.org/officeDocument/2006/relationships/notesSlide" Target="/ppt/notesSlides/notesSlide15.xml" Id="Re5fc04e7feed4b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f19aad4d1af4106" /><Relationship Type="http://schemas.openxmlformats.org/officeDocument/2006/relationships/notesSlide" Target="/ppt/notesSlides/notesSlide16.xml" Id="R863d69ccfd84489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bd56d4a9f1e42a4" /><Relationship Type="http://schemas.openxmlformats.org/officeDocument/2006/relationships/notesSlide" Target="/ppt/notesSlides/notesSlide17.xml" Id="R30c8bdbc03c64d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67f889b481f4b7e" /><Relationship Type="http://schemas.openxmlformats.org/officeDocument/2006/relationships/notesSlide" Target="/ppt/notesSlides/notesSlide18.xml" Id="R2ada872c428c48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fa9b3f77464434f" /><Relationship Type="http://schemas.openxmlformats.org/officeDocument/2006/relationships/notesSlide" Target="/ppt/notesSlides/notesSlide19.xml" Id="Re081e43d5c2f47b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563965469b848b9" /><Relationship Type="http://schemas.openxmlformats.org/officeDocument/2006/relationships/notesSlide" Target="/ppt/notesSlides/notesSlide20.xml" Id="R5e539402d03f431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09297d01222422e" /><Relationship Type="http://schemas.openxmlformats.org/officeDocument/2006/relationships/notesSlide" Target="/ppt/notesSlides/notesSlide21.xml" Id="R35ddd66dea064fa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5bf315bfeb44d9f" /><Relationship Type="http://schemas.openxmlformats.org/officeDocument/2006/relationships/notesSlide" Target="/ppt/notesSlides/notesSlide22.xml" Id="Rfd15a680433d4ef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1534bf28a4041b6" /><Relationship Type="http://schemas.openxmlformats.org/officeDocument/2006/relationships/notesSlide" Target="/ppt/notesSlides/notesSlide23.xml" Id="Rd150d08774c3454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bcdfb52899444b8" /><Relationship Type="http://schemas.openxmlformats.org/officeDocument/2006/relationships/notesSlide" Target="/ppt/notesSlides/notesSlide24.xml" Id="R87536f33699142c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b3017aeea3f4bb6" /><Relationship Type="http://schemas.openxmlformats.org/officeDocument/2006/relationships/notesSlide" Target="/ppt/notesSlides/notesSlide25.xml" Id="R6f9890602d504ca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0f5322b1d1149a4" /><Relationship Type="http://schemas.openxmlformats.org/officeDocument/2006/relationships/notesSlide" Target="/ppt/notesSlides/notesSlide26.xml" Id="Re61e0418e7cb43c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a9d349815304cab" /><Relationship Type="http://schemas.openxmlformats.org/officeDocument/2006/relationships/notesSlide" Target="/ppt/notesSlides/notesSlide27.xml" Id="Reacda382f2af444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8b5d3fc4e354399" /><Relationship Type="http://schemas.openxmlformats.org/officeDocument/2006/relationships/notesSlide" Target="/ppt/notesSlides/notesSlide28.xml" Id="Re9c0e64ae706472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3804fe429734206" /><Relationship Type="http://schemas.openxmlformats.org/officeDocument/2006/relationships/notesSlide" Target="/ppt/notesSlides/notesSlide29.xml" Id="R29b22adca9fc43d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98eb531e4874258" /><Relationship Type="http://schemas.openxmlformats.org/officeDocument/2006/relationships/notesSlide" Target="/ppt/notesSlides/notesSlide30.xml" Id="Rf7da4256f885413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c486ddd316340e1" /><Relationship Type="http://schemas.openxmlformats.org/officeDocument/2006/relationships/notesSlide" Target="/ppt/notesSlides/notesSlide31.xml" Id="R41d8f3c8b13c4e5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920d1a73b78474d" /><Relationship Type="http://schemas.openxmlformats.org/officeDocument/2006/relationships/notesSlide" Target="/ppt/notesSlides/notesSlide32.xml" Id="Ra22f4562a06e420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a47007edd3c4645" /><Relationship Type="http://schemas.openxmlformats.org/officeDocument/2006/relationships/notesSlide" Target="/ppt/notesSlides/notesSlide33.xml" Id="Rdb4b30b1aed04a8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ccc7254899c4f08" /><Relationship Type="http://schemas.openxmlformats.org/officeDocument/2006/relationships/notesSlide" Target="/ppt/notesSlides/notesSlide34.xml" Id="Rae45c6773de342d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2c835b08ac24f58" /><Relationship Type="http://schemas.openxmlformats.org/officeDocument/2006/relationships/notesSlide" Target="/ppt/notesSlides/notesSlide35.xml" Id="Re5209b9e93db47d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9c8fd0ad9694785" /><Relationship Type="http://schemas.openxmlformats.org/officeDocument/2006/relationships/notesSlide" Target="/ppt/notesSlides/notesSlide36.xml" Id="R105145d11c3640b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2c2830ec7274876" /><Relationship Type="http://schemas.openxmlformats.org/officeDocument/2006/relationships/notesSlide" Target="/ppt/notesSlides/notesSlide37.xml" Id="R18a964ebd70c47f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347f5ade9da452d" /><Relationship Type="http://schemas.openxmlformats.org/officeDocument/2006/relationships/notesSlide" Target="/ppt/notesSlides/notesSlide38.xml" Id="R877669c01b304fc3" /></Relationships>
</file>

<file path=ppt/slides/slide1.xml><?xml version="1.0" encoding="utf-8"?>
<p:sld xmlns:p="http://schemas.openxmlformats.org/presentationml/2006/main">
  <p:cSld>
    <p:bg>
      <p:bgPr>
        <a:solidFill xmlns:a="http://schemas.openxmlformats.org/drawingml/2006/main">
          <a:srgbClr val="173C3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FBA5491-89E1-4EFE-B48F-4E3656B1F20C}"/>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C4D8C9"/>
                </a:solidFill>
                <a:latin typeface="Arial"/>
                <a:ea typeface="Arial"/>
                <a:cs typeface="Arial"/>
              </a:defRPr>
            </a:pPr>
            <a:r>
              <a:rPr sz="1800" b="1">
                <a:solidFill>
                  <a:srgbClr val="C4D8C9"/>
                </a:solidFill>
                <a:latin typeface="Arial"/>
                <a:ea typeface="Arial"/>
                <a:cs typeface="Arial"/>
              </a:rPr>
              <a:t>PRESENTASI PIMPINAN PESANTREN</a:t>
            </a:r>
          </a:p>
        </p:txBody>
      </p:sp>
      <p:sp>
        <p:nvSpPr>
          <p:cNvPr id="2" name="">
            <a:extLst xmlns:a="http://schemas.openxmlformats.org/drawingml/2006/main">
              <a:ext uri="{FF2B5EF4-FFF2-40B4-BE49-F238E27FC236}">
                <a16:creationId xmlns:a16="http://schemas.microsoft.com/office/drawing/2014/main" id="{54E55524-BC18-4AA5-9D7E-249794CA8B95}"/>
              </a:ext>
            </a:extLst>
          </p:cNvPr>
          <p:cNvSpPr>
            <a:spLocks xmlns:a="http://schemas.openxmlformats.org/drawingml/2006/main" noGrp="1"/>
          </p:cNvSpPr>
          <p:nvPr/>
        </p:nvSpPr>
        <p:spPr>
          <a:xfrm xmlns:a="http://schemas.openxmlformats.org/drawingml/2006/main">
            <a:off x="685800" y="1952625"/>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Sistem Keuangan Baru</a:t>
            </a:r>
          </a:p>
        </p:txBody>
      </p:sp>
      <p:sp>
        <p:nvSpPr>
          <p:cNvPr id="3" name="">
            <a:extLst xmlns:a="http://schemas.openxmlformats.org/drawingml/2006/main">
              <a:ext uri="{FF2B5EF4-FFF2-40B4-BE49-F238E27FC236}">
                <a16:creationId xmlns:a16="http://schemas.microsoft.com/office/drawing/2014/main" id="{9AD8C8E9-7E64-49E1-8A45-FA4809264F3D}"/>
              </a:ext>
            </a:extLst>
          </p:cNvPr>
          <p:cNvSpPr>
            <a:spLocks xmlns:a="http://schemas.openxmlformats.org/drawingml/2006/main" noGrp="1"/>
          </p:cNvSpPr>
          <p:nvPr/>
        </p:nvSpPr>
        <p:spPr>
          <a:xfrm xmlns:a="http://schemas.openxmlformats.org/drawingml/2006/main">
            <a:off x="685800" y="433387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D8E5DC"/>
                </a:solidFill>
                <a:latin typeface="Arial"/>
                <a:ea typeface="Arial"/>
                <a:cs typeface="Arial"/>
              </a:defRPr>
            </a:pPr>
            <a:r>
              <a:rPr sz="2175" b="0">
                <a:solidFill>
                  <a:srgbClr val="D8E5DC"/>
                </a:solidFill>
                <a:latin typeface="Arial"/>
                <a:ea typeface="Arial"/>
                <a:cs typeface="Arial"/>
              </a:rPr>
              <a:t>Alur pengelolaan dana, penjelasan modul, dan pertanyaan yang sering muncul</a:t>
            </a:r>
          </a:p>
          <a:p xmlns:a="http://schemas.openxmlformats.org/drawingml/2006/main">
            <a:pPr>
              <a:defRPr sz="2175" b="0">
                <a:solidFill>
                  <a:srgbClr val="D8E5DC"/>
                </a:solidFill>
                <a:latin typeface="Arial"/>
                <a:ea typeface="Arial"/>
                <a:cs typeface="Arial"/>
              </a:defRPr>
            </a:pPr>
            <a:r>
              <a:rPr sz="2175" b="0">
                <a:solidFill>
                  <a:srgbClr val="D8E5DC"/>
                </a:solidFill>
                <a:latin typeface="Arial"/>
                <a:ea typeface="Arial"/>
                <a:cs typeface="Arial"/>
              </a:rPr>
              <a:t>28 September 2026</a:t>
            </a:r>
          </a:p>
        </p:txBody>
      </p:sp>
    </p:spTree>
    <p:extLst>
      <p:ext uri="{BB962C8B-B14F-4D97-AF65-F5344CB8AC3E}">
        <p14:creationId xmlns:p14="http://schemas.microsoft.com/office/powerpoint/2010/main" val="464339652"/>
      </p:ext>
    </p:extLst>
  </p:cSld>
</p:sld>
</file>

<file path=ppt/slides/slide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5C975E8-2D35-4E86-9A6C-8ACC68BC89CD}"/>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Pengantar</a:t>
            </a:r>
          </a:p>
        </p:txBody>
      </p:sp>
      <p:sp>
        <p:nvSpPr>
          <p:cNvPr id="2" name="">
            <a:extLst xmlns:a="http://schemas.openxmlformats.org/drawingml/2006/main">
              <a:ext uri="{FF2B5EF4-FFF2-40B4-BE49-F238E27FC236}">
                <a16:creationId xmlns:a16="http://schemas.microsoft.com/office/drawing/2014/main" id="{8F3D0D94-8D5E-49ED-9B91-E8470F95C624}"/>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Cakupan dan dasar pembahasan</a:t>
            </a:r>
          </a:p>
        </p:txBody>
      </p:sp>
      <p:sp>
        <p:nvSpPr>
          <p:cNvPr id="3" name="">
            <a:extLst xmlns:a="http://schemas.openxmlformats.org/drawingml/2006/main">
              <a:ext uri="{FF2B5EF4-FFF2-40B4-BE49-F238E27FC236}">
                <a16:creationId xmlns:a16="http://schemas.microsoft.com/office/drawing/2014/main" id="{C942E620-B2E2-42DC-B2DF-7AF0A0FE0A32}"/>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AD068A13-D82D-458B-8846-FA5949BBC11D}"/>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B950E25-73D9-4394-ADBC-488511CBE390}"/>
              </a:ext>
            </a:extLst>
          </p:cNvPr>
          <p:cNvSpPr>
            <a:spLocks xmlns:a="http://schemas.openxmlformats.org/drawingml/2006/main" noGrp="1"/>
          </p:cNvSpPr>
          <p:nvPr/>
        </p:nvSpPr>
        <p:spPr>
          <a:xfrm xmlns:a="http://schemas.openxmlformats.org/drawingml/2006/main">
            <a:off x="609600" y="1857375"/>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Bagian I</a:t>
            </a:r>
          </a:p>
        </p:txBody>
      </p:sp>
      <p:sp>
        <p:nvSpPr>
          <p:cNvPr id="6" name="">
            <a:extLst xmlns:a="http://schemas.openxmlformats.org/drawingml/2006/main">
              <a:ext uri="{FF2B5EF4-FFF2-40B4-BE49-F238E27FC236}">
                <a16:creationId xmlns:a16="http://schemas.microsoft.com/office/drawing/2014/main" id="{67C10BBF-CBEE-45A3-97AB-51DF0A194557}"/>
              </a:ext>
            </a:extLst>
          </p:cNvPr>
          <p:cNvSpPr>
            <a:spLocks xmlns:a="http://schemas.openxmlformats.org/drawingml/2006/main" noGrp="1"/>
          </p:cNvSpPr>
          <p:nvPr/>
        </p:nvSpPr>
        <p:spPr>
          <a:xfrm xmlns:a="http://schemas.openxmlformats.org/drawingml/2006/main">
            <a:off x="3867150" y="1857375"/>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Alur keseluruhan: tagihan, pembayaran, uang jajan, penyaluran, dan pemeriksaan dana.</a:t>
            </a:r>
          </a:p>
        </p:txBody>
      </p:sp>
      <p:sp>
        <p:nvSpPr>
          <p:cNvPr id="7" name="">
            <a:extLst xmlns:a="http://schemas.openxmlformats.org/drawingml/2006/main">
              <a:ext uri="{FF2B5EF4-FFF2-40B4-BE49-F238E27FC236}">
                <a16:creationId xmlns:a16="http://schemas.microsoft.com/office/drawing/2014/main" id="{83D6A0BA-32BE-443C-B34C-864D04835963}"/>
              </a:ext>
            </a:extLst>
          </p:cNvPr>
          <p:cNvSpPr>
            <a:spLocks xmlns:a="http://schemas.openxmlformats.org/drawingml/2006/main" noGrp="1"/>
          </p:cNvSpPr>
          <p:nvPr/>
        </p:nvSpPr>
        <p:spPr>
          <a:xfrm xmlns:a="http://schemas.openxmlformats.org/drawingml/2006/main">
            <a:off x="609600" y="2726531"/>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Bagian II</a:t>
            </a:r>
          </a:p>
        </p:txBody>
      </p:sp>
      <p:sp>
        <p:nvSpPr>
          <p:cNvPr id="8" name="">
            <a:extLst xmlns:a="http://schemas.openxmlformats.org/drawingml/2006/main">
              <a:ext uri="{FF2B5EF4-FFF2-40B4-BE49-F238E27FC236}">
                <a16:creationId xmlns:a16="http://schemas.microsoft.com/office/drawing/2014/main" id="{8F4496C5-33AE-4277-BD75-8CD57FE49821}"/>
              </a:ext>
            </a:extLst>
          </p:cNvPr>
          <p:cNvSpPr>
            <a:spLocks xmlns:a="http://schemas.openxmlformats.org/drawingml/2006/main" noGrp="1"/>
          </p:cNvSpPr>
          <p:nvPr/>
        </p:nvSpPr>
        <p:spPr>
          <a:xfrm xmlns:a="http://schemas.openxmlformats.org/drawingml/2006/main">
            <a:off x="3867150" y="2726531"/>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Penjelasan setiap modul, contoh penggunaan, aturan penting, dan FAQ.</a:t>
            </a:r>
          </a:p>
        </p:txBody>
      </p:sp>
      <p:sp>
        <p:nvSpPr>
          <p:cNvPr id="9" name="">
            <a:extLst xmlns:a="http://schemas.openxmlformats.org/drawingml/2006/main">
              <a:ext uri="{FF2B5EF4-FFF2-40B4-BE49-F238E27FC236}">
                <a16:creationId xmlns:a16="http://schemas.microsoft.com/office/drawing/2014/main" id="{4C2F3304-1B60-4A01-9759-259294056597}"/>
              </a:ext>
            </a:extLst>
          </p:cNvPr>
          <p:cNvSpPr>
            <a:spLocks xmlns:a="http://schemas.openxmlformats.org/drawingml/2006/main" noGrp="1"/>
          </p:cNvSpPr>
          <p:nvPr/>
        </p:nvSpPr>
        <p:spPr>
          <a:xfrm xmlns:a="http://schemas.openxmlformats.org/drawingml/2006/main">
            <a:off x="609600" y="3595688"/>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Batas cakupan</a:t>
            </a:r>
          </a:p>
        </p:txBody>
      </p:sp>
      <p:sp>
        <p:nvSpPr>
          <p:cNvPr id="10" name="">
            <a:extLst xmlns:a="http://schemas.openxmlformats.org/drawingml/2006/main">
              <a:ext uri="{FF2B5EF4-FFF2-40B4-BE49-F238E27FC236}">
                <a16:creationId xmlns:a16="http://schemas.microsoft.com/office/drawing/2014/main" id="{E9CCF688-4E9B-4886-955A-8B31F0737CD0}"/>
              </a:ext>
            </a:extLst>
          </p:cNvPr>
          <p:cNvSpPr>
            <a:spLocks xmlns:a="http://schemas.openxmlformats.org/drawingml/2006/main" noGrp="1"/>
          </p:cNvSpPr>
          <p:nvPr/>
        </p:nvSpPr>
        <p:spPr>
          <a:xfrm xmlns:a="http://schemas.openxmlformats.org/drawingml/2006/main">
            <a:off x="3867150" y="3595688"/>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Sistem operasional keuangan pesantren. Tidak mencakup akuntansi penuh, neraca formal, atau penggajian.</a:t>
            </a:r>
          </a:p>
        </p:txBody>
      </p:sp>
      <p:sp>
        <p:nvSpPr>
          <p:cNvPr id="11" name="">
            <a:extLst xmlns:a="http://schemas.openxmlformats.org/drawingml/2006/main">
              <a:ext uri="{FF2B5EF4-FFF2-40B4-BE49-F238E27FC236}">
                <a16:creationId xmlns:a16="http://schemas.microsoft.com/office/drawing/2014/main" id="{66D93AB0-63C1-4335-A22A-B20DE36A116D}"/>
              </a:ext>
            </a:extLst>
          </p:cNvPr>
          <p:cNvSpPr>
            <a:spLocks xmlns:a="http://schemas.openxmlformats.org/drawingml/2006/main" noGrp="1"/>
          </p:cNvSpPr>
          <p:nvPr/>
        </p:nvSpPr>
        <p:spPr>
          <a:xfrm xmlns:a="http://schemas.openxmlformats.org/drawingml/2006/main">
            <a:off x="609600" y="4464844"/>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Status materi</a:t>
            </a:r>
          </a:p>
        </p:txBody>
      </p:sp>
      <p:sp>
        <p:nvSpPr>
          <p:cNvPr id="12" name="">
            <a:extLst xmlns:a="http://schemas.openxmlformats.org/drawingml/2006/main">
              <a:ext uri="{FF2B5EF4-FFF2-40B4-BE49-F238E27FC236}">
                <a16:creationId xmlns:a16="http://schemas.microsoft.com/office/drawing/2014/main" id="{AC7F3ED6-7789-4ACC-A434-4BFFD3C1DA51}"/>
              </a:ext>
            </a:extLst>
          </p:cNvPr>
          <p:cNvSpPr>
            <a:spLocks xmlns:a="http://schemas.openxmlformats.org/drawingml/2006/main" noGrp="1"/>
          </p:cNvSpPr>
          <p:nvPr/>
        </p:nvSpPr>
        <p:spPr>
          <a:xfrm xmlns:a="http://schemas.openxmlformats.org/drawingml/2006/main">
            <a:off x="3867150" y="4464844"/>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Berdasarkan ketentuan sistem dan kode aplikasi. Aktivasi layanan nyata serta hasil uji operasional perlu dikonfirmasi.</a:t>
            </a:r>
          </a:p>
        </p:txBody>
      </p:sp>
      <p:sp>
        <p:nvSpPr>
          <p:cNvPr id="13" name="">
            <a:extLst xmlns:a="http://schemas.openxmlformats.org/drawingml/2006/main">
              <a:ext uri="{FF2B5EF4-FFF2-40B4-BE49-F238E27FC236}">
                <a16:creationId xmlns:a16="http://schemas.microsoft.com/office/drawing/2014/main" id="{9F8FEADA-25E9-4991-86FD-E95973A4A6D0}"/>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Angka contoh dalam presentasi bersifat ilustratif, bukan tarif atau saldo aktual.</a:t>
            </a:r>
          </a:p>
        </p:txBody>
      </p:sp>
    </p:spTree>
    <p:extLst>
      <p:ext uri="{BB962C8B-B14F-4D97-AF65-F5344CB8AC3E}">
        <p14:creationId xmlns:p14="http://schemas.microsoft.com/office/powerpoint/2010/main" val="1419918543"/>
      </p:ext>
    </p:extLst>
  </p:cSld>
</p:sld>
</file>

<file path=ppt/slides/slide3.xml><?xml version="1.0" encoding="utf-8"?>
<p:sld xmlns:p="http://schemas.openxmlformats.org/presentationml/2006/main">
  <p:cSld>
    <p:bg>
      <p:bgPr>
        <a:solidFill xmlns:a="http://schemas.openxmlformats.org/drawingml/2006/main">
          <a:srgbClr val="173C3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B2A3A97-D3A6-42BA-8CCA-40B18D623719}"/>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C4D8C9"/>
                </a:solidFill>
                <a:latin typeface="Arial"/>
                <a:ea typeface="Arial"/>
                <a:cs typeface="Arial"/>
              </a:defRPr>
            </a:pPr>
            <a:r>
              <a:rPr sz="1800" b="1">
                <a:solidFill>
                  <a:srgbClr val="C4D8C9"/>
                </a:solidFill>
                <a:latin typeface="Arial"/>
                <a:ea typeface="Arial"/>
                <a:cs typeface="Arial"/>
              </a:rPr>
              <a:t>BAGIAN I</a:t>
            </a:r>
          </a:p>
        </p:txBody>
      </p:sp>
      <p:sp>
        <p:nvSpPr>
          <p:cNvPr id="2" name="">
            <a:extLst xmlns:a="http://schemas.openxmlformats.org/drawingml/2006/main">
              <a:ext uri="{FF2B5EF4-FFF2-40B4-BE49-F238E27FC236}">
                <a16:creationId xmlns:a16="http://schemas.microsoft.com/office/drawing/2014/main" id="{81524359-EBF6-4070-BC09-460618F32DFE}"/>
              </a:ext>
            </a:extLst>
          </p:cNvPr>
          <p:cNvSpPr>
            <a:spLocks xmlns:a="http://schemas.openxmlformats.org/drawingml/2006/main" noGrp="1"/>
          </p:cNvSpPr>
          <p:nvPr/>
        </p:nvSpPr>
        <p:spPr>
          <a:xfrm xmlns:a="http://schemas.openxmlformats.org/drawingml/2006/main">
            <a:off x="685800" y="1952625"/>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Alur proses</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secara keseluruhan</a:t>
            </a:r>
          </a:p>
        </p:txBody>
      </p:sp>
      <p:sp>
        <p:nvSpPr>
          <p:cNvPr id="3" name="">
            <a:extLst xmlns:a="http://schemas.openxmlformats.org/drawingml/2006/main">
              <a:ext uri="{FF2B5EF4-FFF2-40B4-BE49-F238E27FC236}">
                <a16:creationId xmlns:a16="http://schemas.microsoft.com/office/drawing/2014/main" id="{B855CA5B-00F8-4506-A417-E2707869AEAB}"/>
              </a:ext>
            </a:extLst>
          </p:cNvPr>
          <p:cNvSpPr>
            <a:spLocks xmlns:a="http://schemas.openxmlformats.org/drawingml/2006/main" noGrp="1"/>
          </p:cNvSpPr>
          <p:nvPr/>
        </p:nvSpPr>
        <p:spPr>
          <a:xfrm xmlns:a="http://schemas.openxmlformats.org/drawingml/2006/main">
            <a:off x="685800" y="433387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D8E5DC"/>
                </a:solidFill>
                <a:latin typeface="Arial"/>
                <a:ea typeface="Arial"/>
                <a:cs typeface="Arial"/>
              </a:defRPr>
            </a:pPr>
            <a:r>
              <a:rPr sz="2175" b="0">
                <a:solidFill>
                  <a:srgbClr val="D8E5DC"/>
                </a:solidFill>
                <a:latin typeface="Arial"/>
                <a:ea typeface="Arial"/>
                <a:cs typeface="Arial"/>
              </a:rPr>
              <a:t>Siapa melakukan apa, bagaimana uang dicatat, dan bagaimana pesantren mengawasinya</a:t>
            </a:r>
          </a:p>
        </p:txBody>
      </p:sp>
    </p:spTree>
    <p:extLst>
      <p:ext uri="{BB962C8B-B14F-4D97-AF65-F5344CB8AC3E}">
        <p14:creationId xmlns:p14="http://schemas.microsoft.com/office/powerpoint/2010/main" val="1251617290"/>
      </p:ext>
    </p:extLst>
  </p:cSld>
</p:sld>
</file>

<file path=ppt/slides/slide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9D48E0-B6B9-4BB1-B3C6-E22C66EAD883}"/>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 · Alur keseluruhan</a:t>
            </a:r>
          </a:p>
        </p:txBody>
      </p:sp>
      <p:sp>
        <p:nvSpPr>
          <p:cNvPr id="2" name="">
            <a:extLst xmlns:a="http://schemas.openxmlformats.org/drawingml/2006/main">
              <a:ext uri="{FF2B5EF4-FFF2-40B4-BE49-F238E27FC236}">
                <a16:creationId xmlns:a16="http://schemas.microsoft.com/office/drawing/2014/main" id="{203906CC-B949-4145-8363-1649FB6310DD}"/>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Pembagian peran dalam operasional</a:t>
            </a:r>
          </a:p>
        </p:txBody>
      </p:sp>
      <p:sp>
        <p:nvSpPr>
          <p:cNvPr id="3" name="">
            <a:extLst xmlns:a="http://schemas.openxmlformats.org/drawingml/2006/main">
              <a:ext uri="{FF2B5EF4-FFF2-40B4-BE49-F238E27FC236}">
                <a16:creationId xmlns:a16="http://schemas.microsoft.com/office/drawing/2014/main" id="{1035EDF5-47DA-4094-9311-009D3E3BF921}"/>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F1F4525B-F24D-4F8D-A138-F3F742148BA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04</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2667000"/>
                <a:gridCol w="8305800"/>
              </a:tblGrid>
              <a:tr h="428625">
                <a:tc>
                  <a:txBody>
                    <a:bodyPr/>
                    <a:lstStyle/>
                    <a:p>
                      <a:r>
                        <a:rPr sz="1725" b="1">
                          <a:solidFill>
                            <a:srgbClr val="FFFFFF"/>
                          </a:solidFill>
                          <a:latin typeface="Arial"/>
                          <a:ea typeface="Arial"/>
                          <a:cs typeface="Arial"/>
                        </a:rPr>
                        <a:t>Peran</a:t>
                      </a:r>
                    </a:p>
                  </a:txBody>
                  <a:tcPr marL="85725" marR="85725" marT="19050" marB="19050">
                    <a:solidFill>
                      <a:srgbClr val="176B55"/>
                    </a:solidFill>
                  </a:tcPr>
                </a:tc>
                <a:tc>
                  <a:txBody>
                    <a:bodyPr/>
                    <a:lstStyle/>
                    <a:p>
                      <a:r>
                        <a:rPr sz="1725" b="1">
                          <a:solidFill>
                            <a:srgbClr val="FFFFFF"/>
                          </a:solidFill>
                          <a:latin typeface="Arial"/>
                          <a:ea typeface="Arial"/>
                          <a:cs typeface="Arial"/>
                        </a:rPr>
                        <a:t>Tanggung jawab utama</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Pimpinan</a:t>
                      </a:r>
                    </a:p>
                  </a:txBody>
                  <a:tcPr marL="85725" marR="85725" marT="19050" marB="19050">
                    <a:solidFill>
                      <a:srgbClr val="FFFFFF"/>
                    </a:solidFill>
                  </a:tcPr>
                </a:tc>
                <a:tc>
                  <a:txBody>
                    <a:bodyPr/>
                    <a:lstStyle/>
                    <a:p>
                      <a:r>
                        <a:rPr sz="1725" b="0">
                          <a:solidFill>
                            <a:srgbClr val="293C37"/>
                          </a:solidFill>
                          <a:latin typeface="Arial"/>
                          <a:ea typeface="Arial"/>
                          <a:cs typeface="Arial"/>
                        </a:rPr>
                        <a:t>Memantau ringkasan, tunggakan, penyaluran, dan masalah yang memerlukan keputusan.</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Bendahara</a:t>
                      </a:r>
                    </a:p>
                  </a:txBody>
                  <a:tcPr marL="85725" marR="85725" marT="19050" marB="19050">
                    <a:solidFill>
                      <a:srgbClr val="E8F1EB"/>
                    </a:solidFill>
                  </a:tcPr>
                </a:tc>
                <a:tc>
                  <a:txBody>
                    <a:bodyPr/>
                    <a:lstStyle/>
                    <a:p>
                      <a:r>
                        <a:rPr sz="1725" b="0">
                          <a:solidFill>
                            <a:srgbClr val="293C37"/>
                          </a:solidFill>
                          <a:latin typeface="Arial"/>
                          <a:ea typeface="Arial"/>
                          <a:cs typeface="Arial"/>
                        </a:rPr>
                        <a:t>Mengatur tarif dan pembebasan, memeriksa dana, mencatat penyaluran, serta menyiapkan laporan.</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Admin Koperasi</a:t>
                      </a:r>
                    </a:p>
                  </a:txBody>
                  <a:tcPr marL="85725" marR="85725" marT="19050" marB="19050">
                    <a:solidFill>
                      <a:srgbClr val="FFFFFF"/>
                    </a:solidFill>
                  </a:tcPr>
                </a:tc>
                <a:tc>
                  <a:txBody>
                    <a:bodyPr/>
                    <a:lstStyle/>
                    <a:p>
                      <a:r>
                        <a:rPr sz="1725" b="0">
                          <a:solidFill>
                            <a:srgbClr val="293C37"/>
                          </a:solidFill>
                          <a:latin typeface="Arial"/>
                          <a:ea typeface="Arial"/>
                          <a:cs typeface="Arial"/>
                        </a:rPr>
                        <a:t>Mengelola kartu dan PIN, memantau uang jajan serta operasional loket.</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Petugas Koperasi</a:t>
                      </a:r>
                    </a:p>
                  </a:txBody>
                  <a:tcPr marL="85725" marR="85725" marT="19050" marB="19050">
                    <a:solidFill>
                      <a:srgbClr val="E8F1EB"/>
                    </a:solidFill>
                  </a:tcPr>
                </a:tc>
                <a:tc>
                  <a:txBody>
                    <a:bodyPr/>
                    <a:lstStyle/>
                    <a:p>
                      <a:r>
                        <a:rPr sz="1725" b="0">
                          <a:solidFill>
                            <a:srgbClr val="293C37"/>
                          </a:solidFill>
                          <a:latin typeface="Arial"/>
                          <a:ea typeface="Arial"/>
                          <a:cs typeface="Arial"/>
                        </a:rPr>
                        <a:t>Melayani pembayaran tunai, setoran, pencairan uang jajan, dan buka–tutup kas.</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Orang tua</a:t>
                      </a:r>
                    </a:p>
                  </a:txBody>
                  <a:tcPr marL="85725" marR="85725" marT="19050" marB="19050">
                    <a:solidFill>
                      <a:srgbClr val="FFFFFF"/>
                    </a:solidFill>
                  </a:tcPr>
                </a:tc>
                <a:tc>
                  <a:txBody>
                    <a:bodyPr/>
                    <a:lstStyle/>
                    <a:p>
                      <a:r>
                        <a:rPr sz="1725" b="0">
                          <a:solidFill>
                            <a:srgbClr val="293C37"/>
                          </a:solidFill>
                          <a:latin typeface="Arial"/>
                          <a:ea typeface="Arial"/>
                          <a:cs typeface="Arial"/>
                        </a:rPr>
                        <a:t>Memilih pembayaran, mengisi uang jajan, mengatur batas pencairan, dan melihat riwayat.</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6108AAB-8D2D-4589-B9D9-FFBD07C8E193}"/>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Hak akses mengikuti pengaturan akun. Peran pimpinan pada modul keuangan bersifat baca saja.</a:t>
            </a:r>
          </a:p>
        </p:txBody>
      </p:sp>
    </p:spTree>
    <p:extLst>
      <p:ext uri="{BB962C8B-B14F-4D97-AF65-F5344CB8AC3E}">
        <p14:creationId xmlns:p14="http://schemas.microsoft.com/office/powerpoint/2010/main" val="769012327"/>
      </p:ext>
    </p:extLst>
  </p:cSld>
</p:sld>
</file>

<file path=ppt/slides/slide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23" name=""/>
          <p:cNvCxnSpPr>
            <a:stCxn xmlns:a="http://schemas.openxmlformats.org/drawingml/2006/main" id="13" idx="3"/>
            <a:endCxn xmlns:a="http://schemas.openxmlformats.org/drawingml/2006/main" id="15" idx="1"/>
          </p:cNvCxnSpPr>
          <p:nvPr/>
        </p:nvCxnSpPr>
        <p:spPr>
          <a:xfrm xmlns:a="http://schemas.openxmlformats.org/drawingml/2006/main">
            <a:off x="7800975" y="4357688"/>
            <a:ext cx="333375"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24" name=""/>
          <p:cNvCxnSpPr>
            <a:stCxn xmlns:a="http://schemas.openxmlformats.org/drawingml/2006/main" id="11" idx="3"/>
            <a:endCxn xmlns:a="http://schemas.openxmlformats.org/drawingml/2006/main" id="13" idx="1"/>
          </p:cNvCxnSpPr>
          <p:nvPr/>
        </p:nvCxnSpPr>
        <p:spPr>
          <a:xfrm xmlns:a="http://schemas.openxmlformats.org/drawingml/2006/main">
            <a:off x="4038600" y="4357688"/>
            <a:ext cx="333375"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25" name=""/>
          <p:cNvCxnSpPr>
            <a:stCxn xmlns:a="http://schemas.openxmlformats.org/drawingml/2006/main" id="7" idx="3"/>
            <a:endCxn xmlns:a="http://schemas.openxmlformats.org/drawingml/2006/main" id="9" idx="1"/>
          </p:cNvCxnSpPr>
          <p:nvPr/>
        </p:nvCxnSpPr>
        <p:spPr>
          <a:xfrm xmlns:a="http://schemas.openxmlformats.org/drawingml/2006/main">
            <a:off x="7800975" y="2309813"/>
            <a:ext cx="333375"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26" name=""/>
          <p:cNvCxnSpPr>
            <a:stCxn xmlns:a="http://schemas.openxmlformats.org/drawingml/2006/main" id="5" idx="3"/>
            <a:endCxn xmlns:a="http://schemas.openxmlformats.org/drawingml/2006/main" id="7" idx="1"/>
          </p:cNvCxnSpPr>
          <p:nvPr/>
        </p:nvCxnSpPr>
        <p:spPr>
          <a:xfrm xmlns:a="http://schemas.openxmlformats.org/drawingml/2006/main">
            <a:off x="4038600" y="2309813"/>
            <a:ext cx="333375" cy="0"/>
          </a:xfrm>
          <a:prstGeom xmlns:a="http://schemas.openxmlformats.org/drawingml/2006/main" prst="straightConnector1">
            <a:avLst/>
          </a:prstGeom>
          <a:ln xmlns:a="http://schemas.openxmlformats.org/drawingml/2006/main" w="23813">
            <a:solidFill>
              <a:srgbClr val="176B55"/>
            </a:solidFill>
            <a:tailEnd type="arrow" w="med" len="med"/>
          </a:ln>
        </p:spPr>
      </p:cxnSp>
      <p:sp>
        <p:nvSpPr>
          <p:cNvPr id="27" name="">
            <a:extLst xmlns:a="http://schemas.openxmlformats.org/drawingml/2006/main">
              <a:ext uri="{FF2B5EF4-FFF2-40B4-BE49-F238E27FC236}">
                <a16:creationId xmlns:a16="http://schemas.microsoft.com/office/drawing/2014/main" id="{CCE1DB38-A8B9-4E69-AB6F-54FEFC23AC11}"/>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 · Alur keseluruhan</a:t>
            </a:r>
          </a:p>
        </p:txBody>
      </p:sp>
      <p:sp>
        <p:nvSpPr>
          <p:cNvPr id="2" name="">
            <a:extLst xmlns:a="http://schemas.openxmlformats.org/drawingml/2006/main">
              <a:ext uri="{FF2B5EF4-FFF2-40B4-BE49-F238E27FC236}">
                <a16:creationId xmlns:a16="http://schemas.microsoft.com/office/drawing/2014/main" id="{5F05EDD6-C031-4D07-B410-0BA45E30FDDE}"/>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Enam tahap yang memiliki arti berbeda</a:t>
            </a:r>
          </a:p>
        </p:txBody>
      </p:sp>
      <p:sp>
        <p:nvSpPr>
          <p:cNvPr id="3" name="">
            <a:extLst xmlns:a="http://schemas.openxmlformats.org/drawingml/2006/main">
              <a:ext uri="{FF2B5EF4-FFF2-40B4-BE49-F238E27FC236}">
                <a16:creationId xmlns:a16="http://schemas.microsoft.com/office/drawing/2014/main" id="{6A7EF74E-3425-463D-B8B1-2BDE296F8447}"/>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CDA99304-B12F-4665-8AC1-5DFBE8D037F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C9CF4A7-F925-4DE1-BC97-3777AC53A827}"/>
              </a:ext>
            </a:extLst>
          </p:cNvPr>
          <p:cNvSpPr>
            <a:spLocks xmlns:a="http://schemas.openxmlformats.org/drawingml/2006/main" noGrp="1"/>
          </p:cNvSpPr>
          <p:nvPr/>
        </p:nvSpPr>
        <p:spPr>
          <a:xfrm xmlns:a="http://schemas.openxmlformats.org/drawingml/2006/main">
            <a:off x="609600" y="1952625"/>
            <a:ext cx="3429000" cy="714375"/>
          </a:xfrm>
          <a:prstGeom xmlns:a="http://schemas.openxmlformats.org/drawingml/2006/main" prst="roundRect">
            <a:avLst>
              <a:gd name="adj" fmla="val 10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1  Tagihan</a:t>
            </a:r>
          </a:p>
        </p:txBody>
      </p:sp>
      <p:sp>
        <p:nvSpPr>
          <p:cNvPr id="6" name="">
            <a:extLst xmlns:a="http://schemas.openxmlformats.org/drawingml/2006/main">
              <a:ext uri="{FF2B5EF4-FFF2-40B4-BE49-F238E27FC236}">
                <a16:creationId xmlns:a16="http://schemas.microsoft.com/office/drawing/2014/main" id="{D6F8F112-1AD7-435D-A30F-663AF3002170}"/>
              </a:ext>
            </a:extLst>
          </p:cNvPr>
          <p:cNvSpPr>
            <a:spLocks xmlns:a="http://schemas.openxmlformats.org/drawingml/2006/main" noGrp="1"/>
          </p:cNvSpPr>
          <p:nvPr/>
        </p:nvSpPr>
        <p:spPr>
          <a:xfrm xmlns:a="http://schemas.openxmlformats.org/drawingml/2006/main">
            <a:off x="609600" y="2743200"/>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293C37"/>
                </a:solidFill>
                <a:latin typeface="Arial"/>
                <a:ea typeface="Arial"/>
                <a:cs typeface="Arial"/>
              </a:defRPr>
            </a:pPr>
            <a:r>
              <a:rPr sz="1800" b="0">
                <a:solidFill>
                  <a:srgbClr val="293C37"/>
                </a:solidFill>
                <a:latin typeface="Arial"/>
                <a:ea typeface="Arial"/>
                <a:cs typeface="Arial"/>
              </a:rPr>
              <a:t>Apa yang wajib dibayar</a:t>
            </a:r>
          </a:p>
        </p:txBody>
      </p:sp>
      <p:sp>
        <p:nvSpPr>
          <p:cNvPr id="7" name="">
            <a:extLst xmlns:a="http://schemas.openxmlformats.org/drawingml/2006/main">
              <a:ext uri="{FF2B5EF4-FFF2-40B4-BE49-F238E27FC236}">
                <a16:creationId xmlns:a16="http://schemas.microsoft.com/office/drawing/2014/main" id="{11582C8F-DA6A-4E46-905C-E826E96B297E}"/>
              </a:ext>
            </a:extLst>
          </p:cNvPr>
          <p:cNvSpPr>
            <a:spLocks xmlns:a="http://schemas.openxmlformats.org/drawingml/2006/main" noGrp="1"/>
          </p:cNvSpPr>
          <p:nvPr/>
        </p:nvSpPr>
        <p:spPr>
          <a:xfrm xmlns:a="http://schemas.openxmlformats.org/drawingml/2006/main">
            <a:off x="4371975" y="1952625"/>
            <a:ext cx="3429000" cy="714375"/>
          </a:xfrm>
          <a:prstGeom xmlns:a="http://schemas.openxmlformats.org/drawingml/2006/main" prst="roundRect">
            <a:avLst>
              <a:gd name="adj" fmla="val 10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2  Pesanan bayar</a:t>
            </a:r>
          </a:p>
        </p:txBody>
      </p:sp>
      <p:sp>
        <p:nvSpPr>
          <p:cNvPr id="8" name="">
            <a:extLst xmlns:a="http://schemas.openxmlformats.org/drawingml/2006/main">
              <a:ext uri="{FF2B5EF4-FFF2-40B4-BE49-F238E27FC236}">
                <a16:creationId xmlns:a16="http://schemas.microsoft.com/office/drawing/2014/main" id="{7A241F09-5C9D-4C70-A346-221AFB9C64C2}"/>
              </a:ext>
            </a:extLst>
          </p:cNvPr>
          <p:cNvSpPr>
            <a:spLocks xmlns:a="http://schemas.openxmlformats.org/drawingml/2006/main" noGrp="1"/>
          </p:cNvSpPr>
          <p:nvPr/>
        </p:nvSpPr>
        <p:spPr>
          <a:xfrm xmlns:a="http://schemas.openxmlformats.org/drawingml/2006/main">
            <a:off x="4371975" y="2743200"/>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293C37"/>
                </a:solidFill>
                <a:latin typeface="Arial"/>
                <a:ea typeface="Arial"/>
                <a:cs typeface="Arial"/>
              </a:defRPr>
            </a:pPr>
            <a:r>
              <a:rPr sz="1800" b="0">
                <a:solidFill>
                  <a:srgbClr val="293C37"/>
                </a:solidFill>
                <a:latin typeface="Arial"/>
                <a:ea typeface="Arial"/>
                <a:cs typeface="Arial"/>
              </a:rPr>
              <a:t>Item yang dipilih untuk dibayar</a:t>
            </a:r>
          </a:p>
        </p:txBody>
      </p:sp>
      <p:sp>
        <p:nvSpPr>
          <p:cNvPr id="9" name="">
            <a:extLst xmlns:a="http://schemas.openxmlformats.org/drawingml/2006/main">
              <a:ext uri="{FF2B5EF4-FFF2-40B4-BE49-F238E27FC236}">
                <a16:creationId xmlns:a16="http://schemas.microsoft.com/office/drawing/2014/main" id="{01E760DB-854C-43E6-BBB6-DFE17B00BDF9}"/>
              </a:ext>
            </a:extLst>
          </p:cNvPr>
          <p:cNvSpPr>
            <a:spLocks xmlns:a="http://schemas.openxmlformats.org/drawingml/2006/main" noGrp="1"/>
          </p:cNvSpPr>
          <p:nvPr/>
        </p:nvSpPr>
        <p:spPr>
          <a:xfrm xmlns:a="http://schemas.openxmlformats.org/drawingml/2006/main">
            <a:off x="8134350" y="1952625"/>
            <a:ext cx="3429000" cy="714375"/>
          </a:xfrm>
          <a:prstGeom xmlns:a="http://schemas.openxmlformats.org/drawingml/2006/main" prst="roundRect">
            <a:avLst>
              <a:gd name="adj" fmla="val 10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3  Pembayaran</a:t>
            </a:r>
          </a:p>
        </p:txBody>
      </p:sp>
      <p:sp>
        <p:nvSpPr>
          <p:cNvPr id="10" name="">
            <a:extLst xmlns:a="http://schemas.openxmlformats.org/drawingml/2006/main">
              <a:ext uri="{FF2B5EF4-FFF2-40B4-BE49-F238E27FC236}">
                <a16:creationId xmlns:a16="http://schemas.microsoft.com/office/drawing/2014/main" id="{B372235B-8862-48B7-8B58-69D2F0F80A75}"/>
              </a:ext>
            </a:extLst>
          </p:cNvPr>
          <p:cNvSpPr>
            <a:spLocks xmlns:a="http://schemas.openxmlformats.org/drawingml/2006/main" noGrp="1"/>
          </p:cNvSpPr>
          <p:nvPr/>
        </p:nvSpPr>
        <p:spPr>
          <a:xfrm xmlns:a="http://schemas.openxmlformats.org/drawingml/2006/main">
            <a:off x="8134350" y="2743200"/>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293C37"/>
                </a:solidFill>
                <a:latin typeface="Arial"/>
                <a:ea typeface="Arial"/>
                <a:cs typeface="Arial"/>
              </a:defRPr>
            </a:pPr>
            <a:r>
              <a:rPr sz="1800" b="0">
                <a:solidFill>
                  <a:srgbClr val="293C37"/>
                </a:solidFill>
                <a:latin typeface="Arial"/>
                <a:ea typeface="Arial"/>
                <a:cs typeface="Arial"/>
              </a:rPr>
              <a:t>Uang yang benar-benar diterima</a:t>
            </a:r>
          </a:p>
        </p:txBody>
      </p:sp>
      <p:sp>
        <p:nvSpPr>
          <p:cNvPr id="11" name="">
            <a:extLst xmlns:a="http://schemas.openxmlformats.org/drawingml/2006/main">
              <a:ext uri="{FF2B5EF4-FFF2-40B4-BE49-F238E27FC236}">
                <a16:creationId xmlns:a16="http://schemas.microsoft.com/office/drawing/2014/main" id="{38254BF0-5CE6-42BE-BD9F-6BE06E2EDA70}"/>
              </a:ext>
            </a:extLst>
          </p:cNvPr>
          <p:cNvSpPr>
            <a:spLocks xmlns:a="http://schemas.openxmlformats.org/drawingml/2006/main" noGrp="1"/>
          </p:cNvSpPr>
          <p:nvPr/>
        </p:nvSpPr>
        <p:spPr>
          <a:xfrm xmlns:a="http://schemas.openxmlformats.org/drawingml/2006/main">
            <a:off x="609600" y="4000500"/>
            <a:ext cx="3429000" cy="714375"/>
          </a:xfrm>
          <a:prstGeom xmlns:a="http://schemas.openxmlformats.org/drawingml/2006/main" prst="roundRect">
            <a:avLst>
              <a:gd name="adj" fmla="val 10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4  Alokasi</a:t>
            </a:r>
          </a:p>
        </p:txBody>
      </p:sp>
      <p:sp>
        <p:nvSpPr>
          <p:cNvPr id="12" name="">
            <a:extLst xmlns:a="http://schemas.openxmlformats.org/drawingml/2006/main">
              <a:ext uri="{FF2B5EF4-FFF2-40B4-BE49-F238E27FC236}">
                <a16:creationId xmlns:a16="http://schemas.microsoft.com/office/drawing/2014/main" id="{5FCE6AF7-82C2-4AFA-83AD-02162F445072}"/>
              </a:ext>
            </a:extLst>
          </p:cNvPr>
          <p:cNvSpPr>
            <a:spLocks xmlns:a="http://schemas.openxmlformats.org/drawingml/2006/main" noGrp="1"/>
          </p:cNvSpPr>
          <p:nvPr/>
        </p:nvSpPr>
        <p:spPr>
          <a:xfrm xmlns:a="http://schemas.openxmlformats.org/drawingml/2006/main">
            <a:off x="609600" y="4791075"/>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293C37"/>
                </a:solidFill>
                <a:latin typeface="Arial"/>
                <a:ea typeface="Arial"/>
                <a:cs typeface="Arial"/>
              </a:defRPr>
            </a:pPr>
            <a:r>
              <a:rPr sz="1800" b="0">
                <a:solidFill>
                  <a:srgbClr val="293C37"/>
                </a:solidFill>
                <a:latin typeface="Arial"/>
                <a:ea typeface="Arial"/>
                <a:cs typeface="Arial"/>
              </a:rPr>
              <a:t>Pembagian pembayaran per item</a:t>
            </a:r>
          </a:p>
        </p:txBody>
      </p:sp>
      <p:sp>
        <p:nvSpPr>
          <p:cNvPr id="13" name="">
            <a:extLst xmlns:a="http://schemas.openxmlformats.org/drawingml/2006/main">
              <a:ext uri="{FF2B5EF4-FFF2-40B4-BE49-F238E27FC236}">
                <a16:creationId xmlns:a16="http://schemas.microsoft.com/office/drawing/2014/main" id="{AA8C0B32-9087-4C32-925A-AF2A99DFC579}"/>
              </a:ext>
            </a:extLst>
          </p:cNvPr>
          <p:cNvSpPr>
            <a:spLocks xmlns:a="http://schemas.openxmlformats.org/drawingml/2006/main" noGrp="1"/>
          </p:cNvSpPr>
          <p:nvPr/>
        </p:nvSpPr>
        <p:spPr>
          <a:xfrm xmlns:a="http://schemas.openxmlformats.org/drawingml/2006/main">
            <a:off x="4371975" y="4000500"/>
            <a:ext cx="3429000" cy="714375"/>
          </a:xfrm>
          <a:prstGeom xmlns:a="http://schemas.openxmlformats.org/drawingml/2006/main" prst="roundRect">
            <a:avLst>
              <a:gd name="adj" fmla="val 10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5  Masuk rekening</a:t>
            </a:r>
          </a:p>
        </p:txBody>
      </p:sp>
      <p:sp>
        <p:nvSpPr>
          <p:cNvPr id="14" name="">
            <a:extLst xmlns:a="http://schemas.openxmlformats.org/drawingml/2006/main">
              <a:ext uri="{FF2B5EF4-FFF2-40B4-BE49-F238E27FC236}">
                <a16:creationId xmlns:a16="http://schemas.microsoft.com/office/drawing/2014/main" id="{3FB34E03-BDC2-417D-B0EB-04B3428174BE}"/>
              </a:ext>
            </a:extLst>
          </p:cNvPr>
          <p:cNvSpPr>
            <a:spLocks xmlns:a="http://schemas.openxmlformats.org/drawingml/2006/main" noGrp="1"/>
          </p:cNvSpPr>
          <p:nvPr/>
        </p:nvSpPr>
        <p:spPr>
          <a:xfrm xmlns:a="http://schemas.openxmlformats.org/drawingml/2006/main">
            <a:off x="4371975" y="4791075"/>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293C37"/>
                </a:solidFill>
                <a:latin typeface="Arial"/>
                <a:ea typeface="Arial"/>
                <a:cs typeface="Arial"/>
              </a:defRPr>
            </a:pPr>
            <a:r>
              <a:rPr sz="1800" b="0">
                <a:solidFill>
                  <a:srgbClr val="293C37"/>
                </a:solidFill>
                <a:latin typeface="Arial"/>
                <a:ea typeface="Arial"/>
                <a:cs typeface="Arial"/>
              </a:rPr>
              <a:t>Duitku meneruskan dana ke bank</a:t>
            </a:r>
          </a:p>
        </p:txBody>
      </p:sp>
      <p:sp>
        <p:nvSpPr>
          <p:cNvPr id="15" name="">
            <a:extLst xmlns:a="http://schemas.openxmlformats.org/drawingml/2006/main">
              <a:ext uri="{FF2B5EF4-FFF2-40B4-BE49-F238E27FC236}">
                <a16:creationId xmlns:a16="http://schemas.microsoft.com/office/drawing/2014/main" id="{AD1F72E6-45B0-4408-9373-895B84788705}"/>
              </a:ext>
            </a:extLst>
          </p:cNvPr>
          <p:cNvSpPr>
            <a:spLocks xmlns:a="http://schemas.openxmlformats.org/drawingml/2006/main" noGrp="1"/>
          </p:cNvSpPr>
          <p:nvPr/>
        </p:nvSpPr>
        <p:spPr>
          <a:xfrm xmlns:a="http://schemas.openxmlformats.org/drawingml/2006/main">
            <a:off x="8134350" y="4000500"/>
            <a:ext cx="3429000" cy="714375"/>
          </a:xfrm>
          <a:prstGeom xmlns:a="http://schemas.openxmlformats.org/drawingml/2006/main" prst="roundRect">
            <a:avLst>
              <a:gd name="adj" fmla="val 10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6  Penyaluran</a:t>
            </a:r>
          </a:p>
        </p:txBody>
      </p:sp>
      <p:sp>
        <p:nvSpPr>
          <p:cNvPr id="16" name="">
            <a:extLst xmlns:a="http://schemas.openxmlformats.org/drawingml/2006/main">
              <a:ext uri="{FF2B5EF4-FFF2-40B4-BE49-F238E27FC236}">
                <a16:creationId xmlns:a16="http://schemas.microsoft.com/office/drawing/2014/main" id="{824E0F66-9A32-47EB-B977-A78E2FE78287}"/>
              </a:ext>
            </a:extLst>
          </p:cNvPr>
          <p:cNvSpPr>
            <a:spLocks xmlns:a="http://schemas.openxmlformats.org/drawingml/2006/main" noGrp="1"/>
          </p:cNvSpPr>
          <p:nvPr/>
        </p:nvSpPr>
        <p:spPr>
          <a:xfrm xmlns:a="http://schemas.openxmlformats.org/drawingml/2006/main">
            <a:off x="8134350" y="4791075"/>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293C37"/>
                </a:solidFill>
                <a:latin typeface="Arial"/>
                <a:ea typeface="Arial"/>
                <a:cs typeface="Arial"/>
              </a:defRPr>
            </a:pPr>
            <a:r>
              <a:rPr sz="1800" b="0">
                <a:solidFill>
                  <a:srgbClr val="293C37"/>
                </a:solidFill>
                <a:latin typeface="Arial"/>
                <a:ea typeface="Arial"/>
                <a:cs typeface="Arial"/>
              </a:rPr>
              <a:t>Dana diserahkan kepada penerima</a:t>
            </a:r>
          </a:p>
        </p:txBody>
      </p:sp>
      <p:sp>
        <p:nvSpPr>
          <p:cNvPr id="21" name="">
            <a:extLst xmlns:a="http://schemas.openxmlformats.org/drawingml/2006/main">
              <a:ext uri="{FF2B5EF4-FFF2-40B4-BE49-F238E27FC236}">
                <a16:creationId xmlns:a16="http://schemas.microsoft.com/office/drawing/2014/main" id="{20119D3E-8B58-4BC7-9581-467C481E857A}"/>
              </a:ext>
            </a:extLst>
          </p:cNvPr>
          <p:cNvSpPr>
            <a:spLocks xmlns:a="http://schemas.openxmlformats.org/drawingml/2006/main" noGrp="1"/>
          </p:cNvSpPr>
          <p:nvPr/>
        </p:nvSpPr>
        <p:spPr>
          <a:xfrm xmlns:a="http://schemas.openxmlformats.org/drawingml/2006/main">
            <a:off x="609600" y="35433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63766F"/>
                </a:solidFill>
                <a:latin typeface="Arial"/>
                <a:ea typeface="Arial"/>
                <a:cs typeface="Arial"/>
              </a:defRPr>
            </a:pPr>
            <a:r>
              <a:rPr sz="1500" b="0">
                <a:solidFill>
                  <a:srgbClr val="63766F"/>
                </a:solidFill>
                <a:latin typeface="Arial"/>
                <a:ea typeface="Arial"/>
                <a:cs typeface="Arial"/>
              </a:rPr>
              <a:t>Setelah pembayaran, lanjut ke tahap 4</a:t>
            </a:r>
          </a:p>
        </p:txBody>
      </p:sp>
      <p:sp>
        <p:nvSpPr>
          <p:cNvPr id="22" name="">
            <a:extLst xmlns:a="http://schemas.openxmlformats.org/drawingml/2006/main">
              <a:ext uri="{FF2B5EF4-FFF2-40B4-BE49-F238E27FC236}">
                <a16:creationId xmlns:a16="http://schemas.microsoft.com/office/drawing/2014/main" id="{0F82CC66-CC4D-47CC-A2EE-E77DA9324E19}"/>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Tahap masuk rekening berlaku untuk dana online. Tunai mengikuti pencatatan kas dan penyaluran.</a:t>
            </a:r>
          </a:p>
        </p:txBody>
      </p:sp>
    </p:spTree>
    <p:extLst>
      <p:ext uri="{BB962C8B-B14F-4D97-AF65-F5344CB8AC3E}">
        <p14:creationId xmlns:p14="http://schemas.microsoft.com/office/powerpoint/2010/main" val="210003415"/>
      </p:ext>
    </p:extLst>
  </p:cSld>
</p:sld>
</file>

<file path=ppt/slides/slide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17" name=""/>
          <p:cNvCxnSpPr>
            <a:stCxn xmlns:a="http://schemas.openxmlformats.org/drawingml/2006/main" id="7" idx="3"/>
            <a:endCxn xmlns:a="http://schemas.openxmlformats.org/drawingml/2006/main" id="8" idx="1"/>
          </p:cNvCxnSpPr>
          <p:nvPr/>
        </p:nvCxnSpPr>
        <p:spPr>
          <a:xfrm xmlns:a="http://schemas.openxmlformats.org/drawingml/2006/main">
            <a:off x="8772525"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8" name=""/>
          <p:cNvCxnSpPr>
            <a:stCxn xmlns:a="http://schemas.openxmlformats.org/drawingml/2006/main" id="6" idx="3"/>
            <a:endCxn xmlns:a="http://schemas.openxmlformats.org/drawingml/2006/main" id="7" idx="1"/>
          </p:cNvCxnSpPr>
          <p:nvPr/>
        </p:nvCxnSpPr>
        <p:spPr>
          <a:xfrm xmlns:a="http://schemas.openxmlformats.org/drawingml/2006/main">
            <a:off x="5962650"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9" name=""/>
          <p:cNvCxnSpPr>
            <a:stCxn xmlns:a="http://schemas.openxmlformats.org/drawingml/2006/main" id="5" idx="3"/>
            <a:endCxn xmlns:a="http://schemas.openxmlformats.org/drawingml/2006/main" id="6" idx="1"/>
          </p:cNvCxnSpPr>
          <p:nvPr/>
        </p:nvCxnSpPr>
        <p:spPr>
          <a:xfrm xmlns:a="http://schemas.openxmlformats.org/drawingml/2006/main">
            <a:off x="3152775"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sp>
        <p:nvSpPr>
          <p:cNvPr id="20" name="">
            <a:extLst xmlns:a="http://schemas.openxmlformats.org/drawingml/2006/main">
              <a:ext uri="{FF2B5EF4-FFF2-40B4-BE49-F238E27FC236}">
                <a16:creationId xmlns:a16="http://schemas.microsoft.com/office/drawing/2014/main" id="{D195A4E6-3682-4A1D-B626-278C467DF856}"/>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 · Alur keseluruhan</a:t>
            </a:r>
          </a:p>
        </p:txBody>
      </p:sp>
      <p:sp>
        <p:nvSpPr>
          <p:cNvPr id="2" name="">
            <a:extLst xmlns:a="http://schemas.openxmlformats.org/drawingml/2006/main">
              <a:ext uri="{FF2B5EF4-FFF2-40B4-BE49-F238E27FC236}">
                <a16:creationId xmlns:a16="http://schemas.microsoft.com/office/drawing/2014/main" id="{9A54CAC2-AC23-4B48-B963-E27BC025DC60}"/>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Dua jalur pembayaran, satu pencatatan</a:t>
            </a:r>
          </a:p>
        </p:txBody>
      </p:sp>
      <p:sp>
        <p:nvSpPr>
          <p:cNvPr id="3" name="">
            <a:extLst xmlns:a="http://schemas.openxmlformats.org/drawingml/2006/main">
              <a:ext uri="{FF2B5EF4-FFF2-40B4-BE49-F238E27FC236}">
                <a16:creationId xmlns:a16="http://schemas.microsoft.com/office/drawing/2014/main" id="{70DB54B0-47DA-44FA-9749-DB31FA687907}"/>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C4F605F1-88CE-4CA8-A6F5-A4158525E76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88AB559F-B685-4C43-B582-2618B7B0C523}"/>
              </a:ext>
            </a:extLst>
          </p:cNvPr>
          <p:cNvSpPr>
            <a:spLocks xmlns:a="http://schemas.openxmlformats.org/drawingml/2006/main" noGrp="1"/>
          </p:cNvSpPr>
          <p:nvPr/>
        </p:nvSpPr>
        <p:spPr>
          <a:xfrm xmlns:a="http://schemas.openxmlformats.org/drawingml/2006/main">
            <a:off x="609600"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Online melalui portal</a:t>
            </a:r>
          </a:p>
        </p:txBody>
      </p:sp>
      <p:sp>
        <p:nvSpPr>
          <p:cNvPr id="6" name="">
            <a:extLst xmlns:a="http://schemas.openxmlformats.org/drawingml/2006/main">
              <a:ext uri="{FF2B5EF4-FFF2-40B4-BE49-F238E27FC236}">
                <a16:creationId xmlns:a16="http://schemas.microsoft.com/office/drawing/2014/main" id="{CCBDFC45-4569-4D38-9049-72E93E31EAAA}"/>
              </a:ext>
            </a:extLst>
          </p:cNvPr>
          <p:cNvSpPr>
            <a:spLocks xmlns:a="http://schemas.openxmlformats.org/drawingml/2006/main" noGrp="1"/>
          </p:cNvSpPr>
          <p:nvPr/>
        </p:nvSpPr>
        <p:spPr>
          <a:xfrm xmlns:a="http://schemas.openxmlformats.org/drawingml/2006/main">
            <a:off x="3419475"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Verifikasi pembayaran</a:t>
            </a:r>
          </a:p>
        </p:txBody>
      </p:sp>
      <p:sp>
        <p:nvSpPr>
          <p:cNvPr id="7" name="">
            <a:extLst xmlns:a="http://schemas.openxmlformats.org/drawingml/2006/main">
              <a:ext uri="{FF2B5EF4-FFF2-40B4-BE49-F238E27FC236}">
                <a16:creationId xmlns:a16="http://schemas.microsoft.com/office/drawing/2014/main" id="{3BA6713F-5974-4C94-88AF-9D2CD26D7CC2}"/>
              </a:ext>
            </a:extLst>
          </p:cNvPr>
          <p:cNvSpPr>
            <a:spLocks xmlns:a="http://schemas.openxmlformats.org/drawingml/2006/main" noGrp="1"/>
          </p:cNvSpPr>
          <p:nvPr/>
        </p:nvSpPr>
        <p:spPr>
          <a:xfrm xmlns:a="http://schemas.openxmlformats.org/drawingml/2006/main">
            <a:off x="6229350"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Alokasi per item</a:t>
            </a:r>
          </a:p>
        </p:txBody>
      </p:sp>
      <p:sp>
        <p:nvSpPr>
          <p:cNvPr id="8" name="">
            <a:extLst xmlns:a="http://schemas.openxmlformats.org/drawingml/2006/main">
              <a:ext uri="{FF2B5EF4-FFF2-40B4-BE49-F238E27FC236}">
                <a16:creationId xmlns:a16="http://schemas.microsoft.com/office/drawing/2014/main" id="{44B4043F-C65D-4F63-85F2-B4C51B854B87}"/>
              </a:ext>
            </a:extLst>
          </p:cNvPr>
          <p:cNvSpPr>
            <a:spLocks xmlns:a="http://schemas.openxmlformats.org/drawingml/2006/main" noGrp="1"/>
          </p:cNvSpPr>
          <p:nvPr/>
        </p:nvSpPr>
        <p:spPr>
          <a:xfrm xmlns:a="http://schemas.openxmlformats.org/drawingml/2006/main">
            <a:off x="9039225"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Status &amp; riwayat</a:t>
            </a:r>
          </a:p>
        </p:txBody>
      </p:sp>
      <p:sp>
        <p:nvSpPr>
          <p:cNvPr id="12" name="">
            <a:extLst xmlns:a="http://schemas.openxmlformats.org/drawingml/2006/main">
              <a:ext uri="{FF2B5EF4-FFF2-40B4-BE49-F238E27FC236}">
                <a16:creationId xmlns:a16="http://schemas.microsoft.com/office/drawing/2014/main" id="{E2ECE575-857A-4A2E-B735-69C3FAF53276}"/>
              </a:ext>
            </a:extLst>
          </p:cNvPr>
          <p:cNvSpPr>
            <a:spLocks xmlns:a="http://schemas.openxmlformats.org/drawingml/2006/main" noGrp="1"/>
          </p:cNvSpPr>
          <p:nvPr/>
        </p:nvSpPr>
        <p:spPr>
          <a:xfrm xmlns:a="http://schemas.openxmlformats.org/drawingml/2006/main">
            <a:off x="609600"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Orang tua memilih item dan membayar melalui kanal Duitku yang aktif.</a:t>
            </a:r>
          </a:p>
        </p:txBody>
      </p:sp>
      <p:sp>
        <p:nvSpPr>
          <p:cNvPr id="13" name="">
            <a:extLst xmlns:a="http://schemas.openxmlformats.org/drawingml/2006/main">
              <a:ext uri="{FF2B5EF4-FFF2-40B4-BE49-F238E27FC236}">
                <a16:creationId xmlns:a16="http://schemas.microsoft.com/office/drawing/2014/main" id="{5F6808AE-DB6C-4E7F-8AE9-758BA4BD0028}"/>
              </a:ext>
            </a:extLst>
          </p:cNvPr>
          <p:cNvSpPr>
            <a:spLocks xmlns:a="http://schemas.openxmlformats.org/drawingml/2006/main" noGrp="1"/>
          </p:cNvSpPr>
          <p:nvPr/>
        </p:nvSpPr>
        <p:spPr>
          <a:xfrm xmlns:a="http://schemas.openxmlformats.org/drawingml/2006/main">
            <a:off x="3419475"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Sistem memeriksa pemberitahuan resmi dari Duitku.</a:t>
            </a:r>
          </a:p>
        </p:txBody>
      </p:sp>
      <p:sp>
        <p:nvSpPr>
          <p:cNvPr id="14" name="">
            <a:extLst xmlns:a="http://schemas.openxmlformats.org/drawingml/2006/main">
              <a:ext uri="{FF2B5EF4-FFF2-40B4-BE49-F238E27FC236}">
                <a16:creationId xmlns:a16="http://schemas.microsoft.com/office/drawing/2014/main" id="{4A8D776F-EFD7-418C-9761-AFC9D9C571F1}"/>
              </a:ext>
            </a:extLst>
          </p:cNvPr>
          <p:cNvSpPr>
            <a:spLocks xmlns:a="http://schemas.openxmlformats.org/drawingml/2006/main" noGrp="1"/>
          </p:cNvSpPr>
          <p:nvPr/>
        </p:nvSpPr>
        <p:spPr>
          <a:xfrm xmlns:a="http://schemas.openxmlformats.org/drawingml/2006/main">
            <a:off x="6229350"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Setiap rupiah ditautkan ke tagihan atau top-up uang jajan.</a:t>
            </a:r>
          </a:p>
        </p:txBody>
      </p:sp>
      <p:sp>
        <p:nvSpPr>
          <p:cNvPr id="15" name="">
            <a:extLst xmlns:a="http://schemas.openxmlformats.org/drawingml/2006/main">
              <a:ext uri="{FF2B5EF4-FFF2-40B4-BE49-F238E27FC236}">
                <a16:creationId xmlns:a16="http://schemas.microsoft.com/office/drawing/2014/main" id="{5FAE8E19-E1E4-4673-BA5D-7353E16F7085}"/>
              </a:ext>
            </a:extLst>
          </p:cNvPr>
          <p:cNvSpPr>
            <a:spLocks xmlns:a="http://schemas.openxmlformats.org/drawingml/2006/main" noGrp="1"/>
          </p:cNvSpPr>
          <p:nvPr/>
        </p:nvSpPr>
        <p:spPr>
          <a:xfrm xmlns:a="http://schemas.openxmlformats.org/drawingml/2006/main">
            <a:off x="9039225"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Orang tua dan petugas melihat hasil dari catatan yang sama.</a:t>
            </a:r>
          </a:p>
        </p:txBody>
      </p:sp>
      <p:sp>
        <p:nvSpPr>
          <p:cNvPr id="16" name="">
            <a:extLst xmlns:a="http://schemas.openxmlformats.org/drawingml/2006/main">
              <a:ext uri="{FF2B5EF4-FFF2-40B4-BE49-F238E27FC236}">
                <a16:creationId xmlns:a16="http://schemas.microsoft.com/office/drawing/2014/main" id="{C04D22F5-AAF1-48D7-AFB0-A4BFC8F661F0}"/>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Jalur tunai menggunakan pencatatan petugas dan sesi kas, lalu mengikuti alokasi yang sama.</a:t>
            </a:r>
          </a:p>
        </p:txBody>
      </p:sp>
    </p:spTree>
    <p:extLst>
      <p:ext uri="{BB962C8B-B14F-4D97-AF65-F5344CB8AC3E}">
        <p14:creationId xmlns:p14="http://schemas.microsoft.com/office/powerpoint/2010/main" val="1793362070"/>
      </p:ext>
    </p:extLst>
  </p:cSld>
</p:sld>
</file>

<file path=ppt/slides/slide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17" name=""/>
          <p:cNvCxnSpPr>
            <a:stCxn xmlns:a="http://schemas.openxmlformats.org/drawingml/2006/main" id="8" idx="2"/>
            <a:endCxn xmlns:a="http://schemas.openxmlformats.org/drawingml/2006/main" id="13" idx="3"/>
          </p:cNvCxnSpPr>
          <p:nvPr/>
        </p:nvCxnSpPr>
        <p:spPr>
          <a:xfrm xmlns:a="http://schemas.openxmlformats.org/drawingml/2006/main" flipH="1">
            <a:off x="7829550" y="3038475"/>
            <a:ext cx="2209800" cy="1628775"/>
          </a:xfrm>
          <a:prstGeom xmlns:a="http://schemas.openxmlformats.org/drawingml/2006/main" prst="bentConnector5">
            <a:avLst>
              <a:gd name="adj1" fmla="val 0"/>
              <a:gd name="adj2" fmla="val 14035"/>
              <a:gd name="adj3" fmla="val 89655"/>
            </a:avLst>
          </a:prstGeom>
          <a:ln xmlns:a="http://schemas.openxmlformats.org/drawingml/2006/main" w="23813">
            <a:solidFill>
              <a:srgbClr val="B6863A"/>
            </a:solidFill>
            <a:tailEnd type="arrow" w="med" len="med"/>
          </a:ln>
        </p:spPr>
      </p:cxnSp>
      <p:cxnSp>
        <p:nvCxnSpPr>
          <p:cNvPr id="18" name=""/>
          <p:cNvCxnSpPr>
            <a:stCxn xmlns:a="http://schemas.openxmlformats.org/drawingml/2006/main" id="8" idx="2"/>
            <a:endCxn xmlns:a="http://schemas.openxmlformats.org/drawingml/2006/main" id="12" idx="0"/>
          </p:cNvCxnSpPr>
          <p:nvPr/>
        </p:nvCxnSpPr>
        <p:spPr>
          <a:xfrm xmlns:a="http://schemas.openxmlformats.org/drawingml/2006/main">
            <a:off x="10039350" y="3038475"/>
            <a:ext cx="0" cy="110490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9" name=""/>
          <p:cNvCxnSpPr>
            <a:stCxn xmlns:a="http://schemas.openxmlformats.org/drawingml/2006/main" id="7" idx="3"/>
            <a:endCxn xmlns:a="http://schemas.openxmlformats.org/drawingml/2006/main" id="8" idx="1"/>
          </p:cNvCxnSpPr>
          <p:nvPr/>
        </p:nvCxnSpPr>
        <p:spPr>
          <a:xfrm xmlns:a="http://schemas.openxmlformats.org/drawingml/2006/main">
            <a:off x="8058150" y="2543175"/>
            <a:ext cx="43815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20" name=""/>
          <p:cNvCxnSpPr>
            <a:stCxn xmlns:a="http://schemas.openxmlformats.org/drawingml/2006/main" id="6" idx="3"/>
            <a:endCxn xmlns:a="http://schemas.openxmlformats.org/drawingml/2006/main" id="7" idx="1"/>
          </p:cNvCxnSpPr>
          <p:nvPr/>
        </p:nvCxnSpPr>
        <p:spPr>
          <a:xfrm xmlns:a="http://schemas.openxmlformats.org/drawingml/2006/main">
            <a:off x="5429250" y="2543175"/>
            <a:ext cx="43815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2800350" y="2543175"/>
            <a:ext cx="438150" cy="0"/>
          </a:xfrm>
          <a:prstGeom xmlns:a="http://schemas.openxmlformats.org/drawingml/2006/main" prst="straightConnector1">
            <a:avLst/>
          </a:prstGeom>
          <a:ln xmlns:a="http://schemas.openxmlformats.org/drawingml/2006/main" w="23813">
            <a:solidFill>
              <a:srgbClr val="176B55"/>
            </a:solidFill>
            <a:tailEnd type="arrow" w="med" len="med"/>
          </a:ln>
        </p:spPr>
      </p:cxnSp>
      <p:sp>
        <p:nvSpPr>
          <p:cNvPr id="22" name="">
            <a:extLst xmlns:a="http://schemas.openxmlformats.org/drawingml/2006/main">
              <a:ext uri="{FF2B5EF4-FFF2-40B4-BE49-F238E27FC236}">
                <a16:creationId xmlns:a16="http://schemas.microsoft.com/office/drawing/2014/main" id="{8DC3E8D2-FC97-417A-AB2C-334D50B38C63}"/>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 · Alur keseluruhan</a:t>
            </a:r>
          </a:p>
        </p:txBody>
      </p:sp>
      <p:sp>
        <p:nvSpPr>
          <p:cNvPr id="2" name="">
            <a:extLst xmlns:a="http://schemas.openxmlformats.org/drawingml/2006/main">
              <a:ext uri="{FF2B5EF4-FFF2-40B4-BE49-F238E27FC236}">
                <a16:creationId xmlns:a16="http://schemas.microsoft.com/office/drawing/2014/main" id="{E94F698A-E7AF-47FD-94F3-5B341DB64B8E}"/>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Alur pembayaran online</a:t>
            </a:r>
          </a:p>
        </p:txBody>
      </p:sp>
      <p:sp>
        <p:nvSpPr>
          <p:cNvPr id="3" name="">
            <a:extLst xmlns:a="http://schemas.openxmlformats.org/drawingml/2006/main">
              <a:ext uri="{FF2B5EF4-FFF2-40B4-BE49-F238E27FC236}">
                <a16:creationId xmlns:a16="http://schemas.microsoft.com/office/drawing/2014/main" id="{6B85202C-6854-4DE8-9A15-2A26BC49988E}"/>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F485DB19-8E89-4719-B05F-337307986B80}"/>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683A52E8-662C-48D4-91A9-14FAB215C8B1}"/>
              </a:ext>
            </a:extLst>
          </p:cNvPr>
          <p:cNvSpPr>
            <a:spLocks xmlns:a="http://schemas.openxmlformats.org/drawingml/2006/main" noGrp="1"/>
          </p:cNvSpPr>
          <p:nvPr/>
        </p:nvSpPr>
        <p:spPr>
          <a:xfrm xmlns:a="http://schemas.openxmlformats.org/drawingml/2006/main">
            <a:off x="609600" y="2047875"/>
            <a:ext cx="2190750" cy="990600"/>
          </a:xfrm>
          <a:prstGeom xmlns:a="http://schemas.openxmlformats.org/drawingml/2006/main" prst="roundRect">
            <a:avLst>
              <a:gd name="adj" fmla="val 7692"/>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Pilih item</a:t>
            </a:r>
          </a:p>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dan periode</a:t>
            </a:r>
          </a:p>
        </p:txBody>
      </p:sp>
      <p:sp>
        <p:nvSpPr>
          <p:cNvPr id="6" name="">
            <a:extLst xmlns:a="http://schemas.openxmlformats.org/drawingml/2006/main">
              <a:ext uri="{FF2B5EF4-FFF2-40B4-BE49-F238E27FC236}">
                <a16:creationId xmlns:a16="http://schemas.microsoft.com/office/drawing/2014/main" id="{B5801346-F075-4998-BB92-392943CCBEF4}"/>
              </a:ext>
            </a:extLst>
          </p:cNvPr>
          <p:cNvSpPr>
            <a:spLocks xmlns:a="http://schemas.openxmlformats.org/drawingml/2006/main" noGrp="1"/>
          </p:cNvSpPr>
          <p:nvPr/>
        </p:nvSpPr>
        <p:spPr>
          <a:xfrm xmlns:a="http://schemas.openxmlformats.org/drawingml/2006/main">
            <a:off x="3238500" y="2047875"/>
            <a:ext cx="2190750" cy="990600"/>
          </a:xfrm>
          <a:prstGeom xmlns:a="http://schemas.openxmlformats.org/drawingml/2006/main" prst="roundRect">
            <a:avLst>
              <a:gd name="adj" fmla="val 7692"/>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Buat pesanan</a:t>
            </a:r>
          </a:p>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dan bayar</a:t>
            </a:r>
          </a:p>
        </p:txBody>
      </p:sp>
      <p:sp>
        <p:nvSpPr>
          <p:cNvPr id="7" name="">
            <a:extLst xmlns:a="http://schemas.openxmlformats.org/drawingml/2006/main">
              <a:ext uri="{FF2B5EF4-FFF2-40B4-BE49-F238E27FC236}">
                <a16:creationId xmlns:a16="http://schemas.microsoft.com/office/drawing/2014/main" id="{C7487CD5-5875-4202-95C6-912D5B5F16B9}"/>
              </a:ext>
            </a:extLst>
          </p:cNvPr>
          <p:cNvSpPr>
            <a:spLocks xmlns:a="http://schemas.openxmlformats.org/drawingml/2006/main" noGrp="1"/>
          </p:cNvSpPr>
          <p:nvPr/>
        </p:nvSpPr>
        <p:spPr>
          <a:xfrm xmlns:a="http://schemas.openxmlformats.org/drawingml/2006/main">
            <a:off x="5867400" y="2047875"/>
            <a:ext cx="2190750" cy="990600"/>
          </a:xfrm>
          <a:prstGeom xmlns:a="http://schemas.openxmlformats.org/drawingml/2006/main" prst="roundRect">
            <a:avLst>
              <a:gd name="adj" fmla="val 7692"/>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Verifikasi</a:t>
            </a:r>
          </a:p>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Duitku</a:t>
            </a:r>
          </a:p>
        </p:txBody>
      </p:sp>
      <p:sp>
        <p:nvSpPr>
          <p:cNvPr id="8" name="">
            <a:extLst xmlns:a="http://schemas.openxmlformats.org/drawingml/2006/main">
              <a:ext uri="{FF2B5EF4-FFF2-40B4-BE49-F238E27FC236}">
                <a16:creationId xmlns:a16="http://schemas.microsoft.com/office/drawing/2014/main" id="{82A8B4E1-AB90-4E7B-B4EE-8063B6CA631F}"/>
              </a:ext>
            </a:extLst>
          </p:cNvPr>
          <p:cNvSpPr>
            <a:spLocks xmlns:a="http://schemas.openxmlformats.org/drawingml/2006/main" noGrp="1"/>
          </p:cNvSpPr>
          <p:nvPr/>
        </p:nvSpPr>
        <p:spPr>
          <a:xfrm xmlns:a="http://schemas.openxmlformats.org/drawingml/2006/main">
            <a:off x="8496300" y="2047875"/>
            <a:ext cx="3086100" cy="990600"/>
          </a:xfrm>
          <a:prstGeom xmlns:a="http://schemas.openxmlformats.org/drawingml/2006/main" prst="roundRect">
            <a:avLst>
              <a:gd name="adj" fmla="val 7692"/>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Identitas &amp;</a:t>
            </a:r>
          </a:p>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nominal cocok?</a:t>
            </a:r>
          </a:p>
        </p:txBody>
      </p:sp>
      <p:sp>
        <p:nvSpPr>
          <p:cNvPr id="12" name="">
            <a:extLst xmlns:a="http://schemas.openxmlformats.org/drawingml/2006/main">
              <a:ext uri="{FF2B5EF4-FFF2-40B4-BE49-F238E27FC236}">
                <a16:creationId xmlns:a16="http://schemas.microsoft.com/office/drawing/2014/main" id="{DFFC516A-F430-4A7E-AA5C-CEF2AA9F29B0}"/>
              </a:ext>
            </a:extLst>
          </p:cNvPr>
          <p:cNvSpPr>
            <a:spLocks xmlns:a="http://schemas.openxmlformats.org/drawingml/2006/main" noGrp="1"/>
          </p:cNvSpPr>
          <p:nvPr/>
        </p:nvSpPr>
        <p:spPr>
          <a:xfrm xmlns:a="http://schemas.openxmlformats.org/drawingml/2006/main">
            <a:off x="8496300" y="4143375"/>
            <a:ext cx="3086100" cy="1047750"/>
          </a:xfrm>
          <a:prstGeom xmlns:a="http://schemas.openxmlformats.org/drawingml/2006/main" prst="roundRect">
            <a:avLst>
              <a:gd name="adj" fmla="val 7273"/>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Ya: catat pembayaran</a:t>
            </a:r>
          </a:p>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dan alokasi</a:t>
            </a:r>
          </a:p>
        </p:txBody>
      </p:sp>
      <p:sp>
        <p:nvSpPr>
          <p:cNvPr id="13" name="">
            <a:extLst xmlns:a="http://schemas.openxmlformats.org/drawingml/2006/main">
              <a:ext uri="{FF2B5EF4-FFF2-40B4-BE49-F238E27FC236}">
                <a16:creationId xmlns:a16="http://schemas.microsoft.com/office/drawing/2014/main" id="{F2AD922F-B528-4803-A5A2-F12E1A848FCA}"/>
              </a:ext>
            </a:extLst>
          </p:cNvPr>
          <p:cNvSpPr>
            <a:spLocks xmlns:a="http://schemas.openxmlformats.org/drawingml/2006/main" noGrp="1"/>
          </p:cNvSpPr>
          <p:nvPr/>
        </p:nvSpPr>
        <p:spPr>
          <a:xfrm xmlns:a="http://schemas.openxmlformats.org/drawingml/2006/main">
            <a:off x="4572000" y="4143375"/>
            <a:ext cx="3257550" cy="1047750"/>
          </a:xfrm>
          <a:prstGeom xmlns:a="http://schemas.openxmlformats.org/drawingml/2006/main" prst="roundRect">
            <a:avLst>
              <a:gd name="adj" fmla="val 7273"/>
            </a:avLst>
          </a:prstGeom>
          <a:solidFill xmlns:a="http://schemas.openxmlformats.org/drawingml/2006/main">
            <a:srgbClr val="FBF1DE"/>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Tidak jelas: pemeriksaan</a:t>
            </a:r>
          </a:p>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di Rekonsiliasi</a:t>
            </a:r>
          </a:p>
        </p:txBody>
      </p:sp>
      <p:sp>
        <p:nvSpPr>
          <p:cNvPr id="16" name="">
            <a:extLst xmlns:a="http://schemas.openxmlformats.org/drawingml/2006/main">
              <a:ext uri="{FF2B5EF4-FFF2-40B4-BE49-F238E27FC236}">
                <a16:creationId xmlns:a16="http://schemas.microsoft.com/office/drawing/2014/main" id="{1B68778D-9E30-4D34-A00E-DB53AFF87A0F}"/>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Pesanan yang masih menunggu, gagal, atau kedaluwarsa belum membuktikan pembayaran berhasil.</a:t>
            </a:r>
          </a:p>
        </p:txBody>
      </p:sp>
    </p:spTree>
    <p:extLst>
      <p:ext uri="{BB962C8B-B14F-4D97-AF65-F5344CB8AC3E}">
        <p14:creationId xmlns:p14="http://schemas.microsoft.com/office/powerpoint/2010/main" val="1391711336"/>
      </p:ext>
    </p:extLst>
  </p:cSld>
</p:sld>
</file>

<file path=ppt/slides/slide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F65C71-995D-48F8-B70E-64CBA7602E3B}"/>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 · Alur keseluruhan</a:t>
            </a:r>
          </a:p>
        </p:txBody>
      </p:sp>
      <p:sp>
        <p:nvSpPr>
          <p:cNvPr id="2" name="">
            <a:extLst xmlns:a="http://schemas.openxmlformats.org/drawingml/2006/main">
              <a:ext uri="{FF2B5EF4-FFF2-40B4-BE49-F238E27FC236}">
                <a16:creationId xmlns:a16="http://schemas.microsoft.com/office/drawing/2014/main" id="{88979B1D-9C3C-4C99-9920-4B74084D5894}"/>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Contoh satu pembayaran untuk beberapa item</a:t>
            </a:r>
          </a:p>
        </p:txBody>
      </p:sp>
      <p:sp>
        <p:nvSpPr>
          <p:cNvPr id="3" name="">
            <a:extLst xmlns:a="http://schemas.openxmlformats.org/drawingml/2006/main">
              <a:ext uri="{FF2B5EF4-FFF2-40B4-BE49-F238E27FC236}">
                <a16:creationId xmlns:a16="http://schemas.microsoft.com/office/drawing/2014/main" id="{DB284C4B-C095-4633-AA0A-2656E5C2E741}"/>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0B27DF17-480A-4A27-A550-66A22A34D174}"/>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08</a:t>
            </a:r>
          </a:p>
        </p:txBody>
      </p:sp>
      <p:graphicFrame>
        <p:nvGraphicFramePr>
          <p:cNvPr id="11" name=""/>
          <p:cNvGraphicFramePr/>
          <p:nvPr/>
        </p:nvGraphicFramePr>
        <p:xfrm>
          <a:off xmlns:a="http://schemas.openxmlformats.org/drawingml/2006/main" x="609600" y="1666875"/>
          <a:ext xmlns:a="http://schemas.openxmlformats.org/drawingml/2006/main" cx="10972800" cy="3238500"/>
        </p:xfrm>
        <a:graphic xmlns:a="http://schemas.openxmlformats.org/drawingml/2006/main">
          <a:graphicData uri="http://schemas.openxmlformats.org/drawingml/2006/table">
            <a:tbl>
              <a:tblPr/>
              <a:tblGrid>
                <a:gridCol w="4333875"/>
                <a:gridCol w="2190750"/>
                <a:gridCol w="4448175"/>
              </a:tblGrid>
              <a:tr h="428625">
                <a:tc>
                  <a:txBody>
                    <a:bodyPr/>
                    <a:lstStyle/>
                    <a:p>
                      <a:r>
                        <a:rPr sz="1725" b="1">
                          <a:solidFill>
                            <a:srgbClr val="FFFFFF"/>
                          </a:solidFill>
                          <a:latin typeface="Arial"/>
                          <a:ea typeface="Arial"/>
                          <a:cs typeface="Arial"/>
                        </a:rPr>
                        <a:t>Pilihan orang tua</a:t>
                      </a:r>
                    </a:p>
                  </a:txBody>
                  <a:tcPr marL="85725" marR="85725" marT="19050" marB="19050">
                    <a:solidFill>
                      <a:srgbClr val="176B55"/>
                    </a:solidFill>
                  </a:tcPr>
                </a:tc>
                <a:tc>
                  <a:txBody>
                    <a:bodyPr/>
                    <a:lstStyle/>
                    <a:p>
                      <a:r>
                        <a:rPr sz="1725" b="1">
                          <a:solidFill>
                            <a:srgbClr val="FFFFFF"/>
                          </a:solidFill>
                          <a:latin typeface="Arial"/>
                          <a:ea typeface="Arial"/>
                          <a:cs typeface="Arial"/>
                        </a:rPr>
                        <a:t>Nominal contoh</a:t>
                      </a:r>
                    </a:p>
                  </a:txBody>
                  <a:tcPr marL="85725" marR="85725" marT="19050" marB="19050">
                    <a:solidFill>
                      <a:srgbClr val="176B55"/>
                    </a:solidFill>
                  </a:tcPr>
                </a:tc>
                <a:tc>
                  <a:txBody>
                    <a:bodyPr/>
                    <a:lstStyle/>
                    <a:p>
                      <a:r>
                        <a:rPr sz="1725" b="1">
                          <a:solidFill>
                            <a:srgbClr val="FFFFFF"/>
                          </a:solidFill>
                          <a:latin typeface="Arial"/>
                          <a:ea typeface="Arial"/>
                          <a:cs typeface="Arial"/>
                        </a:rPr>
                        <a:t>Hasil pencatatan</a:t>
                      </a:r>
                    </a:p>
                  </a:txBody>
                  <a:tcPr marL="85725" marR="85725" marT="19050" marB="19050">
                    <a:solidFill>
                      <a:srgbClr val="176B55"/>
                    </a:solidFill>
                  </a:tcPr>
                </a:tc>
              </a:tr>
              <a:tr h="702469">
                <a:tc>
                  <a:txBody>
                    <a:bodyPr/>
                    <a:lstStyle/>
                    <a:p>
                      <a:r>
                        <a:rPr sz="1725" b="0">
                          <a:solidFill>
                            <a:srgbClr val="293C37"/>
                          </a:solidFill>
                          <a:latin typeface="Arial"/>
                          <a:ea typeface="Arial"/>
                          <a:cs typeface="Arial"/>
                        </a:rPr>
                        <a:t>SPP September</a:t>
                      </a:r>
                    </a:p>
                  </a:txBody>
                  <a:tcPr marL="85725" marR="85725" marT="19050" marB="19050">
                    <a:solidFill>
                      <a:srgbClr val="FFFFFF"/>
                    </a:solidFill>
                  </a:tcPr>
                </a:tc>
                <a:tc>
                  <a:txBody>
                    <a:bodyPr/>
                    <a:lstStyle/>
                    <a:p>
                      <a:r>
                        <a:rPr sz="1725" b="0">
                          <a:solidFill>
                            <a:srgbClr val="293C37"/>
                          </a:solidFill>
                          <a:latin typeface="Arial"/>
                          <a:ea typeface="Arial"/>
                          <a:cs typeface="Arial"/>
                        </a:rPr>
                        <a:t>Rp200.000</a:t>
                      </a:r>
                    </a:p>
                  </a:txBody>
                  <a:tcPr marL="85725" marR="85725" marT="19050" marB="19050">
                    <a:solidFill>
                      <a:srgbClr val="FFFFFF"/>
                    </a:solidFill>
                  </a:tcPr>
                </a:tc>
                <a:tc>
                  <a:txBody>
                    <a:bodyPr/>
                    <a:lstStyle/>
                    <a:p>
                      <a:r>
                        <a:rPr sz="1725" b="0">
                          <a:solidFill>
                            <a:srgbClr val="293C37"/>
                          </a:solidFill>
                          <a:latin typeface="Arial"/>
                          <a:ea typeface="Arial"/>
                          <a:cs typeface="Arial"/>
                        </a:rPr>
                        <a:t>Melunasi SPP September</a:t>
                      </a:r>
                    </a:p>
                  </a:txBody>
                  <a:tcPr marL="85725" marR="85725" marT="19050" marB="19050">
                    <a:solidFill>
                      <a:srgbClr val="FFFFFF"/>
                    </a:solidFill>
                  </a:tcPr>
                </a:tc>
              </a:tr>
              <a:tr h="702469">
                <a:tc>
                  <a:txBody>
                    <a:bodyPr/>
                    <a:lstStyle/>
                    <a:p>
                      <a:r>
                        <a:rPr sz="1725" b="0">
                          <a:solidFill>
                            <a:srgbClr val="293C37"/>
                          </a:solidFill>
                          <a:latin typeface="Arial"/>
                          <a:ea typeface="Arial"/>
                          <a:cs typeface="Arial"/>
                        </a:rPr>
                        <a:t>Uang Makan September</a:t>
                      </a:r>
                    </a:p>
                  </a:txBody>
                  <a:tcPr marL="85725" marR="85725" marT="19050" marB="19050">
                    <a:solidFill>
                      <a:srgbClr val="E8F1EB"/>
                    </a:solidFill>
                  </a:tcPr>
                </a:tc>
                <a:tc>
                  <a:txBody>
                    <a:bodyPr/>
                    <a:lstStyle/>
                    <a:p>
                      <a:r>
                        <a:rPr sz="1725" b="0">
                          <a:solidFill>
                            <a:srgbClr val="293C37"/>
                          </a:solidFill>
                          <a:latin typeface="Arial"/>
                          <a:ea typeface="Arial"/>
                          <a:cs typeface="Arial"/>
                        </a:rPr>
                        <a:t>Rp400.000</a:t>
                      </a:r>
                    </a:p>
                  </a:txBody>
                  <a:tcPr marL="85725" marR="85725" marT="19050" marB="19050">
                    <a:solidFill>
                      <a:srgbClr val="E8F1EB"/>
                    </a:solidFill>
                  </a:tcPr>
                </a:tc>
                <a:tc>
                  <a:txBody>
                    <a:bodyPr/>
                    <a:lstStyle/>
                    <a:p>
                      <a:r>
                        <a:rPr sz="1725" b="0">
                          <a:solidFill>
                            <a:srgbClr val="293C37"/>
                          </a:solidFill>
                          <a:latin typeface="Arial"/>
                          <a:ea typeface="Arial"/>
                          <a:cs typeface="Arial"/>
                        </a:rPr>
                        <a:t>Mencatat hak penyedia katering periode itu</a:t>
                      </a:r>
                    </a:p>
                  </a:txBody>
                  <a:tcPr marL="85725" marR="85725" marT="19050" marB="19050">
                    <a:solidFill>
                      <a:srgbClr val="E8F1EB"/>
                    </a:solidFill>
                  </a:tcPr>
                </a:tc>
              </a:tr>
              <a:tr h="702469">
                <a:tc>
                  <a:txBody>
                    <a:bodyPr/>
                    <a:lstStyle/>
                    <a:p>
                      <a:r>
                        <a:rPr sz="1725" b="0">
                          <a:solidFill>
                            <a:srgbClr val="293C37"/>
                          </a:solidFill>
                          <a:latin typeface="Arial"/>
                          <a:ea typeface="Arial"/>
                          <a:cs typeface="Arial"/>
                        </a:rPr>
                        <a:t>Cicilan USPP</a:t>
                      </a:r>
                    </a:p>
                  </a:txBody>
                  <a:tcPr marL="85725" marR="85725" marT="19050" marB="19050">
                    <a:solidFill>
                      <a:srgbClr val="FFFFFF"/>
                    </a:solidFill>
                  </a:tcPr>
                </a:tc>
                <a:tc>
                  <a:txBody>
                    <a:bodyPr/>
                    <a:lstStyle/>
                    <a:p>
                      <a:r>
                        <a:rPr sz="1725" b="0">
                          <a:solidFill>
                            <a:srgbClr val="293C37"/>
                          </a:solidFill>
                          <a:latin typeface="Arial"/>
                          <a:ea typeface="Arial"/>
                          <a:cs typeface="Arial"/>
                        </a:rPr>
                        <a:t>Rp300.000</a:t>
                      </a:r>
                    </a:p>
                  </a:txBody>
                  <a:tcPr marL="85725" marR="85725" marT="19050" marB="19050">
                    <a:solidFill>
                      <a:srgbClr val="FFFFFF"/>
                    </a:solidFill>
                  </a:tcPr>
                </a:tc>
                <a:tc>
                  <a:txBody>
                    <a:bodyPr/>
                    <a:lstStyle/>
                    <a:p>
                      <a:r>
                        <a:rPr sz="1725" b="0">
                          <a:solidFill>
                            <a:srgbClr val="293C37"/>
                          </a:solidFill>
                          <a:latin typeface="Arial"/>
                          <a:ea typeface="Arial"/>
                          <a:cs typeface="Arial"/>
                        </a:rPr>
                        <a:t>Mengurangi sisa kewajiban USPP</a:t>
                      </a:r>
                    </a:p>
                  </a:txBody>
                  <a:tcPr marL="85725" marR="85725" marT="19050" marB="19050">
                    <a:solidFill>
                      <a:srgbClr val="FFFFFF"/>
                    </a:solidFill>
                  </a:tcPr>
                </a:tc>
              </a:tr>
              <a:tr h="702469">
                <a:tc>
                  <a:txBody>
                    <a:bodyPr/>
                    <a:lstStyle/>
                    <a:p>
                      <a:r>
                        <a:rPr sz="1725" b="0">
                          <a:solidFill>
                            <a:srgbClr val="293C37"/>
                          </a:solidFill>
                          <a:latin typeface="Arial"/>
                          <a:ea typeface="Arial"/>
                          <a:cs typeface="Arial"/>
                        </a:rPr>
                        <a:t>Jumlah pembayaran</a:t>
                      </a:r>
                    </a:p>
                  </a:txBody>
                  <a:tcPr marL="85725" marR="85725" marT="19050" marB="19050">
                    <a:solidFill>
                      <a:srgbClr val="E8F1EB"/>
                    </a:solidFill>
                  </a:tcPr>
                </a:tc>
                <a:tc>
                  <a:txBody>
                    <a:bodyPr/>
                    <a:lstStyle/>
                    <a:p>
                      <a:r>
                        <a:rPr sz="1725" b="0">
                          <a:solidFill>
                            <a:srgbClr val="293C37"/>
                          </a:solidFill>
                          <a:latin typeface="Arial"/>
                          <a:ea typeface="Arial"/>
                          <a:cs typeface="Arial"/>
                        </a:rPr>
                        <a:t>Rp900.000</a:t>
                      </a:r>
                    </a:p>
                  </a:txBody>
                  <a:tcPr marL="85725" marR="85725" marT="19050" marB="19050">
                    <a:solidFill>
                      <a:srgbClr val="E8F1EB"/>
                    </a:solidFill>
                  </a:tcPr>
                </a:tc>
                <a:tc>
                  <a:txBody>
                    <a:bodyPr/>
                    <a:lstStyle/>
                    <a:p>
                      <a:r>
                        <a:rPr sz="1725" b="0">
                          <a:solidFill>
                            <a:srgbClr val="293C37"/>
                          </a:solidFill>
                          <a:latin typeface="Arial"/>
                          <a:ea typeface="Arial"/>
                          <a:cs typeface="Arial"/>
                        </a:rPr>
                        <a:t>Satu penerimaan dengan tiga alokasi</a:t>
                      </a:r>
                    </a:p>
                  </a:txBody>
                  <a:tcPr marL="85725" marR="85725" marT="19050" marB="19050">
                    <a:solidFill>
                      <a:srgbClr val="E8F1EB"/>
                    </a:solidFill>
                  </a:tcPr>
                </a:tc>
              </a:tr>
            </a:tbl>
          </a:graphicData>
        </a:graphic>
      </p:graphicFrame>
      <p:sp>
        <p:nvSpPr>
          <p:cNvPr id="6" name="">
            <a:extLst xmlns:a="http://schemas.openxmlformats.org/drawingml/2006/main">
              <a:ext uri="{FF2B5EF4-FFF2-40B4-BE49-F238E27FC236}">
                <a16:creationId xmlns:a16="http://schemas.microsoft.com/office/drawing/2014/main" id="{CA017590-A8F8-4FD9-AC77-C376876354CB}"/>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Biaya layanan, jika ada, ditampilkan terpisah sesuai pengaturan penanggung biaya.</a:t>
            </a:r>
          </a:p>
        </p:txBody>
      </p:sp>
    </p:spTree>
    <p:extLst>
      <p:ext uri="{BB962C8B-B14F-4D97-AF65-F5344CB8AC3E}">
        <p14:creationId xmlns:p14="http://schemas.microsoft.com/office/powerpoint/2010/main" val="1675102134"/>
      </p:ext>
    </p:extLst>
  </p:cSld>
</p:sld>
</file>

<file path=ppt/slides/slide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17" name=""/>
          <p:cNvCxnSpPr>
            <a:stCxn xmlns:a="http://schemas.openxmlformats.org/drawingml/2006/main" id="7" idx="3"/>
            <a:endCxn xmlns:a="http://schemas.openxmlformats.org/drawingml/2006/main" id="8" idx="1"/>
          </p:cNvCxnSpPr>
          <p:nvPr/>
        </p:nvCxnSpPr>
        <p:spPr>
          <a:xfrm xmlns:a="http://schemas.openxmlformats.org/drawingml/2006/main">
            <a:off x="8772525"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8" name=""/>
          <p:cNvCxnSpPr>
            <a:stCxn xmlns:a="http://schemas.openxmlformats.org/drawingml/2006/main" id="6" idx="3"/>
            <a:endCxn xmlns:a="http://schemas.openxmlformats.org/drawingml/2006/main" id="7" idx="1"/>
          </p:cNvCxnSpPr>
          <p:nvPr/>
        </p:nvCxnSpPr>
        <p:spPr>
          <a:xfrm xmlns:a="http://schemas.openxmlformats.org/drawingml/2006/main">
            <a:off x="5962650"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9" name=""/>
          <p:cNvCxnSpPr>
            <a:stCxn xmlns:a="http://schemas.openxmlformats.org/drawingml/2006/main" id="5" idx="3"/>
            <a:endCxn xmlns:a="http://schemas.openxmlformats.org/drawingml/2006/main" id="6" idx="1"/>
          </p:cNvCxnSpPr>
          <p:nvPr/>
        </p:nvCxnSpPr>
        <p:spPr>
          <a:xfrm xmlns:a="http://schemas.openxmlformats.org/drawingml/2006/main">
            <a:off x="3152775"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sp>
        <p:nvSpPr>
          <p:cNvPr id="20" name="">
            <a:extLst xmlns:a="http://schemas.openxmlformats.org/drawingml/2006/main">
              <a:ext uri="{FF2B5EF4-FFF2-40B4-BE49-F238E27FC236}">
                <a16:creationId xmlns:a16="http://schemas.microsoft.com/office/drawing/2014/main" id="{5BC433DE-73FE-47D8-90B1-92719CD79A59}"/>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 · Alur keseluruhan</a:t>
            </a:r>
          </a:p>
        </p:txBody>
      </p:sp>
      <p:sp>
        <p:nvSpPr>
          <p:cNvPr id="2" name="">
            <a:extLst xmlns:a="http://schemas.openxmlformats.org/drawingml/2006/main">
              <a:ext uri="{FF2B5EF4-FFF2-40B4-BE49-F238E27FC236}">
                <a16:creationId xmlns:a16="http://schemas.microsoft.com/office/drawing/2014/main" id="{CF4A99D4-5AC2-4145-A760-A322497603E3}"/>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Alur pembayaran tunai</a:t>
            </a:r>
          </a:p>
        </p:txBody>
      </p:sp>
      <p:sp>
        <p:nvSpPr>
          <p:cNvPr id="3" name="">
            <a:extLst xmlns:a="http://schemas.openxmlformats.org/drawingml/2006/main">
              <a:ext uri="{FF2B5EF4-FFF2-40B4-BE49-F238E27FC236}">
                <a16:creationId xmlns:a16="http://schemas.microsoft.com/office/drawing/2014/main" id="{EE566E15-13E7-48B4-9ED9-3E3A7055A898}"/>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E88E7B19-0E37-477A-9447-4D67A5E4B02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5B59B2DC-027A-4D4C-A28E-785B2B4FEAF2}"/>
              </a:ext>
            </a:extLst>
          </p:cNvPr>
          <p:cNvSpPr>
            <a:spLocks xmlns:a="http://schemas.openxmlformats.org/drawingml/2006/main" noGrp="1"/>
          </p:cNvSpPr>
          <p:nvPr/>
        </p:nvSpPr>
        <p:spPr>
          <a:xfrm xmlns:a="http://schemas.openxmlformats.org/drawingml/2006/main">
            <a:off x="609600"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Buka sesi kas</a:t>
            </a:r>
          </a:p>
        </p:txBody>
      </p:sp>
      <p:sp>
        <p:nvSpPr>
          <p:cNvPr id="6" name="">
            <a:extLst xmlns:a="http://schemas.openxmlformats.org/drawingml/2006/main">
              <a:ext uri="{FF2B5EF4-FFF2-40B4-BE49-F238E27FC236}">
                <a16:creationId xmlns:a16="http://schemas.microsoft.com/office/drawing/2014/main" id="{214B42A8-28D0-48EC-8F47-C53BE40C4F74}"/>
              </a:ext>
            </a:extLst>
          </p:cNvPr>
          <p:cNvSpPr>
            <a:spLocks xmlns:a="http://schemas.openxmlformats.org/drawingml/2006/main" noGrp="1"/>
          </p:cNvSpPr>
          <p:nvPr/>
        </p:nvSpPr>
        <p:spPr>
          <a:xfrm xmlns:a="http://schemas.openxmlformats.org/drawingml/2006/main">
            <a:off x="3419475"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Pilih santri &amp; item</a:t>
            </a:r>
          </a:p>
        </p:txBody>
      </p:sp>
      <p:sp>
        <p:nvSpPr>
          <p:cNvPr id="7" name="">
            <a:extLst xmlns:a="http://schemas.openxmlformats.org/drawingml/2006/main">
              <a:ext uri="{FF2B5EF4-FFF2-40B4-BE49-F238E27FC236}">
                <a16:creationId xmlns:a16="http://schemas.microsoft.com/office/drawing/2014/main" id="{270DE2FF-F138-4AC7-86C9-A05AF599624C}"/>
              </a:ext>
            </a:extLst>
          </p:cNvPr>
          <p:cNvSpPr>
            <a:spLocks xmlns:a="http://schemas.openxmlformats.org/drawingml/2006/main" noGrp="1"/>
          </p:cNvSpPr>
          <p:nvPr/>
        </p:nvSpPr>
        <p:spPr>
          <a:xfrm xmlns:a="http://schemas.openxmlformats.org/drawingml/2006/main">
            <a:off x="6229350"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Terima uang</a:t>
            </a:r>
          </a:p>
        </p:txBody>
      </p:sp>
      <p:sp>
        <p:nvSpPr>
          <p:cNvPr id="8" name="">
            <a:extLst xmlns:a="http://schemas.openxmlformats.org/drawingml/2006/main">
              <a:ext uri="{FF2B5EF4-FFF2-40B4-BE49-F238E27FC236}">
                <a16:creationId xmlns:a16="http://schemas.microsoft.com/office/drawing/2014/main" id="{94985BCF-23B7-4314-8D09-AD3FA2B18C22}"/>
              </a:ext>
            </a:extLst>
          </p:cNvPr>
          <p:cNvSpPr>
            <a:spLocks xmlns:a="http://schemas.openxmlformats.org/drawingml/2006/main" noGrp="1"/>
          </p:cNvSpPr>
          <p:nvPr/>
        </p:nvSpPr>
        <p:spPr>
          <a:xfrm xmlns:a="http://schemas.openxmlformats.org/drawingml/2006/main">
            <a:off x="9039225"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Catat &amp; beri bukti</a:t>
            </a:r>
          </a:p>
        </p:txBody>
      </p:sp>
      <p:sp>
        <p:nvSpPr>
          <p:cNvPr id="12" name="">
            <a:extLst xmlns:a="http://schemas.openxmlformats.org/drawingml/2006/main">
              <a:ext uri="{FF2B5EF4-FFF2-40B4-BE49-F238E27FC236}">
                <a16:creationId xmlns:a16="http://schemas.microsoft.com/office/drawing/2014/main" id="{38840456-71F4-4DB8-BBD8-41F9E9075CAC}"/>
              </a:ext>
            </a:extLst>
          </p:cNvPr>
          <p:cNvSpPr>
            <a:spLocks xmlns:a="http://schemas.openxmlformats.org/drawingml/2006/main" noGrp="1"/>
          </p:cNvSpPr>
          <p:nvPr/>
        </p:nvSpPr>
        <p:spPr>
          <a:xfrm xmlns:a="http://schemas.openxmlformats.org/drawingml/2006/main">
            <a:off x="609600"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Petugas menghitung dan memasukkan kas awal.</a:t>
            </a:r>
          </a:p>
        </p:txBody>
      </p:sp>
      <p:sp>
        <p:nvSpPr>
          <p:cNvPr id="13" name="">
            <a:extLst xmlns:a="http://schemas.openxmlformats.org/drawingml/2006/main">
              <a:ext uri="{FF2B5EF4-FFF2-40B4-BE49-F238E27FC236}">
                <a16:creationId xmlns:a16="http://schemas.microsoft.com/office/drawing/2014/main" id="{08791B07-C96E-4B32-9339-68D0DB3F74E5}"/>
              </a:ext>
            </a:extLst>
          </p:cNvPr>
          <p:cNvSpPr>
            <a:spLocks xmlns:a="http://schemas.openxmlformats.org/drawingml/2006/main" noGrp="1"/>
          </p:cNvSpPr>
          <p:nvPr/>
        </p:nvSpPr>
        <p:spPr>
          <a:xfrm xmlns:a="http://schemas.openxmlformats.org/drawingml/2006/main">
            <a:off x="3419475"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Identitas, periode, nominal, dan aturan cicilan diperiksa.</a:t>
            </a:r>
          </a:p>
        </p:txBody>
      </p:sp>
      <p:sp>
        <p:nvSpPr>
          <p:cNvPr id="14" name="">
            <a:extLst xmlns:a="http://schemas.openxmlformats.org/drawingml/2006/main">
              <a:ext uri="{FF2B5EF4-FFF2-40B4-BE49-F238E27FC236}">
                <a16:creationId xmlns:a16="http://schemas.microsoft.com/office/drawing/2014/main" id="{EDC0905C-457F-4203-8DD4-6DBFC2A3E322}"/>
              </a:ext>
            </a:extLst>
          </p:cNvPr>
          <p:cNvSpPr>
            <a:spLocks xmlns:a="http://schemas.openxmlformats.org/drawingml/2006/main" noGrp="1"/>
          </p:cNvSpPr>
          <p:nvPr/>
        </p:nvSpPr>
        <p:spPr>
          <a:xfrm xmlns:a="http://schemas.openxmlformats.org/drawingml/2006/main">
            <a:off x="6229350"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Uang fisik sesuai dengan pembayaran yang dikonfirmasi.</a:t>
            </a:r>
          </a:p>
        </p:txBody>
      </p:sp>
      <p:sp>
        <p:nvSpPr>
          <p:cNvPr id="15" name="">
            <a:extLst xmlns:a="http://schemas.openxmlformats.org/drawingml/2006/main">
              <a:ext uri="{FF2B5EF4-FFF2-40B4-BE49-F238E27FC236}">
                <a16:creationId xmlns:a16="http://schemas.microsoft.com/office/drawing/2014/main" id="{50584928-8BF2-4EB1-B847-B8AC6B0B2433}"/>
              </a:ext>
            </a:extLst>
          </p:cNvPr>
          <p:cNvSpPr>
            <a:spLocks xmlns:a="http://schemas.openxmlformats.org/drawingml/2006/main" noGrp="1"/>
          </p:cNvSpPr>
          <p:nvPr/>
        </p:nvSpPr>
        <p:spPr>
          <a:xfrm xmlns:a="http://schemas.openxmlformats.org/drawingml/2006/main">
            <a:off x="9039225"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Pembayaran mengurangi tagihan dan menambah catatan kas.</a:t>
            </a:r>
          </a:p>
        </p:txBody>
      </p:sp>
      <p:sp>
        <p:nvSpPr>
          <p:cNvPr id="16" name="">
            <a:extLst xmlns:a="http://schemas.openxmlformats.org/drawingml/2006/main">
              <a:ext uri="{FF2B5EF4-FFF2-40B4-BE49-F238E27FC236}">
                <a16:creationId xmlns:a16="http://schemas.microsoft.com/office/drawing/2014/main" id="{25094FAE-BE2F-473D-9408-6B064E94C7EB}"/>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Tutup sesi dengan menghitung uang fisik. Selisih wajib memiliki penjelasan.</a:t>
            </a:r>
          </a:p>
        </p:txBody>
      </p:sp>
    </p:spTree>
    <p:extLst>
      <p:ext uri="{BB962C8B-B14F-4D97-AF65-F5344CB8AC3E}">
        <p14:creationId xmlns:p14="http://schemas.microsoft.com/office/powerpoint/2010/main" val="1006875161"/>
      </p:ext>
    </p:extLst>
  </p:cSld>
</p:sld>
</file>

<file path=ppt/slides/slide1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17" name=""/>
          <p:cNvCxnSpPr>
            <a:stCxn xmlns:a="http://schemas.openxmlformats.org/drawingml/2006/main" id="7" idx="3"/>
            <a:endCxn xmlns:a="http://schemas.openxmlformats.org/drawingml/2006/main" id="8" idx="1"/>
          </p:cNvCxnSpPr>
          <p:nvPr/>
        </p:nvCxnSpPr>
        <p:spPr>
          <a:xfrm xmlns:a="http://schemas.openxmlformats.org/drawingml/2006/main">
            <a:off x="8772525"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8" name=""/>
          <p:cNvCxnSpPr>
            <a:stCxn xmlns:a="http://schemas.openxmlformats.org/drawingml/2006/main" id="6" idx="3"/>
            <a:endCxn xmlns:a="http://schemas.openxmlformats.org/drawingml/2006/main" id="7" idx="1"/>
          </p:cNvCxnSpPr>
          <p:nvPr/>
        </p:nvCxnSpPr>
        <p:spPr>
          <a:xfrm xmlns:a="http://schemas.openxmlformats.org/drawingml/2006/main">
            <a:off x="5962650"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9" name=""/>
          <p:cNvCxnSpPr>
            <a:stCxn xmlns:a="http://schemas.openxmlformats.org/drawingml/2006/main" id="5" idx="3"/>
            <a:endCxn xmlns:a="http://schemas.openxmlformats.org/drawingml/2006/main" id="6" idx="1"/>
          </p:cNvCxnSpPr>
          <p:nvPr/>
        </p:nvCxnSpPr>
        <p:spPr>
          <a:xfrm xmlns:a="http://schemas.openxmlformats.org/drawingml/2006/main">
            <a:off x="3152775"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sp>
        <p:nvSpPr>
          <p:cNvPr id="20" name="">
            <a:extLst xmlns:a="http://schemas.openxmlformats.org/drawingml/2006/main">
              <a:ext uri="{FF2B5EF4-FFF2-40B4-BE49-F238E27FC236}">
                <a16:creationId xmlns:a16="http://schemas.microsoft.com/office/drawing/2014/main" id="{76A8FB0F-F3F1-488E-969C-627CBB4CB94E}"/>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 · Alur keseluruhan</a:t>
            </a:r>
          </a:p>
        </p:txBody>
      </p:sp>
      <p:sp>
        <p:nvSpPr>
          <p:cNvPr id="2" name="">
            <a:extLst xmlns:a="http://schemas.openxmlformats.org/drawingml/2006/main">
              <a:ext uri="{FF2B5EF4-FFF2-40B4-BE49-F238E27FC236}">
                <a16:creationId xmlns:a16="http://schemas.microsoft.com/office/drawing/2014/main" id="{983E603E-0D64-419A-B8CC-3924B23F1866}"/>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Alur uang jajan santri</a:t>
            </a:r>
          </a:p>
        </p:txBody>
      </p:sp>
      <p:sp>
        <p:nvSpPr>
          <p:cNvPr id="3" name="">
            <a:extLst xmlns:a="http://schemas.openxmlformats.org/drawingml/2006/main">
              <a:ext uri="{FF2B5EF4-FFF2-40B4-BE49-F238E27FC236}">
                <a16:creationId xmlns:a16="http://schemas.microsoft.com/office/drawing/2014/main" id="{B274E2F7-BEDD-4582-80E2-BB910A6FAA1F}"/>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EB699B97-40B0-40A7-BA8C-FBBF1F716D7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9D3BF926-C2CD-4EB5-B0FF-5773658CEFBA}"/>
              </a:ext>
            </a:extLst>
          </p:cNvPr>
          <p:cNvSpPr>
            <a:spLocks xmlns:a="http://schemas.openxmlformats.org/drawingml/2006/main" noGrp="1"/>
          </p:cNvSpPr>
          <p:nvPr/>
        </p:nvSpPr>
        <p:spPr>
          <a:xfrm xmlns:a="http://schemas.openxmlformats.org/drawingml/2006/main">
            <a:off x="609600"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Top-up / setoran</a:t>
            </a:r>
          </a:p>
        </p:txBody>
      </p:sp>
      <p:sp>
        <p:nvSpPr>
          <p:cNvPr id="6" name="">
            <a:extLst xmlns:a="http://schemas.openxmlformats.org/drawingml/2006/main">
              <a:ext uri="{FF2B5EF4-FFF2-40B4-BE49-F238E27FC236}">
                <a16:creationId xmlns:a16="http://schemas.microsoft.com/office/drawing/2014/main" id="{AEB6E240-C491-43A7-8B78-DB3F2A933D6E}"/>
              </a:ext>
            </a:extLst>
          </p:cNvPr>
          <p:cNvSpPr>
            <a:spLocks xmlns:a="http://schemas.openxmlformats.org/drawingml/2006/main" noGrp="1"/>
          </p:cNvSpPr>
          <p:nvPr/>
        </p:nvSpPr>
        <p:spPr>
          <a:xfrm xmlns:a="http://schemas.openxmlformats.org/drawingml/2006/main">
            <a:off x="3419475"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Saldo titipan</a:t>
            </a:r>
          </a:p>
        </p:txBody>
      </p:sp>
      <p:sp>
        <p:nvSpPr>
          <p:cNvPr id="7" name="">
            <a:extLst xmlns:a="http://schemas.openxmlformats.org/drawingml/2006/main">
              <a:ext uri="{FF2B5EF4-FFF2-40B4-BE49-F238E27FC236}">
                <a16:creationId xmlns:a16="http://schemas.microsoft.com/office/drawing/2014/main" id="{2E98FC67-37E6-4EA2-AEBE-64A93EA15557}"/>
              </a:ext>
            </a:extLst>
          </p:cNvPr>
          <p:cNvSpPr>
            <a:spLocks xmlns:a="http://schemas.openxmlformats.org/drawingml/2006/main" noGrp="1"/>
          </p:cNvSpPr>
          <p:nvPr/>
        </p:nvSpPr>
        <p:spPr>
          <a:xfrm xmlns:a="http://schemas.openxmlformats.org/drawingml/2006/main">
            <a:off x="6229350"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Kartu, wajah &amp; PIN</a:t>
            </a:r>
          </a:p>
        </p:txBody>
      </p:sp>
      <p:sp>
        <p:nvSpPr>
          <p:cNvPr id="8" name="">
            <a:extLst xmlns:a="http://schemas.openxmlformats.org/drawingml/2006/main">
              <a:ext uri="{FF2B5EF4-FFF2-40B4-BE49-F238E27FC236}">
                <a16:creationId xmlns:a16="http://schemas.microsoft.com/office/drawing/2014/main" id="{AF80E15D-9679-46E5-9C69-A54EFE7E0132}"/>
              </a:ext>
            </a:extLst>
          </p:cNvPr>
          <p:cNvSpPr>
            <a:spLocks xmlns:a="http://schemas.openxmlformats.org/drawingml/2006/main" noGrp="1"/>
          </p:cNvSpPr>
          <p:nvPr/>
        </p:nvSpPr>
        <p:spPr>
          <a:xfrm xmlns:a="http://schemas.openxmlformats.org/drawingml/2006/main">
            <a:off x="9039225"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Pencairan di loket</a:t>
            </a:r>
          </a:p>
        </p:txBody>
      </p:sp>
      <p:sp>
        <p:nvSpPr>
          <p:cNvPr id="12" name="">
            <a:extLst xmlns:a="http://schemas.openxmlformats.org/drawingml/2006/main">
              <a:ext uri="{FF2B5EF4-FFF2-40B4-BE49-F238E27FC236}">
                <a16:creationId xmlns:a16="http://schemas.microsoft.com/office/drawing/2014/main" id="{163F402F-26A0-4000-875B-1047A751CBD1}"/>
              </a:ext>
            </a:extLst>
          </p:cNvPr>
          <p:cNvSpPr>
            <a:spLocks xmlns:a="http://schemas.openxmlformats.org/drawingml/2006/main" noGrp="1"/>
          </p:cNvSpPr>
          <p:nvPr/>
        </p:nvSpPr>
        <p:spPr>
          <a:xfrm xmlns:a="http://schemas.openxmlformats.org/drawingml/2006/main">
            <a:off x="609600"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Orang tua mengisi secara online atau santri menyetor tunai.</a:t>
            </a:r>
          </a:p>
        </p:txBody>
      </p:sp>
      <p:sp>
        <p:nvSpPr>
          <p:cNvPr id="13" name="">
            <a:extLst xmlns:a="http://schemas.openxmlformats.org/drawingml/2006/main">
              <a:ext uri="{FF2B5EF4-FFF2-40B4-BE49-F238E27FC236}">
                <a16:creationId xmlns:a16="http://schemas.microsoft.com/office/drawing/2014/main" id="{AB29E574-576B-44CB-8474-E47E4CAEFC2E}"/>
              </a:ext>
            </a:extLst>
          </p:cNvPr>
          <p:cNvSpPr>
            <a:spLocks xmlns:a="http://schemas.openxmlformats.org/drawingml/2006/main" noGrp="1"/>
          </p:cNvSpPr>
          <p:nvPr/>
        </p:nvSpPr>
        <p:spPr>
          <a:xfrm xmlns:a="http://schemas.openxmlformats.org/drawingml/2006/main">
            <a:off x="3419475"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Buku mutasi mencatat setiap penambahan dan pengurangan.</a:t>
            </a:r>
          </a:p>
        </p:txBody>
      </p:sp>
      <p:sp>
        <p:nvSpPr>
          <p:cNvPr id="14" name="">
            <a:extLst xmlns:a="http://schemas.openxmlformats.org/drawingml/2006/main">
              <a:ext uri="{FF2B5EF4-FFF2-40B4-BE49-F238E27FC236}">
                <a16:creationId xmlns:a16="http://schemas.microsoft.com/office/drawing/2014/main" id="{FC13C91C-B5BE-4A4F-A1A7-63493233EFA6}"/>
              </a:ext>
            </a:extLst>
          </p:cNvPr>
          <p:cNvSpPr>
            <a:spLocks xmlns:a="http://schemas.openxmlformats.org/drawingml/2006/main" noGrp="1"/>
          </p:cNvSpPr>
          <p:nvPr/>
        </p:nvSpPr>
        <p:spPr>
          <a:xfrm xmlns:a="http://schemas.openxmlformats.org/drawingml/2006/main">
            <a:off x="6229350"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Petugas memeriksa identitas, saldo, serta batas pencairan.</a:t>
            </a:r>
          </a:p>
        </p:txBody>
      </p:sp>
      <p:sp>
        <p:nvSpPr>
          <p:cNvPr id="15" name="">
            <a:extLst xmlns:a="http://schemas.openxmlformats.org/drawingml/2006/main">
              <a:ext uri="{FF2B5EF4-FFF2-40B4-BE49-F238E27FC236}">
                <a16:creationId xmlns:a16="http://schemas.microsoft.com/office/drawing/2014/main" id="{081049BE-2631-4DE7-B712-45027D95E51F}"/>
              </a:ext>
            </a:extLst>
          </p:cNvPr>
          <p:cNvSpPr>
            <a:spLocks xmlns:a="http://schemas.openxmlformats.org/drawingml/2006/main" noGrp="1"/>
          </p:cNvSpPr>
          <p:nvPr/>
        </p:nvSpPr>
        <p:spPr>
          <a:xfrm xmlns:a="http://schemas.openxmlformats.org/drawingml/2006/main">
            <a:off x="9039225"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Santri menerima uang. Saldo dan kas loket berkurang.</a:t>
            </a:r>
          </a:p>
        </p:txBody>
      </p:sp>
      <p:sp>
        <p:nvSpPr>
          <p:cNvPr id="16" name="">
            <a:extLst xmlns:a="http://schemas.openxmlformats.org/drawingml/2006/main">
              <a:ext uri="{FF2B5EF4-FFF2-40B4-BE49-F238E27FC236}">
                <a16:creationId xmlns:a16="http://schemas.microsoft.com/office/drawing/2014/main" id="{CBBFB2D2-65E8-4355-8FF4-64E6CC543768}"/>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Dana uang jajan tetap milik santri dan tidak masuk penyaluran kepada bendahara atau penyedia.</a:t>
            </a:r>
          </a:p>
        </p:txBody>
      </p:sp>
    </p:spTree>
    <p:extLst>
      <p:ext uri="{BB962C8B-B14F-4D97-AF65-F5344CB8AC3E}">
        <p14:creationId xmlns:p14="http://schemas.microsoft.com/office/powerpoint/2010/main" val="907051475"/>
      </p:ext>
    </p:extLst>
  </p:cSld>
</p:sld>
</file>

<file path=ppt/slides/slide1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17" name=""/>
          <p:cNvCxnSpPr>
            <a:stCxn xmlns:a="http://schemas.openxmlformats.org/drawingml/2006/main" id="7" idx="3"/>
            <a:endCxn xmlns:a="http://schemas.openxmlformats.org/drawingml/2006/main" id="8" idx="1"/>
          </p:cNvCxnSpPr>
          <p:nvPr/>
        </p:nvCxnSpPr>
        <p:spPr>
          <a:xfrm xmlns:a="http://schemas.openxmlformats.org/drawingml/2006/main">
            <a:off x="8772525"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8" name=""/>
          <p:cNvCxnSpPr>
            <a:stCxn xmlns:a="http://schemas.openxmlformats.org/drawingml/2006/main" id="6" idx="3"/>
            <a:endCxn xmlns:a="http://schemas.openxmlformats.org/drawingml/2006/main" id="7" idx="1"/>
          </p:cNvCxnSpPr>
          <p:nvPr/>
        </p:nvCxnSpPr>
        <p:spPr>
          <a:xfrm xmlns:a="http://schemas.openxmlformats.org/drawingml/2006/main">
            <a:off x="5962650"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9" name=""/>
          <p:cNvCxnSpPr>
            <a:stCxn xmlns:a="http://schemas.openxmlformats.org/drawingml/2006/main" id="5" idx="3"/>
            <a:endCxn xmlns:a="http://schemas.openxmlformats.org/drawingml/2006/main" id="6" idx="1"/>
          </p:cNvCxnSpPr>
          <p:nvPr/>
        </p:nvCxnSpPr>
        <p:spPr>
          <a:xfrm xmlns:a="http://schemas.openxmlformats.org/drawingml/2006/main">
            <a:off x="3152775"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sp>
        <p:nvSpPr>
          <p:cNvPr id="20" name="">
            <a:extLst xmlns:a="http://schemas.openxmlformats.org/drawingml/2006/main">
              <a:ext uri="{FF2B5EF4-FFF2-40B4-BE49-F238E27FC236}">
                <a16:creationId xmlns:a16="http://schemas.microsoft.com/office/drawing/2014/main" id="{1DEFC38C-EEB8-49A5-A7F1-B08320436950}"/>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 · Alur keseluruhan</a:t>
            </a:r>
          </a:p>
        </p:txBody>
      </p:sp>
      <p:sp>
        <p:nvSpPr>
          <p:cNvPr id="2" name="">
            <a:extLst xmlns:a="http://schemas.openxmlformats.org/drawingml/2006/main">
              <a:ext uri="{FF2B5EF4-FFF2-40B4-BE49-F238E27FC236}">
                <a16:creationId xmlns:a16="http://schemas.microsoft.com/office/drawing/2014/main" id="{B33C97CA-FF24-464D-8188-A58825EEA548}"/>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Alur penyaluran kepada penerima</a:t>
            </a:r>
          </a:p>
        </p:txBody>
      </p:sp>
      <p:sp>
        <p:nvSpPr>
          <p:cNvPr id="3" name="">
            <a:extLst xmlns:a="http://schemas.openxmlformats.org/drawingml/2006/main">
              <a:ext uri="{FF2B5EF4-FFF2-40B4-BE49-F238E27FC236}">
                <a16:creationId xmlns:a16="http://schemas.microsoft.com/office/drawing/2014/main" id="{F5A51D02-1D3E-4C88-BB5B-232B92748FBF}"/>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C64402B1-EE48-486E-9987-ACDD84D88971}"/>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076A288C-3735-4225-B2BB-57B93D9E37DA}"/>
              </a:ext>
            </a:extLst>
          </p:cNvPr>
          <p:cNvSpPr>
            <a:spLocks xmlns:a="http://schemas.openxmlformats.org/drawingml/2006/main" noGrp="1"/>
          </p:cNvSpPr>
          <p:nvPr/>
        </p:nvSpPr>
        <p:spPr>
          <a:xfrm xmlns:a="http://schemas.openxmlformats.org/drawingml/2006/main">
            <a:off x="609600"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Pilih penerima</a:t>
            </a:r>
          </a:p>
        </p:txBody>
      </p:sp>
      <p:sp>
        <p:nvSpPr>
          <p:cNvPr id="6" name="">
            <a:extLst xmlns:a="http://schemas.openxmlformats.org/drawingml/2006/main">
              <a:ext uri="{FF2B5EF4-FFF2-40B4-BE49-F238E27FC236}">
                <a16:creationId xmlns:a16="http://schemas.microsoft.com/office/drawing/2014/main" id="{83FEC5BE-8374-429A-BFF8-F65DEDE05C74}"/>
              </a:ext>
            </a:extLst>
          </p:cNvPr>
          <p:cNvSpPr>
            <a:spLocks xmlns:a="http://schemas.openxmlformats.org/drawingml/2006/main" noGrp="1"/>
          </p:cNvSpPr>
          <p:nvPr/>
        </p:nvSpPr>
        <p:spPr>
          <a:xfrm xmlns:a="http://schemas.openxmlformats.org/drawingml/2006/main">
            <a:off x="3419475"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Periksa hak &amp; dana</a:t>
            </a:r>
          </a:p>
        </p:txBody>
      </p:sp>
      <p:sp>
        <p:nvSpPr>
          <p:cNvPr id="7" name="">
            <a:extLst xmlns:a="http://schemas.openxmlformats.org/drawingml/2006/main">
              <a:ext uri="{FF2B5EF4-FFF2-40B4-BE49-F238E27FC236}">
                <a16:creationId xmlns:a16="http://schemas.microsoft.com/office/drawing/2014/main" id="{8D844D91-A7E9-4E11-A0D2-281885E60B53}"/>
              </a:ext>
            </a:extLst>
          </p:cNvPr>
          <p:cNvSpPr>
            <a:spLocks xmlns:a="http://schemas.openxmlformats.org/drawingml/2006/main" noGrp="1"/>
          </p:cNvSpPr>
          <p:nvPr/>
        </p:nvSpPr>
        <p:spPr>
          <a:xfrm xmlns:a="http://schemas.openxmlformats.org/drawingml/2006/main">
            <a:off x="6229350"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Serahkan dana</a:t>
            </a:r>
          </a:p>
        </p:txBody>
      </p:sp>
      <p:sp>
        <p:nvSpPr>
          <p:cNvPr id="8" name="">
            <a:extLst xmlns:a="http://schemas.openxmlformats.org/drawingml/2006/main">
              <a:ext uri="{FF2B5EF4-FFF2-40B4-BE49-F238E27FC236}">
                <a16:creationId xmlns:a16="http://schemas.microsoft.com/office/drawing/2014/main" id="{FD0001E3-0189-4449-B07C-FFACBA793A39}"/>
              </a:ext>
            </a:extLst>
          </p:cNvPr>
          <p:cNvSpPr>
            <a:spLocks xmlns:a="http://schemas.openxmlformats.org/drawingml/2006/main" noGrp="1"/>
          </p:cNvSpPr>
          <p:nvPr/>
        </p:nvSpPr>
        <p:spPr>
          <a:xfrm xmlns:a="http://schemas.openxmlformats.org/drawingml/2006/main">
            <a:off x="9039225"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Catat penyaluran</a:t>
            </a:r>
          </a:p>
        </p:txBody>
      </p:sp>
      <p:sp>
        <p:nvSpPr>
          <p:cNvPr id="12" name="">
            <a:extLst xmlns:a="http://schemas.openxmlformats.org/drawingml/2006/main">
              <a:ext uri="{FF2B5EF4-FFF2-40B4-BE49-F238E27FC236}">
                <a16:creationId xmlns:a16="http://schemas.microsoft.com/office/drawing/2014/main" id="{E5565D7E-EF14-49E8-A9E6-3B70CE3A6DD8}"/>
              </a:ext>
            </a:extLst>
          </p:cNvPr>
          <p:cNvSpPr>
            <a:spLocks xmlns:a="http://schemas.openxmlformats.org/drawingml/2006/main" noGrp="1"/>
          </p:cNvSpPr>
          <p:nvPr/>
        </p:nvSpPr>
        <p:spPr>
          <a:xfrm xmlns:a="http://schemas.openxmlformats.org/drawingml/2006/main">
            <a:off x="609600"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Bendahara pesantren, katering, atau laundry.</a:t>
            </a:r>
          </a:p>
        </p:txBody>
      </p:sp>
      <p:sp>
        <p:nvSpPr>
          <p:cNvPr id="13" name="">
            <a:extLst xmlns:a="http://schemas.openxmlformats.org/drawingml/2006/main">
              <a:ext uri="{FF2B5EF4-FFF2-40B4-BE49-F238E27FC236}">
                <a16:creationId xmlns:a16="http://schemas.microsoft.com/office/drawing/2014/main" id="{4B1E8E69-B713-465C-A4D1-5AA89CDAB290}"/>
              </a:ext>
            </a:extLst>
          </p:cNvPr>
          <p:cNvSpPr>
            <a:spLocks xmlns:a="http://schemas.openxmlformats.org/drawingml/2006/main" noGrp="1"/>
          </p:cNvSpPr>
          <p:nvPr/>
        </p:nvSpPr>
        <p:spPr>
          <a:xfrm xmlns:a="http://schemas.openxmlformats.org/drawingml/2006/main">
            <a:off x="3419475"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Lihat item, periode, dana tersedia, koreksi, dan penyaluran sebelumnya.</a:t>
            </a:r>
          </a:p>
        </p:txBody>
      </p:sp>
      <p:sp>
        <p:nvSpPr>
          <p:cNvPr id="14" name="">
            <a:extLst xmlns:a="http://schemas.openxmlformats.org/drawingml/2006/main">
              <a:ext uri="{FF2B5EF4-FFF2-40B4-BE49-F238E27FC236}">
                <a16:creationId xmlns:a16="http://schemas.microsoft.com/office/drawing/2014/main" id="{0FB5B810-43EB-4931-B831-600635BCE421}"/>
              </a:ext>
            </a:extLst>
          </p:cNvPr>
          <p:cNvSpPr>
            <a:spLocks xmlns:a="http://schemas.openxmlformats.org/drawingml/2006/main" noGrp="1"/>
          </p:cNvSpPr>
          <p:nvPr/>
        </p:nvSpPr>
        <p:spPr>
          <a:xfrm xmlns:a="http://schemas.openxmlformats.org/drawingml/2006/main">
            <a:off x="6229350"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Lakukan transfer atau penyerahan tunai sesuai prosedur.</a:t>
            </a:r>
          </a:p>
        </p:txBody>
      </p:sp>
      <p:sp>
        <p:nvSpPr>
          <p:cNvPr id="15" name="">
            <a:extLst xmlns:a="http://schemas.openxmlformats.org/drawingml/2006/main">
              <a:ext uri="{FF2B5EF4-FFF2-40B4-BE49-F238E27FC236}">
                <a16:creationId xmlns:a16="http://schemas.microsoft.com/office/drawing/2014/main" id="{803A0DE2-9637-4BB7-8377-971568A6D2C1}"/>
              </a:ext>
            </a:extLst>
          </p:cNvPr>
          <p:cNvSpPr>
            <a:spLocks xmlns:a="http://schemas.openxmlformats.org/drawingml/2006/main" noGrp="1"/>
          </p:cNvSpPr>
          <p:nvPr/>
        </p:nvSpPr>
        <p:spPr>
          <a:xfrm xmlns:a="http://schemas.openxmlformats.org/drawingml/2006/main">
            <a:off x="9039225"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Simpan nominal, metode, petugas, referensi, dan bukti.</a:t>
            </a:r>
          </a:p>
        </p:txBody>
      </p:sp>
      <p:sp>
        <p:nvSpPr>
          <p:cNvPr id="16" name="">
            <a:extLst xmlns:a="http://schemas.openxmlformats.org/drawingml/2006/main">
              <a:ext uri="{FF2B5EF4-FFF2-40B4-BE49-F238E27FC236}">
                <a16:creationId xmlns:a16="http://schemas.microsoft.com/office/drawing/2014/main" id="{B387F00D-5E16-4576-B374-E3AB2B1ACD25}"/>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Pencatatan penyaluran tidak dengan sendirinya menjalankan transfer bank.</a:t>
            </a:r>
          </a:p>
        </p:txBody>
      </p:sp>
    </p:spTree>
    <p:extLst>
      <p:ext uri="{BB962C8B-B14F-4D97-AF65-F5344CB8AC3E}">
        <p14:creationId xmlns:p14="http://schemas.microsoft.com/office/powerpoint/2010/main" val="541185876"/>
      </p:ext>
    </p:extLst>
  </p:cSld>
</p:sld>
</file>

<file path=ppt/slides/slide1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17" name=""/>
          <p:cNvCxnSpPr>
            <a:stCxn xmlns:a="http://schemas.openxmlformats.org/drawingml/2006/main" id="7" idx="3"/>
            <a:endCxn xmlns:a="http://schemas.openxmlformats.org/drawingml/2006/main" id="8" idx="1"/>
          </p:cNvCxnSpPr>
          <p:nvPr/>
        </p:nvCxnSpPr>
        <p:spPr>
          <a:xfrm xmlns:a="http://schemas.openxmlformats.org/drawingml/2006/main">
            <a:off x="8772525"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8" name=""/>
          <p:cNvCxnSpPr>
            <a:stCxn xmlns:a="http://schemas.openxmlformats.org/drawingml/2006/main" id="6" idx="3"/>
            <a:endCxn xmlns:a="http://schemas.openxmlformats.org/drawingml/2006/main" id="7" idx="1"/>
          </p:cNvCxnSpPr>
          <p:nvPr/>
        </p:nvCxnSpPr>
        <p:spPr>
          <a:xfrm xmlns:a="http://schemas.openxmlformats.org/drawingml/2006/main">
            <a:off x="5962650"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9" name=""/>
          <p:cNvCxnSpPr>
            <a:stCxn xmlns:a="http://schemas.openxmlformats.org/drawingml/2006/main" id="5" idx="3"/>
            <a:endCxn xmlns:a="http://schemas.openxmlformats.org/drawingml/2006/main" id="6" idx="1"/>
          </p:cNvCxnSpPr>
          <p:nvPr/>
        </p:nvCxnSpPr>
        <p:spPr>
          <a:xfrm xmlns:a="http://schemas.openxmlformats.org/drawingml/2006/main">
            <a:off x="3152775"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sp>
        <p:nvSpPr>
          <p:cNvPr id="20" name="">
            <a:extLst xmlns:a="http://schemas.openxmlformats.org/drawingml/2006/main">
              <a:ext uri="{FF2B5EF4-FFF2-40B4-BE49-F238E27FC236}">
                <a16:creationId xmlns:a16="http://schemas.microsoft.com/office/drawing/2014/main" id="{9805B6DD-7635-46C5-9AAB-3783C142C353}"/>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 · Alur keseluruhan</a:t>
            </a:r>
          </a:p>
        </p:txBody>
      </p:sp>
      <p:sp>
        <p:nvSpPr>
          <p:cNvPr id="2" name="">
            <a:extLst xmlns:a="http://schemas.openxmlformats.org/drawingml/2006/main">
              <a:ext uri="{FF2B5EF4-FFF2-40B4-BE49-F238E27FC236}">
                <a16:creationId xmlns:a16="http://schemas.microsoft.com/office/drawing/2014/main" id="{0BF5B2BC-955D-4A5D-90AD-BBAF45C15F5B}"/>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Pemeriksaan dan penutupan operasional</a:t>
            </a:r>
          </a:p>
        </p:txBody>
      </p:sp>
      <p:sp>
        <p:nvSpPr>
          <p:cNvPr id="3" name="">
            <a:extLst xmlns:a="http://schemas.openxmlformats.org/drawingml/2006/main">
              <a:ext uri="{FF2B5EF4-FFF2-40B4-BE49-F238E27FC236}">
                <a16:creationId xmlns:a16="http://schemas.microsoft.com/office/drawing/2014/main" id="{7B0CBC3D-1153-40F6-BBD6-803E0E606681}"/>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202D63D7-30BB-46DA-A89E-CA7127183BEE}"/>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1C70D8EC-F6AE-4A55-BEE2-41DE0F8B76CA}"/>
              </a:ext>
            </a:extLst>
          </p:cNvPr>
          <p:cNvSpPr>
            <a:spLocks xmlns:a="http://schemas.openxmlformats.org/drawingml/2006/main" noGrp="1"/>
          </p:cNvSpPr>
          <p:nvPr/>
        </p:nvSpPr>
        <p:spPr>
          <a:xfrm xmlns:a="http://schemas.openxmlformats.org/drawingml/2006/main">
            <a:off x="609600"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Cocokkan catatan</a:t>
            </a:r>
          </a:p>
        </p:txBody>
      </p:sp>
      <p:sp>
        <p:nvSpPr>
          <p:cNvPr id="6" name="">
            <a:extLst xmlns:a="http://schemas.openxmlformats.org/drawingml/2006/main">
              <a:ext uri="{FF2B5EF4-FFF2-40B4-BE49-F238E27FC236}">
                <a16:creationId xmlns:a16="http://schemas.microsoft.com/office/drawing/2014/main" id="{3B2EA245-842C-4D3A-956F-CD8346A21E94}"/>
              </a:ext>
            </a:extLst>
          </p:cNvPr>
          <p:cNvSpPr>
            <a:spLocks xmlns:a="http://schemas.openxmlformats.org/drawingml/2006/main" noGrp="1"/>
          </p:cNvSpPr>
          <p:nvPr/>
        </p:nvSpPr>
        <p:spPr>
          <a:xfrm xmlns:a="http://schemas.openxmlformats.org/drawingml/2006/main">
            <a:off x="3419475"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Tandai perbedaan</a:t>
            </a:r>
          </a:p>
        </p:txBody>
      </p:sp>
      <p:sp>
        <p:nvSpPr>
          <p:cNvPr id="7" name="">
            <a:extLst xmlns:a="http://schemas.openxmlformats.org/drawingml/2006/main">
              <a:ext uri="{FF2B5EF4-FFF2-40B4-BE49-F238E27FC236}">
                <a16:creationId xmlns:a16="http://schemas.microsoft.com/office/drawing/2014/main" id="{7011DB72-8723-4C09-AA16-92352FC88EE7}"/>
              </a:ext>
            </a:extLst>
          </p:cNvPr>
          <p:cNvSpPr>
            <a:spLocks xmlns:a="http://schemas.openxmlformats.org/drawingml/2006/main" noGrp="1"/>
          </p:cNvSpPr>
          <p:nvPr/>
        </p:nvSpPr>
        <p:spPr>
          <a:xfrm xmlns:a="http://schemas.openxmlformats.org/drawingml/2006/main">
            <a:off x="6229350"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Telusuri penyebab</a:t>
            </a:r>
          </a:p>
        </p:txBody>
      </p:sp>
      <p:sp>
        <p:nvSpPr>
          <p:cNvPr id="8" name="">
            <a:extLst xmlns:a="http://schemas.openxmlformats.org/drawingml/2006/main">
              <a:ext uri="{FF2B5EF4-FFF2-40B4-BE49-F238E27FC236}">
                <a16:creationId xmlns:a16="http://schemas.microsoft.com/office/drawing/2014/main" id="{3D52DC61-BD2B-4159-B83E-9C8C47CD87F1}"/>
              </a:ext>
            </a:extLst>
          </p:cNvPr>
          <p:cNvSpPr>
            <a:spLocks xmlns:a="http://schemas.openxmlformats.org/drawingml/2006/main" noGrp="1"/>
          </p:cNvSpPr>
          <p:nvPr/>
        </p:nvSpPr>
        <p:spPr>
          <a:xfrm xmlns:a="http://schemas.openxmlformats.org/drawingml/2006/main">
            <a:off x="9039225"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Simpan penyelesaian</a:t>
            </a:r>
          </a:p>
        </p:txBody>
      </p:sp>
      <p:sp>
        <p:nvSpPr>
          <p:cNvPr id="12" name="">
            <a:extLst xmlns:a="http://schemas.openxmlformats.org/drawingml/2006/main">
              <a:ext uri="{FF2B5EF4-FFF2-40B4-BE49-F238E27FC236}">
                <a16:creationId xmlns:a16="http://schemas.microsoft.com/office/drawing/2014/main" id="{0D53812F-987D-4991-BA93-EBF602247181}"/>
              </a:ext>
            </a:extLst>
          </p:cNvPr>
          <p:cNvSpPr>
            <a:spLocks xmlns:a="http://schemas.openxmlformats.org/drawingml/2006/main" noGrp="1"/>
          </p:cNvSpPr>
          <p:nvPr/>
        </p:nvSpPr>
        <p:spPr>
          <a:xfrm xmlns:a="http://schemas.openxmlformats.org/drawingml/2006/main">
            <a:off x="609600"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Online: sistem, Duitku, dan rekening. Tunai: sistem, sesi kas, dan uang fisik.</a:t>
            </a:r>
          </a:p>
        </p:txBody>
      </p:sp>
      <p:sp>
        <p:nvSpPr>
          <p:cNvPr id="13" name="">
            <a:extLst xmlns:a="http://schemas.openxmlformats.org/drawingml/2006/main">
              <a:ext uri="{FF2B5EF4-FFF2-40B4-BE49-F238E27FC236}">
                <a16:creationId xmlns:a16="http://schemas.microsoft.com/office/drawing/2014/main" id="{606736EC-E0E9-45E4-9BE3-8A92AC198659}"/>
              </a:ext>
            </a:extLst>
          </p:cNvPr>
          <p:cNvSpPr>
            <a:spLocks xmlns:a="http://schemas.openxmlformats.org/drawingml/2006/main" noGrp="1"/>
          </p:cNvSpPr>
          <p:nvPr/>
        </p:nvSpPr>
        <p:spPr>
          <a:xfrm xmlns:a="http://schemas.openxmlformats.org/drawingml/2006/main">
            <a:off x="3419475"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Misalnya selisih nominal, dana tanpa tujuan yang jelas, atau kas kurang.</a:t>
            </a:r>
          </a:p>
        </p:txBody>
      </p:sp>
      <p:sp>
        <p:nvSpPr>
          <p:cNvPr id="14" name="">
            <a:extLst xmlns:a="http://schemas.openxmlformats.org/drawingml/2006/main">
              <a:ext uri="{FF2B5EF4-FFF2-40B4-BE49-F238E27FC236}">
                <a16:creationId xmlns:a16="http://schemas.microsoft.com/office/drawing/2014/main" id="{71B52189-A3DC-47F0-ACF0-CB86E1C99613}"/>
              </a:ext>
            </a:extLst>
          </p:cNvPr>
          <p:cNvSpPr>
            <a:spLocks xmlns:a="http://schemas.openxmlformats.org/drawingml/2006/main" noGrp="1"/>
          </p:cNvSpPr>
          <p:nvPr/>
        </p:nvSpPr>
        <p:spPr>
          <a:xfrm xmlns:a="http://schemas.openxmlformats.org/drawingml/2006/main">
            <a:off x="6229350"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Periksa nomor transaksi, bukti pembayaran, waktu, dan petugas.</a:t>
            </a:r>
          </a:p>
        </p:txBody>
      </p:sp>
      <p:sp>
        <p:nvSpPr>
          <p:cNvPr id="15" name="">
            <a:extLst xmlns:a="http://schemas.openxmlformats.org/drawingml/2006/main">
              <a:ext uri="{FF2B5EF4-FFF2-40B4-BE49-F238E27FC236}">
                <a16:creationId xmlns:a16="http://schemas.microsoft.com/office/drawing/2014/main" id="{18FC4C75-FA1B-4A2C-A408-6486872976FA}"/>
              </a:ext>
            </a:extLst>
          </p:cNvPr>
          <p:cNvSpPr>
            <a:spLocks xmlns:a="http://schemas.openxmlformats.org/drawingml/2006/main" noGrp="1"/>
          </p:cNvSpPr>
          <p:nvPr/>
        </p:nvSpPr>
        <p:spPr>
          <a:xfrm xmlns:a="http://schemas.openxmlformats.org/drawingml/2006/main">
            <a:off x="9039225"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Lakukan alokasi atau koreksi yang sah dengan alasan dan riwayat.</a:t>
            </a:r>
          </a:p>
        </p:txBody>
      </p:sp>
      <p:sp>
        <p:nvSpPr>
          <p:cNvPr id="16" name="">
            <a:extLst xmlns:a="http://schemas.openxmlformats.org/drawingml/2006/main">
              <a:ext uri="{FF2B5EF4-FFF2-40B4-BE49-F238E27FC236}">
                <a16:creationId xmlns:a16="http://schemas.microsoft.com/office/drawing/2014/main" id="{9561A58B-E07D-420E-B7D8-5C5713D97E28}"/>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Catatan transaksi asal tetap tersedia. Perbedaan tidak ditutup dengan mengedit angka diam-diam.</a:t>
            </a:r>
          </a:p>
        </p:txBody>
      </p:sp>
    </p:spTree>
    <p:extLst>
      <p:ext uri="{BB962C8B-B14F-4D97-AF65-F5344CB8AC3E}">
        <p14:creationId xmlns:p14="http://schemas.microsoft.com/office/powerpoint/2010/main" val="1132663979"/>
      </p:ext>
    </p:extLst>
  </p:cSld>
</p:sld>
</file>

<file path=ppt/slides/slide1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75B735-2BD4-42EA-B11F-4F99C18C80B4}"/>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 · Alur keseluruhan</a:t>
            </a:r>
          </a:p>
        </p:txBody>
      </p:sp>
      <p:sp>
        <p:nvSpPr>
          <p:cNvPr id="2" name="">
            <a:extLst xmlns:a="http://schemas.openxmlformats.org/drawingml/2006/main">
              <a:ext uri="{FF2B5EF4-FFF2-40B4-BE49-F238E27FC236}">
                <a16:creationId xmlns:a16="http://schemas.microsoft.com/office/drawing/2014/main" id="{7A86EEB1-99F4-4443-9360-CC585D4BBF14}"/>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Peralihan dari sistem lama</a:t>
            </a:r>
          </a:p>
        </p:txBody>
      </p:sp>
      <p:sp>
        <p:nvSpPr>
          <p:cNvPr id="3" name="">
            <a:extLst xmlns:a="http://schemas.openxmlformats.org/drawingml/2006/main">
              <a:ext uri="{FF2B5EF4-FFF2-40B4-BE49-F238E27FC236}">
                <a16:creationId xmlns:a16="http://schemas.microsoft.com/office/drawing/2014/main" id="{52A71F4F-CEC2-425A-A7A8-686153E46570}"/>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8EF0CC6F-9BD9-4F33-BB40-F45D5FD77121}"/>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13</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3048000"/>
                <a:gridCol w="7924800"/>
              </a:tblGrid>
              <a:tr h="428625">
                <a:tc>
                  <a:txBody>
                    <a:bodyPr/>
                    <a:lstStyle/>
                    <a:p>
                      <a:r>
                        <a:rPr sz="1725" b="1">
                          <a:solidFill>
                            <a:srgbClr val="FFFFFF"/>
                          </a:solidFill>
                          <a:latin typeface="Arial"/>
                          <a:ea typeface="Arial"/>
                          <a:cs typeface="Arial"/>
                        </a:rPr>
                        <a:t>Aspek</a:t>
                      </a:r>
                    </a:p>
                  </a:txBody>
                  <a:tcPr marL="85725" marR="85725" marT="19050" marB="19050">
                    <a:solidFill>
                      <a:srgbClr val="176B55"/>
                    </a:solidFill>
                  </a:tcPr>
                </a:tc>
                <a:tc>
                  <a:txBody>
                    <a:bodyPr/>
                    <a:lstStyle/>
                    <a:p>
                      <a:r>
                        <a:rPr sz="1725" b="1">
                          <a:solidFill>
                            <a:srgbClr val="FFFFFF"/>
                          </a:solidFill>
                          <a:latin typeface="Arial"/>
                          <a:ea typeface="Arial"/>
                          <a:cs typeface="Arial"/>
                        </a:rPr>
                        <a:t>Perlakuan pada sistem baru</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Data santri dan penyedia</a:t>
                      </a:r>
                    </a:p>
                  </a:txBody>
                  <a:tcPr marL="85725" marR="85725" marT="19050" marB="19050">
                    <a:solidFill>
                      <a:srgbClr val="FFFFFF"/>
                    </a:solidFill>
                  </a:tcPr>
                </a:tc>
                <a:tc>
                  <a:txBody>
                    <a:bodyPr/>
                    <a:lstStyle/>
                    <a:p>
                      <a:r>
                        <a:rPr sz="1725" b="0">
                          <a:solidFill>
                            <a:srgbClr val="293C37"/>
                          </a:solidFill>
                          <a:latin typeface="Arial"/>
                          <a:ea typeface="Arial"/>
                          <a:cs typeface="Arial"/>
                        </a:rPr>
                        <a:t>Tetap memakai data induk yang sudah ada.</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Pembayaran lama</a:t>
                      </a:r>
                    </a:p>
                  </a:txBody>
                  <a:tcPr marL="85725" marR="85725" marT="19050" marB="19050">
                    <a:solidFill>
                      <a:srgbClr val="E8F1EB"/>
                    </a:solidFill>
                  </a:tcPr>
                </a:tc>
                <a:tc>
                  <a:txBody>
                    <a:bodyPr/>
                    <a:lstStyle/>
                    <a:p>
                      <a:r>
                        <a:rPr sz="1725" b="0">
                          <a:solidFill>
                            <a:srgbClr val="293C37"/>
                          </a:solidFill>
                          <a:latin typeface="Arial"/>
                          <a:ea typeface="Arial"/>
                          <a:cs typeface="Arial"/>
                        </a:rPr>
                        <a:t>Tersedia mekanisme sinkronisasi dan penelusuran sumber transaksi lama.</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Dana pra-koperasi</a:t>
                      </a:r>
                    </a:p>
                  </a:txBody>
                  <a:tcPr marL="85725" marR="85725" marT="19050" marB="19050">
                    <a:solidFill>
                      <a:srgbClr val="FFFFFF"/>
                    </a:solidFill>
                  </a:tcPr>
                </a:tc>
                <a:tc>
                  <a:txBody>
                    <a:bodyPr/>
                    <a:lstStyle/>
                    <a:p>
                      <a:r>
                        <a:rPr sz="1725" b="0">
                          <a:solidFill>
                            <a:srgbClr val="293C37"/>
                          </a:solidFill>
                          <a:latin typeface="Arial"/>
                          <a:ea typeface="Arial"/>
                          <a:cs typeface="Arial"/>
                        </a:rPr>
                        <a:t>Dibedakan dari dana kelolaan koperasi agar tidak disalurkan ulang melalui alur koperasi.</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Saldo uang jajan lama</a:t>
                      </a:r>
                    </a:p>
                  </a:txBody>
                  <a:tcPr marL="85725" marR="85725" marT="19050" marB="19050">
                    <a:solidFill>
                      <a:srgbClr val="E8F1EB"/>
                    </a:solidFill>
                  </a:tcPr>
                </a:tc>
                <a:tc>
                  <a:txBody>
                    <a:bodyPr/>
                    <a:lstStyle/>
                    <a:p>
                      <a:r>
                        <a:rPr sz="1725" b="0">
                          <a:solidFill>
                            <a:srgbClr val="293C37"/>
                          </a:solidFill>
                          <a:latin typeface="Arial"/>
                          <a:ea typeface="Arial"/>
                          <a:cs typeface="Arial"/>
                        </a:rPr>
                        <a:t>Tidak diimpor. Saldo buku baru mulai Rp0 sesuai ketentuan sistem.</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Arsip lama</a:t>
                      </a:r>
                    </a:p>
                  </a:txBody>
                  <a:tcPr marL="85725" marR="85725" marT="19050" marB="19050">
                    <a:solidFill>
                      <a:srgbClr val="FFFFFF"/>
                    </a:solidFill>
                  </a:tcPr>
                </a:tc>
                <a:tc>
                  <a:txBody>
                    <a:bodyPr/>
                    <a:lstStyle/>
                    <a:p>
                      <a:r>
                        <a:rPr sz="1725" b="0">
                          <a:solidFill>
                            <a:srgbClr val="293C37"/>
                          </a:solidFill>
                          <a:latin typeface="Arial"/>
                          <a:ea typeface="Arial"/>
                          <a:cs typeface="Arial"/>
                        </a:rPr>
                        <a:t>Riwayat tetap disimpan untuk pemeriksaan dan pertanggungjawaban.</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4CDB222-FC2E-4C34-8C7B-1194D6A6C11E}"/>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Penyelesaian hak atas saldo lama perlu prosedur dan komunikasi tersendiri sebelum peralihan.</a:t>
            </a:r>
          </a:p>
        </p:txBody>
      </p:sp>
    </p:spTree>
    <p:extLst>
      <p:ext uri="{BB962C8B-B14F-4D97-AF65-F5344CB8AC3E}">
        <p14:creationId xmlns:p14="http://schemas.microsoft.com/office/powerpoint/2010/main" val="931945384"/>
      </p:ext>
    </p:extLst>
  </p:cSld>
</p:sld>
</file>

<file path=ppt/slides/slide14.xml><?xml version="1.0" encoding="utf-8"?>
<p:sld xmlns:p="http://schemas.openxmlformats.org/presentationml/2006/main">
  <p:cSld>
    <p:bg>
      <p:bgPr>
        <a:solidFill xmlns:a="http://schemas.openxmlformats.org/drawingml/2006/main">
          <a:srgbClr val="173C3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1D077E1-ECF4-4F66-ACF0-11A82ACB3139}"/>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C4D8C9"/>
                </a:solidFill>
                <a:latin typeface="Arial"/>
                <a:ea typeface="Arial"/>
                <a:cs typeface="Arial"/>
              </a:defRPr>
            </a:pPr>
            <a:r>
              <a:rPr sz="1800" b="1">
                <a:solidFill>
                  <a:srgbClr val="C4D8C9"/>
                </a:solidFill>
                <a:latin typeface="Arial"/>
                <a:ea typeface="Arial"/>
                <a:cs typeface="Arial"/>
              </a:rPr>
              <a:t>BAGIAN II</a:t>
            </a:r>
          </a:p>
        </p:txBody>
      </p:sp>
      <p:sp>
        <p:nvSpPr>
          <p:cNvPr id="2" name="">
            <a:extLst xmlns:a="http://schemas.openxmlformats.org/drawingml/2006/main">
              <a:ext uri="{FF2B5EF4-FFF2-40B4-BE49-F238E27FC236}">
                <a16:creationId xmlns:a16="http://schemas.microsoft.com/office/drawing/2014/main" id="{580EC4E2-6099-44CC-8617-288356316CF2}"/>
              </a:ext>
            </a:extLst>
          </p:cNvPr>
          <p:cNvSpPr>
            <a:spLocks xmlns:a="http://schemas.openxmlformats.org/drawingml/2006/main" noGrp="1"/>
          </p:cNvSpPr>
          <p:nvPr/>
        </p:nvSpPr>
        <p:spPr>
          <a:xfrm xmlns:a="http://schemas.openxmlformats.org/drawingml/2006/main">
            <a:off x="685800" y="1952625"/>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Penjelasan modul</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dan FAQ</a:t>
            </a:r>
          </a:p>
        </p:txBody>
      </p:sp>
      <p:sp>
        <p:nvSpPr>
          <p:cNvPr id="3" name="">
            <a:extLst xmlns:a="http://schemas.openxmlformats.org/drawingml/2006/main">
              <a:ext uri="{FF2B5EF4-FFF2-40B4-BE49-F238E27FC236}">
                <a16:creationId xmlns:a16="http://schemas.microsoft.com/office/drawing/2014/main" id="{DF1055C8-2502-490B-8276-4CCA1BAB2C8F}"/>
              </a:ext>
            </a:extLst>
          </p:cNvPr>
          <p:cNvSpPr>
            <a:spLocks xmlns:a="http://schemas.openxmlformats.org/drawingml/2006/main" noGrp="1"/>
          </p:cNvSpPr>
          <p:nvPr/>
        </p:nvSpPr>
        <p:spPr>
          <a:xfrm xmlns:a="http://schemas.openxmlformats.org/drawingml/2006/main">
            <a:off x="685800" y="433387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D8E5DC"/>
                </a:solidFill>
                <a:latin typeface="Arial"/>
                <a:ea typeface="Arial"/>
                <a:cs typeface="Arial"/>
              </a:defRPr>
            </a:pPr>
            <a:r>
              <a:rPr sz="2175" b="0">
                <a:solidFill>
                  <a:srgbClr val="D8E5DC"/>
                </a:solidFill>
                <a:latin typeface="Arial"/>
                <a:ea typeface="Arial"/>
                <a:cs typeface="Arial"/>
              </a:rPr>
              <a:t>Fungsi, pemakai, hasil yang dilihat, serta batasan yang perlu dipahami</a:t>
            </a:r>
          </a:p>
        </p:txBody>
      </p:sp>
    </p:spTree>
    <p:extLst>
      <p:ext uri="{BB962C8B-B14F-4D97-AF65-F5344CB8AC3E}">
        <p14:creationId xmlns:p14="http://schemas.microsoft.com/office/powerpoint/2010/main" val="858455181"/>
      </p:ext>
    </p:extLst>
  </p:cSld>
</p:sld>
</file>

<file path=ppt/slides/slide1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6F7557-9155-4781-9B12-0A3FF5488BED}"/>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AC19A759-C5EC-4EE3-8FB3-B84DF09685AC}"/>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Peta modul dan kebutuhan pengguna</a:t>
            </a:r>
          </a:p>
        </p:txBody>
      </p:sp>
      <p:sp>
        <p:nvSpPr>
          <p:cNvPr id="3" name="">
            <a:extLst xmlns:a="http://schemas.openxmlformats.org/drawingml/2006/main">
              <a:ext uri="{FF2B5EF4-FFF2-40B4-BE49-F238E27FC236}">
                <a16:creationId xmlns:a16="http://schemas.microsoft.com/office/drawing/2014/main" id="{7F59D157-1C0E-4C84-8455-CD4AEED66536}"/>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2B12AFFF-96EF-4CD6-87A7-B5546AACFCA9}"/>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15</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2095500"/>
                <a:gridCol w="4191000"/>
                <a:gridCol w="4686300"/>
              </a:tblGrid>
              <a:tr h="428625">
                <a:tc>
                  <a:txBody>
                    <a:bodyPr/>
                    <a:lstStyle/>
                    <a:p>
                      <a:r>
                        <a:rPr sz="1725" b="1">
                          <a:solidFill>
                            <a:srgbClr val="FFFFFF"/>
                          </a:solidFill>
                          <a:latin typeface="Arial"/>
                          <a:ea typeface="Arial"/>
                          <a:cs typeface="Arial"/>
                        </a:rPr>
                        <a:t>Kelompok</a:t>
                      </a:r>
                    </a:p>
                  </a:txBody>
                  <a:tcPr marL="85725" marR="85725" marT="19050" marB="19050">
                    <a:solidFill>
                      <a:srgbClr val="176B55"/>
                    </a:solidFill>
                  </a:tcPr>
                </a:tc>
                <a:tc>
                  <a:txBody>
                    <a:bodyPr/>
                    <a:lstStyle/>
                    <a:p>
                      <a:r>
                        <a:rPr sz="1725" b="1">
                          <a:solidFill>
                            <a:srgbClr val="FFFFFF"/>
                          </a:solidFill>
                          <a:latin typeface="Arial"/>
                          <a:ea typeface="Arial"/>
                          <a:cs typeface="Arial"/>
                        </a:rPr>
                        <a:t>Modul / layanan</a:t>
                      </a:r>
                    </a:p>
                  </a:txBody>
                  <a:tcPr marL="85725" marR="85725" marT="19050" marB="19050">
                    <a:solidFill>
                      <a:srgbClr val="176B55"/>
                    </a:solidFill>
                  </a:tcPr>
                </a:tc>
                <a:tc>
                  <a:txBody>
                    <a:bodyPr/>
                    <a:lstStyle/>
                    <a:p>
                      <a:r>
                        <a:rPr sz="1725" b="1">
                          <a:solidFill>
                            <a:srgbClr val="FFFFFF"/>
                          </a:solidFill>
                          <a:latin typeface="Arial"/>
                          <a:ea typeface="Arial"/>
                          <a:cs typeface="Arial"/>
                        </a:rPr>
                        <a:t>Kebutuhan yang dijawab</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Pemantauan</a:t>
                      </a:r>
                    </a:p>
                  </a:txBody>
                  <a:tcPr marL="85725" marR="85725" marT="19050" marB="19050">
                    <a:solidFill>
                      <a:srgbClr val="FFFFFF"/>
                    </a:solidFill>
                  </a:tcPr>
                </a:tc>
                <a:tc>
                  <a:txBody>
                    <a:bodyPr/>
                    <a:lstStyle/>
                    <a:p>
                      <a:r>
                        <a:rPr sz="1725" b="0">
                          <a:solidFill>
                            <a:srgbClr val="293C37"/>
                          </a:solidFill>
                          <a:latin typeface="Arial"/>
                          <a:ea typeface="Arial"/>
                          <a:cs typeface="Arial"/>
                        </a:rPr>
                        <a:t>Dashboard, Status Pembayaran</a:t>
                      </a:r>
                    </a:p>
                  </a:txBody>
                  <a:tcPr marL="85725" marR="85725" marT="19050" marB="19050">
                    <a:solidFill>
                      <a:srgbClr val="FFFFFF"/>
                    </a:solidFill>
                  </a:tcPr>
                </a:tc>
                <a:tc>
                  <a:txBody>
                    <a:bodyPr/>
                    <a:lstStyle/>
                    <a:p>
                      <a:r>
                        <a:rPr sz="1725" b="0">
                          <a:solidFill>
                            <a:srgbClr val="293C37"/>
                          </a:solidFill>
                          <a:latin typeface="Arial"/>
                          <a:ea typeface="Arial"/>
                          <a:cs typeface="Arial"/>
                        </a:rPr>
                        <a:t>Berapa penerimaan dan siapa yang masih menunggak?</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Aturan</a:t>
                      </a:r>
                    </a:p>
                  </a:txBody>
                  <a:tcPr marL="85725" marR="85725" marT="19050" marB="19050">
                    <a:solidFill>
                      <a:srgbClr val="E8F1EB"/>
                    </a:solidFill>
                  </a:tcPr>
                </a:tc>
                <a:tc>
                  <a:txBody>
                    <a:bodyPr/>
                    <a:lstStyle/>
                    <a:p>
                      <a:r>
                        <a:rPr sz="1725" b="0">
                          <a:solidFill>
                            <a:srgbClr val="293C37"/>
                          </a:solidFill>
                          <a:latin typeface="Arial"/>
                          <a:ea typeface="Arial"/>
                          <a:cs typeface="Arial"/>
                        </a:rPr>
                        <a:t>Pengaturan Keuangan</a:t>
                      </a:r>
                    </a:p>
                  </a:txBody>
                  <a:tcPr marL="85725" marR="85725" marT="19050" marB="19050">
                    <a:solidFill>
                      <a:srgbClr val="E8F1EB"/>
                    </a:solidFill>
                  </a:tcPr>
                </a:tc>
                <a:tc>
                  <a:txBody>
                    <a:bodyPr/>
                    <a:lstStyle/>
                    <a:p>
                      <a:r>
                        <a:rPr sz="1725" b="0">
                          <a:solidFill>
                            <a:srgbClr val="293C37"/>
                          </a:solidFill>
                          <a:latin typeface="Arial"/>
                          <a:ea typeface="Arial"/>
                          <a:cs typeface="Arial"/>
                        </a:rPr>
                        <a:t>Berapa tarif, siapa yang dibebaskan, dan berapa limit?</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Pelayanan</a:t>
                      </a:r>
                    </a:p>
                  </a:txBody>
                  <a:tcPr marL="85725" marR="85725" marT="19050" marB="19050">
                    <a:solidFill>
                      <a:srgbClr val="FFFFFF"/>
                    </a:solidFill>
                  </a:tcPr>
                </a:tc>
                <a:tc>
                  <a:txBody>
                    <a:bodyPr/>
                    <a:lstStyle/>
                    <a:p>
                      <a:r>
                        <a:rPr sz="1725" b="0">
                          <a:solidFill>
                            <a:srgbClr val="293C37"/>
                          </a:solidFill>
                          <a:latin typeface="Arial"/>
                          <a:ea typeface="Arial"/>
                          <a:cs typeface="Arial"/>
                        </a:rPr>
                        <a:t>Portal Orang Tua, Uang Jajan, Kredensial, Loket</a:t>
                      </a:r>
                    </a:p>
                  </a:txBody>
                  <a:tcPr marL="85725" marR="85725" marT="19050" marB="19050">
                    <a:solidFill>
                      <a:srgbClr val="FFFFFF"/>
                    </a:solidFill>
                  </a:tcPr>
                </a:tc>
                <a:tc>
                  <a:txBody>
                    <a:bodyPr/>
                    <a:lstStyle/>
                    <a:p>
                      <a:r>
                        <a:rPr sz="1725" b="0">
                          <a:solidFill>
                            <a:srgbClr val="293C37"/>
                          </a:solidFill>
                          <a:latin typeface="Arial"/>
                          <a:ea typeface="Arial"/>
                          <a:cs typeface="Arial"/>
                        </a:rPr>
                        <a:t>Bagaimana membayar, menyetor, dan mencairkan uang?</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Pengelolaan dana</a:t>
                      </a:r>
                    </a:p>
                  </a:txBody>
                  <a:tcPr marL="85725" marR="85725" marT="19050" marB="19050">
                    <a:solidFill>
                      <a:srgbClr val="E8F1EB"/>
                    </a:solidFill>
                  </a:tcPr>
                </a:tc>
                <a:tc>
                  <a:txBody>
                    <a:bodyPr/>
                    <a:lstStyle/>
                    <a:p>
                      <a:r>
                        <a:rPr sz="1725" b="0">
                          <a:solidFill>
                            <a:srgbClr val="293C37"/>
                          </a:solidFill>
                          <a:latin typeface="Arial"/>
                          <a:ea typeface="Arial"/>
                          <a:cs typeface="Arial"/>
                        </a:rPr>
                        <a:t>Penyaluran, Rekonsiliasi</a:t>
                      </a:r>
                    </a:p>
                  </a:txBody>
                  <a:tcPr marL="85725" marR="85725" marT="19050" marB="19050">
                    <a:solidFill>
                      <a:srgbClr val="E8F1EB"/>
                    </a:solidFill>
                  </a:tcPr>
                </a:tc>
                <a:tc>
                  <a:txBody>
                    <a:bodyPr/>
                    <a:lstStyle/>
                    <a:p>
                      <a:r>
                        <a:rPr sz="1725" b="0">
                          <a:solidFill>
                            <a:srgbClr val="293C37"/>
                          </a:solidFill>
                          <a:latin typeface="Arial"/>
                          <a:ea typeface="Arial"/>
                          <a:cs typeface="Arial"/>
                        </a:rPr>
                        <a:t>Kepada siapa dana diserahkan dan apakah sudah cocok?</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Pelaporan</a:t>
                      </a:r>
                    </a:p>
                  </a:txBody>
                  <a:tcPr marL="85725" marR="85725" marT="19050" marB="19050">
                    <a:solidFill>
                      <a:srgbClr val="FFFFFF"/>
                    </a:solidFill>
                  </a:tcPr>
                </a:tc>
                <a:tc>
                  <a:txBody>
                    <a:bodyPr/>
                    <a:lstStyle/>
                    <a:p>
                      <a:r>
                        <a:rPr sz="1725" b="0">
                          <a:solidFill>
                            <a:srgbClr val="293C37"/>
                          </a:solidFill>
                          <a:latin typeface="Arial"/>
                          <a:ea typeface="Arial"/>
                          <a:cs typeface="Arial"/>
                        </a:rPr>
                        <a:t>Riwayat Transaksi, Laporan &amp; Cetak</a:t>
                      </a:r>
                    </a:p>
                  </a:txBody>
                  <a:tcPr marL="85725" marR="85725" marT="19050" marB="19050">
                    <a:solidFill>
                      <a:srgbClr val="FFFFFF"/>
                    </a:solidFill>
                  </a:tcPr>
                </a:tc>
                <a:tc>
                  <a:txBody>
                    <a:bodyPr/>
                    <a:lstStyle/>
                    <a:p>
                      <a:r>
                        <a:rPr sz="1725" b="0">
                          <a:solidFill>
                            <a:srgbClr val="293C37"/>
                          </a:solidFill>
                          <a:latin typeface="Arial"/>
                          <a:ea typeface="Arial"/>
                          <a:cs typeface="Arial"/>
                        </a:rPr>
                        <a:t>Apa bukti transaksi dan bahan laporan pimpinan?</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2EAA01-15B7-48FC-BFBE-011E63A0D59E}"/>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Gateway, sesi kas, dan koreksi mendukung modul-modul tersebut.</a:t>
            </a:r>
          </a:p>
        </p:txBody>
      </p:sp>
    </p:spTree>
    <p:extLst>
      <p:ext uri="{BB962C8B-B14F-4D97-AF65-F5344CB8AC3E}">
        <p14:creationId xmlns:p14="http://schemas.microsoft.com/office/powerpoint/2010/main" val="1236927641"/>
      </p:ext>
    </p:extLst>
  </p:cSld>
</p:sld>
</file>

<file path=ppt/slides/slide1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D24DB5D-FB03-4797-A45C-226B4C0E07E0}"/>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585D0A9F-51D4-439F-BB49-7E59F7D4FCA4}"/>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Dashboard Keuangan</a:t>
            </a:r>
          </a:p>
        </p:txBody>
      </p:sp>
      <p:sp>
        <p:nvSpPr>
          <p:cNvPr id="3" name="">
            <a:extLst xmlns:a="http://schemas.openxmlformats.org/drawingml/2006/main">
              <a:ext uri="{FF2B5EF4-FFF2-40B4-BE49-F238E27FC236}">
                <a16:creationId xmlns:a16="http://schemas.microsoft.com/office/drawing/2014/main" id="{B31293A2-1DF6-44B7-A5AE-53D8E3907BB1}"/>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27F75D4C-570E-4733-A3F0-81DFB2B46AF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AE1722E8-1147-47FC-92AD-125EE6B5AE83}"/>
              </a:ext>
            </a:extLst>
          </p:cNvPr>
          <p:cNvSpPr>
            <a:spLocks xmlns:a="http://schemas.openxmlformats.org/drawingml/2006/main" noGrp="1"/>
          </p:cNvSpPr>
          <p:nvPr/>
        </p:nvSpPr>
        <p:spPr>
          <a:xfrm xmlns:a="http://schemas.openxmlformats.org/drawingml/2006/main">
            <a:off x="609600" y="1857375"/>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Tujuan</a:t>
            </a:r>
          </a:p>
        </p:txBody>
      </p:sp>
      <p:sp>
        <p:nvSpPr>
          <p:cNvPr id="6" name="">
            <a:extLst xmlns:a="http://schemas.openxmlformats.org/drawingml/2006/main">
              <a:ext uri="{FF2B5EF4-FFF2-40B4-BE49-F238E27FC236}">
                <a16:creationId xmlns:a16="http://schemas.microsoft.com/office/drawing/2014/main" id="{D9163437-1ECC-4537-BE56-D6859E98161D}"/>
              </a:ext>
            </a:extLst>
          </p:cNvPr>
          <p:cNvSpPr>
            <a:spLocks xmlns:a="http://schemas.openxmlformats.org/drawingml/2006/main" noGrp="1"/>
          </p:cNvSpPr>
          <p:nvPr/>
        </p:nvSpPr>
        <p:spPr>
          <a:xfrm xmlns:a="http://schemas.openxmlformats.org/drawingml/2006/main">
            <a:off x="3867150" y="1857375"/>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Memberi pimpinan dan bendahara gambaran penerimaan, tunggakan, serta dana yang perlu ditindaklanjuti.</a:t>
            </a:r>
          </a:p>
        </p:txBody>
      </p:sp>
      <p:sp>
        <p:nvSpPr>
          <p:cNvPr id="7" name="">
            <a:extLst xmlns:a="http://schemas.openxmlformats.org/drawingml/2006/main">
              <a:ext uri="{FF2B5EF4-FFF2-40B4-BE49-F238E27FC236}">
                <a16:creationId xmlns:a16="http://schemas.microsoft.com/office/drawing/2014/main" id="{B42551C0-9953-4D15-AAEE-A9B6F696BA21}"/>
              </a:ext>
            </a:extLst>
          </p:cNvPr>
          <p:cNvSpPr>
            <a:spLocks xmlns:a="http://schemas.openxmlformats.org/drawingml/2006/main" noGrp="1"/>
          </p:cNvSpPr>
          <p:nvPr/>
        </p:nvSpPr>
        <p:spPr>
          <a:xfrm xmlns:a="http://schemas.openxmlformats.org/drawingml/2006/main">
            <a:off x="609600" y="2726531"/>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Angka utama</a:t>
            </a:r>
          </a:p>
        </p:txBody>
      </p:sp>
      <p:sp>
        <p:nvSpPr>
          <p:cNvPr id="8" name="">
            <a:extLst xmlns:a="http://schemas.openxmlformats.org/drawingml/2006/main">
              <a:ext uri="{FF2B5EF4-FFF2-40B4-BE49-F238E27FC236}">
                <a16:creationId xmlns:a16="http://schemas.microsoft.com/office/drawing/2014/main" id="{CDA35C28-C99B-4797-AD9C-2D501CF93EA0}"/>
              </a:ext>
            </a:extLst>
          </p:cNvPr>
          <p:cNvSpPr>
            <a:spLocks xmlns:a="http://schemas.openxmlformats.org/drawingml/2006/main" noGrp="1"/>
          </p:cNvSpPr>
          <p:nvPr/>
        </p:nvSpPr>
        <p:spPr>
          <a:xfrm xmlns:a="http://schemas.openxmlformats.org/drawingml/2006/main">
            <a:off x="3867150" y="2726531"/>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Pembayaran online dan tunai, dana masuk rekening, penyaluran, serta total tunggakan.</a:t>
            </a:r>
          </a:p>
        </p:txBody>
      </p:sp>
      <p:sp>
        <p:nvSpPr>
          <p:cNvPr id="9" name="">
            <a:extLst xmlns:a="http://schemas.openxmlformats.org/drawingml/2006/main">
              <a:ext uri="{FF2B5EF4-FFF2-40B4-BE49-F238E27FC236}">
                <a16:creationId xmlns:a16="http://schemas.microsoft.com/office/drawing/2014/main" id="{A2101B92-287D-46D1-9998-C97CC183F6DA}"/>
              </a:ext>
            </a:extLst>
          </p:cNvPr>
          <p:cNvSpPr>
            <a:spLocks xmlns:a="http://schemas.openxmlformats.org/drawingml/2006/main" noGrp="1"/>
          </p:cNvSpPr>
          <p:nvPr/>
        </p:nvSpPr>
        <p:spPr>
          <a:xfrm xmlns:a="http://schemas.openxmlformats.org/drawingml/2006/main">
            <a:off x="609600" y="3595688"/>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Titipan santri</a:t>
            </a:r>
          </a:p>
        </p:txBody>
      </p:sp>
      <p:sp>
        <p:nvSpPr>
          <p:cNvPr id="10" name="">
            <a:extLst xmlns:a="http://schemas.openxmlformats.org/drawingml/2006/main">
              <a:ext uri="{FF2B5EF4-FFF2-40B4-BE49-F238E27FC236}">
                <a16:creationId xmlns:a16="http://schemas.microsoft.com/office/drawing/2014/main" id="{98324532-F65F-407D-A8FF-E75DEB815FB7}"/>
              </a:ext>
            </a:extLst>
          </p:cNvPr>
          <p:cNvSpPr>
            <a:spLocks xmlns:a="http://schemas.openxmlformats.org/drawingml/2006/main" noGrp="1"/>
          </p:cNvSpPr>
          <p:nvPr/>
        </p:nvSpPr>
        <p:spPr>
          <a:xfrm xmlns:a="http://schemas.openxmlformats.org/drawingml/2006/main">
            <a:off x="3867150" y="3595688"/>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Saldo dan aktivitas uang jajan tampil terpisah dari penerimaan pesantren.</a:t>
            </a:r>
          </a:p>
        </p:txBody>
      </p:sp>
      <p:sp>
        <p:nvSpPr>
          <p:cNvPr id="11" name="">
            <a:extLst xmlns:a="http://schemas.openxmlformats.org/drawingml/2006/main">
              <a:ext uri="{FF2B5EF4-FFF2-40B4-BE49-F238E27FC236}">
                <a16:creationId xmlns:a16="http://schemas.microsoft.com/office/drawing/2014/main" id="{29BB1F91-D36D-4194-8CB5-92853342F52B}"/>
              </a:ext>
            </a:extLst>
          </p:cNvPr>
          <p:cNvSpPr>
            <a:spLocks xmlns:a="http://schemas.openxmlformats.org/drawingml/2006/main" noGrp="1"/>
          </p:cNvSpPr>
          <p:nvPr/>
        </p:nvSpPr>
        <p:spPr>
          <a:xfrm xmlns:a="http://schemas.openxmlformats.org/drawingml/2006/main">
            <a:off x="609600" y="4464844"/>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Butuh perhatian</a:t>
            </a:r>
          </a:p>
        </p:txBody>
      </p:sp>
      <p:sp>
        <p:nvSpPr>
          <p:cNvPr id="12" name="">
            <a:extLst xmlns:a="http://schemas.openxmlformats.org/drawingml/2006/main">
              <a:ext uri="{FF2B5EF4-FFF2-40B4-BE49-F238E27FC236}">
                <a16:creationId xmlns:a16="http://schemas.microsoft.com/office/drawing/2014/main" id="{C4369F60-20A4-481F-9553-18F04B6D72E2}"/>
              </a:ext>
            </a:extLst>
          </p:cNvPr>
          <p:cNvSpPr>
            <a:spLocks xmlns:a="http://schemas.openxmlformats.org/drawingml/2006/main" noGrp="1"/>
          </p:cNvSpPr>
          <p:nvPr/>
        </p:nvSpPr>
        <p:spPr>
          <a:xfrm xmlns:a="http://schemas.openxmlformats.org/drawingml/2006/main">
            <a:off x="3867150" y="4464844"/>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Dana belum masuk rekening, perbedaan pencatatan, dan sesi kas yang masih terbuka.</a:t>
            </a:r>
          </a:p>
        </p:txBody>
      </p:sp>
      <p:sp>
        <p:nvSpPr>
          <p:cNvPr id="13" name="">
            <a:extLst xmlns:a="http://schemas.openxmlformats.org/drawingml/2006/main">
              <a:ext uri="{FF2B5EF4-FFF2-40B4-BE49-F238E27FC236}">
                <a16:creationId xmlns:a16="http://schemas.microsoft.com/office/drawing/2014/main" id="{CAFB78D8-B852-47D5-B484-D2098160DDE3}"/>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Gunakan periode yang sama ketika membandingkan dashboard dengan laporan.</a:t>
            </a:r>
          </a:p>
        </p:txBody>
      </p:sp>
    </p:spTree>
    <p:extLst>
      <p:ext uri="{BB962C8B-B14F-4D97-AF65-F5344CB8AC3E}">
        <p14:creationId xmlns:p14="http://schemas.microsoft.com/office/powerpoint/2010/main" val="903710060"/>
      </p:ext>
    </p:extLst>
  </p:cSld>
</p:sld>
</file>

<file path=ppt/slides/slide1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0DC883-5542-4CB7-8158-C7BBC0A19018}"/>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58C63278-089F-4264-A656-A415072EDACC}"/>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Pengaturan Keuangan</a:t>
            </a:r>
          </a:p>
        </p:txBody>
      </p:sp>
      <p:sp>
        <p:nvSpPr>
          <p:cNvPr id="3" name="">
            <a:extLst xmlns:a="http://schemas.openxmlformats.org/drawingml/2006/main">
              <a:ext uri="{FF2B5EF4-FFF2-40B4-BE49-F238E27FC236}">
                <a16:creationId xmlns:a16="http://schemas.microsoft.com/office/drawing/2014/main" id="{BCD52A53-A411-4AF1-AB21-C6AD3C718916}"/>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FB97754C-8CAD-4401-A77C-924FF3B6A477}"/>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17</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2857500"/>
                <a:gridCol w="3952875"/>
                <a:gridCol w="4162425"/>
              </a:tblGrid>
              <a:tr h="428625">
                <a:tc>
                  <a:txBody>
                    <a:bodyPr/>
                    <a:lstStyle/>
                    <a:p>
                      <a:r>
                        <a:rPr sz="1725" b="1">
                          <a:solidFill>
                            <a:srgbClr val="FFFFFF"/>
                          </a:solidFill>
                          <a:latin typeface="Arial"/>
                          <a:ea typeface="Arial"/>
                          <a:cs typeface="Arial"/>
                        </a:rPr>
                        <a:t>Tab</a:t>
                      </a:r>
                    </a:p>
                  </a:txBody>
                  <a:tcPr marL="85725" marR="85725" marT="19050" marB="19050">
                    <a:solidFill>
                      <a:srgbClr val="176B55"/>
                    </a:solidFill>
                  </a:tcPr>
                </a:tc>
                <a:tc>
                  <a:txBody>
                    <a:bodyPr/>
                    <a:lstStyle/>
                    <a:p>
                      <a:r>
                        <a:rPr sz="1725" b="1">
                          <a:solidFill>
                            <a:srgbClr val="FFFFFF"/>
                          </a:solidFill>
                          <a:latin typeface="Arial"/>
                          <a:ea typeface="Arial"/>
                          <a:cs typeface="Arial"/>
                        </a:rPr>
                        <a:t>Yang diatur</a:t>
                      </a:r>
                    </a:p>
                  </a:txBody>
                  <a:tcPr marL="85725" marR="85725" marT="19050" marB="19050">
                    <a:solidFill>
                      <a:srgbClr val="176B55"/>
                    </a:solidFill>
                  </a:tcPr>
                </a:tc>
                <a:tc>
                  <a:txBody>
                    <a:bodyPr/>
                    <a:lstStyle/>
                    <a:p>
                      <a:r>
                        <a:rPr sz="1725" b="1">
                          <a:solidFill>
                            <a:srgbClr val="FFFFFF"/>
                          </a:solidFill>
                          <a:latin typeface="Arial"/>
                          <a:ea typeface="Arial"/>
                          <a:cs typeface="Arial"/>
                        </a:rPr>
                        <a:t>Dampak operasional</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Tarif &amp; Cicilan</a:t>
                      </a:r>
                    </a:p>
                  </a:txBody>
                  <a:tcPr marL="85725" marR="85725" marT="19050" marB="19050">
                    <a:solidFill>
                      <a:srgbClr val="FFFFFF"/>
                    </a:solidFill>
                  </a:tcPr>
                </a:tc>
                <a:tc>
                  <a:txBody>
                    <a:bodyPr/>
                    <a:lstStyle/>
                    <a:p>
                      <a:r>
                        <a:rPr sz="1725" b="0">
                          <a:solidFill>
                            <a:srgbClr val="293C37"/>
                          </a:solidFill>
                          <a:latin typeface="Arial"/>
                          <a:ea typeface="Arial"/>
                          <a:cs typeface="Arial"/>
                        </a:rPr>
                        <a:t>Nominal, periode berlaku, tahun ajaran</a:t>
                      </a:r>
                    </a:p>
                  </a:txBody>
                  <a:tcPr marL="85725" marR="85725" marT="19050" marB="19050">
                    <a:solidFill>
                      <a:srgbClr val="FFFFFF"/>
                    </a:solidFill>
                  </a:tcPr>
                </a:tc>
                <a:tc>
                  <a:txBody>
                    <a:bodyPr/>
                    <a:lstStyle/>
                    <a:p>
                      <a:r>
                        <a:rPr sz="1725" b="0">
                          <a:solidFill>
                            <a:srgbClr val="293C37"/>
                          </a:solidFill>
                          <a:latin typeface="Arial"/>
                          <a:ea typeface="Arial"/>
                          <a:cs typeface="Arial"/>
                        </a:rPr>
                        <a:t>Menentukan kewajiban dan cara pembayaran</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Pembebasan Biaya</a:t>
                      </a:r>
                    </a:p>
                  </a:txBody>
                  <a:tcPr marL="85725" marR="85725" marT="19050" marB="19050">
                    <a:solidFill>
                      <a:srgbClr val="E8F1EB"/>
                    </a:solidFill>
                  </a:tcPr>
                </a:tc>
                <a:tc>
                  <a:txBody>
                    <a:bodyPr/>
                    <a:lstStyle/>
                    <a:p>
                      <a:r>
                        <a:rPr sz="1725" b="0">
                          <a:solidFill>
                            <a:srgbClr val="293C37"/>
                          </a:solidFill>
                          <a:latin typeface="Arial"/>
                          <a:ea typeface="Arial"/>
                          <a:cs typeface="Arial"/>
                        </a:rPr>
                        <a:t>Santri, item, periode, alasan</a:t>
                      </a:r>
                    </a:p>
                  </a:txBody>
                  <a:tcPr marL="85725" marR="85725" marT="19050" marB="19050">
                    <a:solidFill>
                      <a:srgbClr val="E8F1EB"/>
                    </a:solidFill>
                  </a:tcPr>
                </a:tc>
                <a:tc>
                  <a:txBody>
                    <a:bodyPr/>
                    <a:lstStyle/>
                    <a:p>
                      <a:r>
                        <a:rPr sz="1725" b="0">
                          <a:solidFill>
                            <a:srgbClr val="293C37"/>
                          </a:solidFill>
                          <a:latin typeface="Arial"/>
                          <a:ea typeface="Arial"/>
                          <a:cs typeface="Arial"/>
                        </a:rPr>
                        <a:t>Mengurangi atau membebaskan kewajiban yang sesuai</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Limit Uang Jajan</a:t>
                      </a:r>
                    </a:p>
                  </a:txBody>
                  <a:tcPr marL="85725" marR="85725" marT="19050" marB="19050">
                    <a:solidFill>
                      <a:srgbClr val="FFFFFF"/>
                    </a:solidFill>
                  </a:tcPr>
                </a:tc>
                <a:tc>
                  <a:txBody>
                    <a:bodyPr/>
                    <a:lstStyle/>
                    <a:p>
                      <a:r>
                        <a:rPr sz="1725" b="0">
                          <a:solidFill>
                            <a:srgbClr val="293C37"/>
                          </a:solidFill>
                          <a:latin typeface="Arial"/>
                          <a:ea typeface="Arial"/>
                          <a:cs typeface="Arial"/>
                        </a:rPr>
                        <a:t>Batas global pesantren</a:t>
                      </a:r>
                    </a:p>
                  </a:txBody>
                  <a:tcPr marL="85725" marR="85725" marT="19050" marB="19050">
                    <a:solidFill>
                      <a:srgbClr val="FFFFFF"/>
                    </a:solidFill>
                  </a:tcPr>
                </a:tc>
                <a:tc>
                  <a:txBody>
                    <a:bodyPr/>
                    <a:lstStyle/>
                    <a:p>
                      <a:r>
                        <a:rPr sz="1725" b="0">
                          <a:solidFill>
                            <a:srgbClr val="293C37"/>
                          </a:solidFill>
                          <a:latin typeface="Arial"/>
                          <a:ea typeface="Arial"/>
                          <a:cs typeface="Arial"/>
                        </a:rPr>
                        <a:t>Menjadi batas maksimum pencairan</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Payment Gateway Duitku</a:t>
                      </a:r>
                    </a:p>
                  </a:txBody>
                  <a:tcPr marL="85725" marR="85725" marT="19050" marB="19050">
                    <a:solidFill>
                      <a:srgbClr val="E8F1EB"/>
                    </a:solidFill>
                  </a:tcPr>
                </a:tc>
                <a:tc>
                  <a:txBody>
                    <a:bodyPr/>
                    <a:lstStyle/>
                    <a:p>
                      <a:r>
                        <a:rPr sz="1725" b="0">
                          <a:solidFill>
                            <a:srgbClr val="293C37"/>
                          </a:solidFill>
                          <a:latin typeface="Arial"/>
                          <a:ea typeface="Arial"/>
                          <a:cs typeface="Arial"/>
                        </a:rPr>
                        <a:t>Kanal, lingkungan uji/nyata, biaya layanan</a:t>
                      </a:r>
                    </a:p>
                  </a:txBody>
                  <a:tcPr marL="85725" marR="85725" marT="19050" marB="19050">
                    <a:solidFill>
                      <a:srgbClr val="E8F1EB"/>
                    </a:solidFill>
                  </a:tcPr>
                </a:tc>
                <a:tc>
                  <a:txBody>
                    <a:bodyPr/>
                    <a:lstStyle/>
                    <a:p>
                      <a:r>
                        <a:rPr sz="1725" b="0">
                          <a:solidFill>
                            <a:srgbClr val="293C37"/>
                          </a:solidFill>
                          <a:latin typeface="Arial"/>
                          <a:ea typeface="Arial"/>
                          <a:cs typeface="Arial"/>
                        </a:rPr>
                        <a:t>Menentukan pilihan pembayaran online</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Kop &amp; Cetak</a:t>
                      </a:r>
                    </a:p>
                  </a:txBody>
                  <a:tcPr marL="85725" marR="85725" marT="19050" marB="19050">
                    <a:solidFill>
                      <a:srgbClr val="FFFFFF"/>
                    </a:solidFill>
                  </a:tcPr>
                </a:tc>
                <a:tc>
                  <a:txBody>
                    <a:bodyPr/>
                    <a:lstStyle/>
                    <a:p>
                      <a:r>
                        <a:rPr sz="1725" b="0">
                          <a:solidFill>
                            <a:srgbClr val="293C37"/>
                          </a:solidFill>
                          <a:latin typeface="Arial"/>
                          <a:ea typeface="Arial"/>
                          <a:cs typeface="Arial"/>
                        </a:rPr>
                        <a:t>Identitas dan tampilan dokumen</a:t>
                      </a:r>
                    </a:p>
                  </a:txBody>
                  <a:tcPr marL="85725" marR="85725" marT="19050" marB="19050">
                    <a:solidFill>
                      <a:srgbClr val="FFFFFF"/>
                    </a:solidFill>
                  </a:tcPr>
                </a:tc>
                <a:tc>
                  <a:txBody>
                    <a:bodyPr/>
                    <a:lstStyle/>
                    <a:p>
                      <a:r>
                        <a:rPr sz="1725" b="0">
                          <a:solidFill>
                            <a:srgbClr val="293C37"/>
                          </a:solidFill>
                          <a:latin typeface="Arial"/>
                          <a:ea typeface="Arial"/>
                          <a:cs typeface="Arial"/>
                        </a:rPr>
                        <a:t>Menyeragamkan bukti dan laporan cetak</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079758D-FC8C-41E9-8A48-4D3484E66C44}"/>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Perubahan aturan berlaku sesuai periode. Transaksi sukses sebelumnya tetap memiliki riwayat.</a:t>
            </a:r>
          </a:p>
        </p:txBody>
      </p:sp>
    </p:spTree>
    <p:extLst>
      <p:ext uri="{BB962C8B-B14F-4D97-AF65-F5344CB8AC3E}">
        <p14:creationId xmlns:p14="http://schemas.microsoft.com/office/powerpoint/2010/main" val="781660577"/>
      </p:ext>
    </p:extLst>
  </p:cSld>
</p:sld>
</file>

<file path=ppt/slides/slide1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644817-41D8-4A2A-B302-0C3EEB360BDB}"/>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DD9F3D41-6484-4C27-AD67-2B0628793160}"/>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Jenis kewajiban dan aturan pembayaran</a:t>
            </a:r>
          </a:p>
        </p:txBody>
      </p:sp>
      <p:sp>
        <p:nvSpPr>
          <p:cNvPr id="3" name="">
            <a:extLst xmlns:a="http://schemas.openxmlformats.org/drawingml/2006/main">
              <a:ext uri="{FF2B5EF4-FFF2-40B4-BE49-F238E27FC236}">
                <a16:creationId xmlns:a16="http://schemas.microsoft.com/office/drawing/2014/main" id="{BE749359-88ED-4562-AE8E-E9EB82C6C856}"/>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83F80130-7085-4433-A0C2-20C1E567C63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18</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3333750"/>
                <a:gridCol w="2809875"/>
                <a:gridCol w="2571750"/>
                <a:gridCol w="2257425"/>
              </a:tblGrid>
              <a:tr h="428625">
                <a:tc>
                  <a:txBody>
                    <a:bodyPr/>
                    <a:lstStyle/>
                    <a:p>
                      <a:r>
                        <a:rPr sz="1725" b="1">
                          <a:solidFill>
                            <a:srgbClr val="FFFFFF"/>
                          </a:solidFill>
                          <a:latin typeface="Arial"/>
                          <a:ea typeface="Arial"/>
                          <a:cs typeface="Arial"/>
                        </a:rPr>
                        <a:t>Item</a:t>
                      </a:r>
                    </a:p>
                  </a:txBody>
                  <a:tcPr marL="85725" marR="85725" marT="19050" marB="19050">
                    <a:solidFill>
                      <a:srgbClr val="176B55"/>
                    </a:solidFill>
                  </a:tcPr>
                </a:tc>
                <a:tc>
                  <a:txBody>
                    <a:bodyPr/>
                    <a:lstStyle/>
                    <a:p>
                      <a:r>
                        <a:rPr sz="1725" b="1">
                          <a:solidFill>
                            <a:srgbClr val="FFFFFF"/>
                          </a:solidFill>
                          <a:latin typeface="Arial"/>
                          <a:ea typeface="Arial"/>
                          <a:cs typeface="Arial"/>
                        </a:rPr>
                        <a:t>Periode</a:t>
                      </a:r>
                    </a:p>
                  </a:txBody>
                  <a:tcPr marL="85725" marR="85725" marT="19050" marB="19050">
                    <a:solidFill>
                      <a:srgbClr val="176B55"/>
                    </a:solidFill>
                  </a:tcPr>
                </a:tc>
                <a:tc>
                  <a:txBody>
                    <a:bodyPr/>
                    <a:lstStyle/>
                    <a:p>
                      <a:r>
                        <a:rPr sz="1725" b="1">
                          <a:solidFill>
                            <a:srgbClr val="FFFFFF"/>
                          </a:solidFill>
                          <a:latin typeface="Arial"/>
                          <a:ea typeface="Arial"/>
                          <a:cs typeface="Arial"/>
                        </a:rPr>
                        <a:t>Cicilan</a:t>
                      </a:r>
                    </a:p>
                  </a:txBody>
                  <a:tcPr marL="85725" marR="85725" marT="19050" marB="19050">
                    <a:solidFill>
                      <a:srgbClr val="176B55"/>
                    </a:solidFill>
                  </a:tcPr>
                </a:tc>
                <a:tc>
                  <a:txBody>
                    <a:bodyPr/>
                    <a:lstStyle/>
                    <a:p>
                      <a:r>
                        <a:rPr sz="1725" b="1">
                          <a:solidFill>
                            <a:srgbClr val="FFFFFF"/>
                          </a:solidFill>
                          <a:latin typeface="Arial"/>
                          <a:ea typeface="Arial"/>
                          <a:cs typeface="Arial"/>
                        </a:rPr>
                        <a:t>Penerima</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SPP</a:t>
                      </a:r>
                    </a:p>
                  </a:txBody>
                  <a:tcPr marL="85725" marR="85725" marT="19050" marB="19050">
                    <a:solidFill>
                      <a:srgbClr val="FFFFFF"/>
                    </a:solidFill>
                  </a:tcPr>
                </a:tc>
                <a:tc>
                  <a:txBody>
                    <a:bodyPr/>
                    <a:lstStyle/>
                    <a:p>
                      <a:r>
                        <a:rPr sz="1725" b="0">
                          <a:solidFill>
                            <a:srgbClr val="293C37"/>
                          </a:solidFill>
                          <a:latin typeface="Arial"/>
                          <a:ea typeface="Arial"/>
                          <a:cs typeface="Arial"/>
                        </a:rPr>
                        <a:t>Bulanan</a:t>
                      </a:r>
                    </a:p>
                  </a:txBody>
                  <a:tcPr marL="85725" marR="85725" marT="19050" marB="19050">
                    <a:solidFill>
                      <a:srgbClr val="FFFFFF"/>
                    </a:solidFill>
                  </a:tcPr>
                </a:tc>
                <a:tc>
                  <a:txBody>
                    <a:bodyPr/>
                    <a:lstStyle/>
                    <a:p>
                      <a:r>
                        <a:rPr sz="1725" b="0">
                          <a:solidFill>
                            <a:srgbClr val="293C37"/>
                          </a:solidFill>
                          <a:latin typeface="Arial"/>
                          <a:ea typeface="Arial"/>
                          <a:cs typeface="Arial"/>
                        </a:rPr>
                        <a:t>Tidak boleh</a:t>
                      </a:r>
                    </a:p>
                  </a:txBody>
                  <a:tcPr marL="85725" marR="85725" marT="19050" marB="19050">
                    <a:solidFill>
                      <a:srgbClr val="FFFFFF"/>
                    </a:solidFill>
                  </a:tcPr>
                </a:tc>
                <a:tc>
                  <a:txBody>
                    <a:bodyPr/>
                    <a:lstStyle/>
                    <a:p>
                      <a:r>
                        <a:rPr sz="1725" b="0">
                          <a:solidFill>
                            <a:srgbClr val="293C37"/>
                          </a:solidFill>
                          <a:latin typeface="Arial"/>
                          <a:ea typeface="Arial"/>
                          <a:cs typeface="Arial"/>
                        </a:rPr>
                        <a:t>Bendahara</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Uang Makan / Nyuci</a:t>
                      </a:r>
                    </a:p>
                  </a:txBody>
                  <a:tcPr marL="85725" marR="85725" marT="19050" marB="19050">
                    <a:solidFill>
                      <a:srgbClr val="E8F1EB"/>
                    </a:solidFill>
                  </a:tcPr>
                </a:tc>
                <a:tc>
                  <a:txBody>
                    <a:bodyPr/>
                    <a:lstStyle/>
                    <a:p>
                      <a:r>
                        <a:rPr sz="1725" b="0">
                          <a:solidFill>
                            <a:srgbClr val="293C37"/>
                          </a:solidFill>
                          <a:latin typeface="Arial"/>
                          <a:ea typeface="Arial"/>
                          <a:cs typeface="Arial"/>
                        </a:rPr>
                        <a:t>Bulanan</a:t>
                      </a:r>
                    </a:p>
                  </a:txBody>
                  <a:tcPr marL="85725" marR="85725" marT="19050" marB="19050">
                    <a:solidFill>
                      <a:srgbClr val="E8F1EB"/>
                    </a:solidFill>
                  </a:tcPr>
                </a:tc>
                <a:tc>
                  <a:txBody>
                    <a:bodyPr/>
                    <a:lstStyle/>
                    <a:p>
                      <a:r>
                        <a:rPr sz="1725" b="0">
                          <a:solidFill>
                            <a:srgbClr val="293C37"/>
                          </a:solidFill>
                          <a:latin typeface="Arial"/>
                          <a:ea typeface="Arial"/>
                          <a:cs typeface="Arial"/>
                        </a:rPr>
                        <a:t>Sesuai pengaturan</a:t>
                      </a:r>
                    </a:p>
                  </a:txBody>
                  <a:tcPr marL="85725" marR="85725" marT="19050" marB="19050">
                    <a:solidFill>
                      <a:srgbClr val="E8F1EB"/>
                    </a:solidFill>
                  </a:tcPr>
                </a:tc>
                <a:tc>
                  <a:txBody>
                    <a:bodyPr/>
                    <a:lstStyle/>
                    <a:p>
                      <a:r>
                        <a:rPr sz="1725" b="0">
                          <a:solidFill>
                            <a:srgbClr val="293C37"/>
                          </a:solidFill>
                          <a:latin typeface="Arial"/>
                          <a:ea typeface="Arial"/>
                          <a:cs typeface="Arial"/>
                        </a:rPr>
                        <a:t>Katering / laundry</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EHB, Ekskul, Kesehatan</a:t>
                      </a:r>
                    </a:p>
                  </a:txBody>
                  <a:tcPr marL="85725" marR="85725" marT="19050" marB="19050">
                    <a:solidFill>
                      <a:srgbClr val="FFFFFF"/>
                    </a:solidFill>
                  </a:tcPr>
                </a:tc>
                <a:tc>
                  <a:txBody>
                    <a:bodyPr/>
                    <a:lstStyle/>
                    <a:p>
                      <a:r>
                        <a:rPr sz="1725" b="0">
                          <a:solidFill>
                            <a:srgbClr val="293C37"/>
                          </a:solidFill>
                          <a:latin typeface="Arial"/>
                          <a:ea typeface="Arial"/>
                          <a:cs typeface="Arial"/>
                        </a:rPr>
                        <a:t>Tahunan, tiga item terpisah</a:t>
                      </a:r>
                    </a:p>
                  </a:txBody>
                  <a:tcPr marL="85725" marR="85725" marT="19050" marB="19050">
                    <a:solidFill>
                      <a:srgbClr val="FFFFFF"/>
                    </a:solidFill>
                  </a:tcPr>
                </a:tc>
                <a:tc>
                  <a:txBody>
                    <a:bodyPr/>
                    <a:lstStyle/>
                    <a:p>
                      <a:r>
                        <a:rPr sz="1725" b="0">
                          <a:solidFill>
                            <a:srgbClr val="293C37"/>
                          </a:solidFill>
                          <a:latin typeface="Arial"/>
                          <a:ea typeface="Arial"/>
                          <a:cs typeface="Arial"/>
                        </a:rPr>
                        <a:t>Sesuai pengaturan</a:t>
                      </a:r>
                    </a:p>
                  </a:txBody>
                  <a:tcPr marL="85725" marR="85725" marT="19050" marB="19050">
                    <a:solidFill>
                      <a:srgbClr val="FFFFFF"/>
                    </a:solidFill>
                  </a:tcPr>
                </a:tc>
                <a:tc>
                  <a:txBody>
                    <a:bodyPr/>
                    <a:lstStyle/>
                    <a:p>
                      <a:r>
                        <a:rPr sz="1725" b="0">
                          <a:solidFill>
                            <a:srgbClr val="293C37"/>
                          </a:solidFill>
                          <a:latin typeface="Arial"/>
                          <a:ea typeface="Arial"/>
                          <a:cs typeface="Arial"/>
                        </a:rPr>
                        <a:t>Bendahara</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USPP / Uang Bangunan</a:t>
                      </a:r>
                    </a:p>
                  </a:txBody>
                  <a:tcPr marL="85725" marR="85725" marT="19050" marB="19050">
                    <a:solidFill>
                      <a:srgbClr val="E8F1EB"/>
                    </a:solidFill>
                  </a:tcPr>
                </a:tc>
                <a:tc>
                  <a:txBody>
                    <a:bodyPr/>
                    <a:lstStyle/>
                    <a:p>
                      <a:r>
                        <a:rPr sz="1725" b="0">
                          <a:solidFill>
                            <a:srgbClr val="293C37"/>
                          </a:solidFill>
                          <a:latin typeface="Arial"/>
                          <a:ea typeface="Arial"/>
                          <a:cs typeface="Arial"/>
                        </a:rPr>
                        <a:t>Sekali selama menjadi santri</a:t>
                      </a:r>
                    </a:p>
                  </a:txBody>
                  <a:tcPr marL="85725" marR="85725" marT="19050" marB="19050">
                    <a:solidFill>
                      <a:srgbClr val="E8F1EB"/>
                    </a:solidFill>
                  </a:tcPr>
                </a:tc>
                <a:tc>
                  <a:txBody>
                    <a:bodyPr/>
                    <a:lstStyle/>
                    <a:p>
                      <a:r>
                        <a:rPr sz="1725" b="0">
                          <a:solidFill>
                            <a:srgbClr val="293C37"/>
                          </a:solidFill>
                          <a:latin typeface="Arial"/>
                          <a:ea typeface="Arial"/>
                          <a:cs typeface="Arial"/>
                        </a:rPr>
                        <a:t>Selalu boleh</a:t>
                      </a:r>
                    </a:p>
                  </a:txBody>
                  <a:tcPr marL="85725" marR="85725" marT="19050" marB="19050">
                    <a:solidFill>
                      <a:srgbClr val="E8F1EB"/>
                    </a:solidFill>
                  </a:tcPr>
                </a:tc>
                <a:tc>
                  <a:txBody>
                    <a:bodyPr/>
                    <a:lstStyle/>
                    <a:p>
                      <a:r>
                        <a:rPr sz="1725" b="0">
                          <a:solidFill>
                            <a:srgbClr val="293C37"/>
                          </a:solidFill>
                          <a:latin typeface="Arial"/>
                          <a:ea typeface="Arial"/>
                          <a:cs typeface="Arial"/>
                        </a:rPr>
                        <a:t>Bendahara</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Uang Jajan</a:t>
                      </a:r>
                    </a:p>
                  </a:txBody>
                  <a:tcPr marL="85725" marR="85725" marT="19050" marB="19050">
                    <a:solidFill>
                      <a:srgbClr val="FFFFFF"/>
                    </a:solidFill>
                  </a:tcPr>
                </a:tc>
                <a:tc>
                  <a:txBody>
                    <a:bodyPr/>
                    <a:lstStyle/>
                    <a:p>
                      <a:r>
                        <a:rPr sz="1725" b="0">
                          <a:solidFill>
                            <a:srgbClr val="293C37"/>
                          </a:solidFill>
                          <a:latin typeface="Arial"/>
                          <a:ea typeface="Arial"/>
                          <a:cs typeface="Arial"/>
                        </a:rPr>
                        <a:t>Sesuai top-up / setoran</a:t>
                      </a:r>
                    </a:p>
                  </a:txBody>
                  <a:tcPr marL="85725" marR="85725" marT="19050" marB="19050">
                    <a:solidFill>
                      <a:srgbClr val="FFFFFF"/>
                    </a:solidFill>
                  </a:tcPr>
                </a:tc>
                <a:tc>
                  <a:txBody>
                    <a:bodyPr/>
                    <a:lstStyle/>
                    <a:p>
                      <a:r>
                        <a:rPr sz="1725" b="0">
                          <a:solidFill>
                            <a:srgbClr val="293C37"/>
                          </a:solidFill>
                          <a:latin typeface="Arial"/>
                          <a:ea typeface="Arial"/>
                          <a:cs typeface="Arial"/>
                        </a:rPr>
                        <a:t>Bukan tagihan cicilan</a:t>
                      </a:r>
                    </a:p>
                  </a:txBody>
                  <a:tcPr marL="85725" marR="85725" marT="19050" marB="19050">
                    <a:solidFill>
                      <a:srgbClr val="FFFFFF"/>
                    </a:solidFill>
                  </a:tcPr>
                </a:tc>
                <a:tc>
                  <a:txBody>
                    <a:bodyPr/>
                    <a:lstStyle/>
                    <a:p>
                      <a:r>
                        <a:rPr sz="1725" b="0">
                          <a:solidFill>
                            <a:srgbClr val="293C37"/>
                          </a:solidFill>
                          <a:latin typeface="Arial"/>
                          <a:ea typeface="Arial"/>
                          <a:cs typeface="Arial"/>
                        </a:rPr>
                        <a:t>Titipan milik santri</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6BB754B-E642-4310-9903-777171D334A6}"/>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Tahun ajaran berlangsung Juli–Juni. Pembayaran periode lalu atau mendatang mengikuti tagihan yang berlaku.</a:t>
            </a:r>
          </a:p>
        </p:txBody>
      </p:sp>
    </p:spTree>
    <p:extLst>
      <p:ext uri="{BB962C8B-B14F-4D97-AF65-F5344CB8AC3E}">
        <p14:creationId xmlns:p14="http://schemas.microsoft.com/office/powerpoint/2010/main" val="1523273602"/>
      </p:ext>
    </p:extLst>
  </p:cSld>
</p:sld>
</file>

<file path=ppt/slides/slide1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D21DBF-EDFC-45BB-AB82-02746E89C9B0}"/>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338DB6F4-3D3B-47C3-8643-B2B411AD156D}"/>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Pembebasan dan pengecualian santri</a:t>
            </a:r>
          </a:p>
        </p:txBody>
      </p:sp>
      <p:sp>
        <p:nvSpPr>
          <p:cNvPr id="3" name="">
            <a:extLst xmlns:a="http://schemas.openxmlformats.org/drawingml/2006/main">
              <a:ext uri="{FF2B5EF4-FFF2-40B4-BE49-F238E27FC236}">
                <a16:creationId xmlns:a16="http://schemas.microsoft.com/office/drawing/2014/main" id="{0766A6FA-0047-4710-ACE7-5C2ACF7CF725}"/>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A1B48C75-DC75-479A-99C7-38DEDB1B2C3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19</a:t>
            </a:r>
          </a:p>
        </p:txBody>
      </p:sp>
      <p:graphicFrame>
        <p:nvGraphicFramePr>
          <p:cNvPr id="11" name=""/>
          <p:cNvGraphicFramePr/>
          <p:nvPr/>
        </p:nvGraphicFramePr>
        <p:xfrm>
          <a:off xmlns:a="http://schemas.openxmlformats.org/drawingml/2006/main" x="609600" y="1666875"/>
          <a:ext xmlns:a="http://schemas.openxmlformats.org/drawingml/2006/main" cx="10972800" cy="3238500"/>
        </p:xfrm>
        <a:graphic xmlns:a="http://schemas.openxmlformats.org/drawingml/2006/main">
          <a:graphicData uri="http://schemas.openxmlformats.org/drawingml/2006/table">
            <a:tbl>
              <a:tblPr/>
              <a:tblGrid>
                <a:gridCol w="2476500"/>
                <a:gridCol w="4000500"/>
                <a:gridCol w="4495800"/>
              </a:tblGrid>
              <a:tr h="428625">
                <a:tc>
                  <a:txBody>
                    <a:bodyPr/>
                    <a:lstStyle/>
                    <a:p>
                      <a:r>
                        <a:rPr sz="1725" b="1">
                          <a:solidFill>
                            <a:srgbClr val="FFFFFF"/>
                          </a:solidFill>
                          <a:latin typeface="Arial"/>
                          <a:ea typeface="Arial"/>
                          <a:cs typeface="Arial"/>
                        </a:rPr>
                        <a:t>Kategori</a:t>
                      </a:r>
                    </a:p>
                  </a:txBody>
                  <a:tcPr marL="85725" marR="85725" marT="19050" marB="19050">
                    <a:solidFill>
                      <a:srgbClr val="176B55"/>
                    </a:solidFill>
                  </a:tcPr>
                </a:tc>
                <a:tc>
                  <a:txBody>
                    <a:bodyPr/>
                    <a:lstStyle/>
                    <a:p>
                      <a:r>
                        <a:rPr sz="1725" b="1">
                          <a:solidFill>
                            <a:srgbClr val="FFFFFF"/>
                          </a:solidFill>
                          <a:latin typeface="Arial"/>
                          <a:ea typeface="Arial"/>
                          <a:cs typeface="Arial"/>
                        </a:rPr>
                        <a:t>Perlakuan</a:t>
                      </a:r>
                    </a:p>
                  </a:txBody>
                  <a:tcPr marL="85725" marR="85725" marT="19050" marB="19050">
                    <a:solidFill>
                      <a:srgbClr val="176B55"/>
                    </a:solidFill>
                  </a:tcPr>
                </a:tc>
                <a:tc>
                  <a:txBody>
                    <a:bodyPr/>
                    <a:lstStyle/>
                    <a:p>
                      <a:r>
                        <a:rPr sz="1725" b="1">
                          <a:solidFill>
                            <a:srgbClr val="FFFFFF"/>
                          </a:solidFill>
                          <a:latin typeface="Arial"/>
                          <a:ea typeface="Arial"/>
                          <a:cs typeface="Arial"/>
                        </a:rPr>
                        <a:t>Yang perlu diperhatikan</a:t>
                      </a:r>
                    </a:p>
                  </a:txBody>
                  <a:tcPr marL="85725" marR="85725" marT="19050" marB="19050">
                    <a:solidFill>
                      <a:srgbClr val="176B55"/>
                    </a:solidFill>
                  </a:tcPr>
                </a:tc>
              </a:tr>
              <a:tr h="702469">
                <a:tc>
                  <a:txBody>
                    <a:bodyPr/>
                    <a:lstStyle/>
                    <a:p>
                      <a:r>
                        <a:rPr sz="1725" b="0">
                          <a:solidFill>
                            <a:srgbClr val="293C37"/>
                          </a:solidFill>
                          <a:latin typeface="Arial"/>
                          <a:ea typeface="Arial"/>
                          <a:cs typeface="Arial"/>
                        </a:rPr>
                        <a:t>AL-BAGHORY</a:t>
                      </a:r>
                    </a:p>
                  </a:txBody>
                  <a:tcPr marL="85725" marR="85725" marT="19050" marB="19050">
                    <a:solidFill>
                      <a:srgbClr val="FFFFFF"/>
                    </a:solidFill>
                  </a:tcPr>
                </a:tc>
                <a:tc>
                  <a:txBody>
                    <a:bodyPr/>
                    <a:lstStyle/>
                    <a:p>
                      <a:r>
                        <a:rPr sz="1725" b="0">
                          <a:solidFill>
                            <a:srgbClr val="293C37"/>
                          </a:solidFill>
                          <a:latin typeface="Arial"/>
                          <a:ea typeface="Arial"/>
                          <a:cs typeface="Arial"/>
                        </a:rPr>
                        <a:t>Bebas seluruh tagihan dan di luar layanan keuangan baru</a:t>
                      </a:r>
                    </a:p>
                  </a:txBody>
                  <a:tcPr marL="85725" marR="85725" marT="19050" marB="19050">
                    <a:solidFill>
                      <a:srgbClr val="FFFFFF"/>
                    </a:solidFill>
                  </a:tcPr>
                </a:tc>
                <a:tc>
                  <a:txBody>
                    <a:bodyPr/>
                    <a:lstStyle/>
                    <a:p>
                      <a:r>
                        <a:rPr sz="1725" b="0">
                          <a:solidFill>
                            <a:srgbClr val="293C37"/>
                          </a:solidFill>
                          <a:latin typeface="Arial"/>
                          <a:ea typeface="Arial"/>
                          <a:cs typeface="Arial"/>
                        </a:rPr>
                        <a:t>Tidak memiliki uang jajan, kartu, PIN, atau Fixed VA dalam modul ini.</a:t>
                      </a:r>
                    </a:p>
                  </a:txBody>
                  <a:tcPr marL="85725" marR="85725" marT="19050" marB="19050">
                    <a:solidFill>
                      <a:srgbClr val="FFFFFF"/>
                    </a:solidFill>
                  </a:tcPr>
                </a:tc>
              </a:tr>
              <a:tr h="702469">
                <a:tc>
                  <a:txBody>
                    <a:bodyPr/>
                    <a:lstStyle/>
                    <a:p>
                      <a:r>
                        <a:rPr sz="1725" b="0">
                          <a:solidFill>
                            <a:srgbClr val="293C37"/>
                          </a:solidFill>
                          <a:latin typeface="Arial"/>
                          <a:ea typeface="Arial"/>
                          <a:cs typeface="Arial"/>
                        </a:rPr>
                        <a:t>SADESA</a:t>
                      </a:r>
                    </a:p>
                  </a:txBody>
                  <a:tcPr marL="85725" marR="85725" marT="19050" marB="19050">
                    <a:solidFill>
                      <a:srgbClr val="E8F1EB"/>
                    </a:solidFill>
                  </a:tcPr>
                </a:tc>
                <a:tc>
                  <a:txBody>
                    <a:bodyPr/>
                    <a:lstStyle/>
                    <a:p>
                      <a:r>
                        <a:rPr sz="1725" b="0">
                          <a:solidFill>
                            <a:srgbClr val="293C37"/>
                          </a:solidFill>
                          <a:latin typeface="Arial"/>
                          <a:ea typeface="Arial"/>
                          <a:cs typeface="Arial"/>
                        </a:rPr>
                        <a:t>Bebas Uang Makan dan Uang Nyuci</a:t>
                      </a:r>
                    </a:p>
                  </a:txBody>
                  <a:tcPr marL="85725" marR="85725" marT="19050" marB="19050">
                    <a:solidFill>
                      <a:srgbClr val="E8F1EB"/>
                    </a:solidFill>
                  </a:tcPr>
                </a:tc>
                <a:tc>
                  <a:txBody>
                    <a:bodyPr/>
                    <a:lstStyle/>
                    <a:p>
                      <a:r>
                        <a:rPr sz="1725" b="0">
                          <a:solidFill>
                            <a:srgbClr val="293C37"/>
                          </a:solidFill>
                          <a:latin typeface="Arial"/>
                          <a:ea typeface="Arial"/>
                          <a:cs typeface="Arial"/>
                        </a:rPr>
                        <a:t>SPP, tahunan, dan USPP tetap dapat ditagihkan.</a:t>
                      </a:r>
                    </a:p>
                  </a:txBody>
                  <a:tcPr marL="85725" marR="85725" marT="19050" marB="19050">
                    <a:solidFill>
                      <a:srgbClr val="E8F1EB"/>
                    </a:solidFill>
                  </a:tcPr>
                </a:tc>
              </a:tr>
              <a:tr h="702469">
                <a:tc>
                  <a:txBody>
                    <a:bodyPr/>
                    <a:lstStyle/>
                    <a:p>
                      <a:r>
                        <a:rPr sz="1725" b="0">
                          <a:solidFill>
                            <a:srgbClr val="293C37"/>
                          </a:solidFill>
                          <a:latin typeface="Arial"/>
                          <a:ea typeface="Arial"/>
                          <a:cs typeface="Arial"/>
                        </a:rPr>
                        <a:t>Pembebasan khusus</a:t>
                      </a:r>
                    </a:p>
                  </a:txBody>
                  <a:tcPr marL="85725" marR="85725" marT="19050" marB="19050">
                    <a:solidFill>
                      <a:srgbClr val="FFFFFF"/>
                    </a:solidFill>
                  </a:tcPr>
                </a:tc>
                <a:tc>
                  <a:txBody>
                    <a:bodyPr/>
                    <a:lstStyle/>
                    <a:p>
                      <a:r>
                        <a:rPr sz="1725" b="0">
                          <a:solidFill>
                            <a:srgbClr val="293C37"/>
                          </a:solidFill>
                          <a:latin typeface="Arial"/>
                          <a:ea typeface="Arial"/>
                          <a:cs typeface="Arial"/>
                        </a:rPr>
                        <a:t>Bendahara menetapkan item dan masa berlaku</a:t>
                      </a:r>
                    </a:p>
                  </a:txBody>
                  <a:tcPr marL="85725" marR="85725" marT="19050" marB="19050">
                    <a:solidFill>
                      <a:srgbClr val="FFFFFF"/>
                    </a:solidFill>
                  </a:tcPr>
                </a:tc>
                <a:tc>
                  <a:txBody>
                    <a:bodyPr/>
                    <a:lstStyle/>
                    <a:p>
                      <a:r>
                        <a:rPr sz="1725" b="0">
                          <a:solidFill>
                            <a:srgbClr val="293C37"/>
                          </a:solidFill>
                          <a:latin typeface="Arial"/>
                          <a:ea typeface="Arial"/>
                          <a:cs typeface="Arial"/>
                        </a:rPr>
                        <a:t>Wajib ada alasan dan catatan penetapan.</a:t>
                      </a:r>
                    </a:p>
                  </a:txBody>
                  <a:tcPr marL="85725" marR="85725" marT="19050" marB="19050">
                    <a:solidFill>
                      <a:srgbClr val="FFFFFF"/>
                    </a:solidFill>
                  </a:tcPr>
                </a:tc>
              </a:tr>
              <a:tr h="702469">
                <a:tc>
                  <a:txBody>
                    <a:bodyPr/>
                    <a:lstStyle/>
                    <a:p>
                      <a:r>
                        <a:rPr sz="1725" b="0">
                          <a:solidFill>
                            <a:srgbClr val="293C37"/>
                          </a:solidFill>
                          <a:latin typeface="Arial"/>
                          <a:ea typeface="Arial"/>
                          <a:cs typeface="Arial"/>
                        </a:rPr>
                        <a:t>Transaksi sudah sukses</a:t>
                      </a:r>
                    </a:p>
                  </a:txBody>
                  <a:tcPr marL="85725" marR="85725" marT="19050" marB="19050">
                    <a:solidFill>
                      <a:srgbClr val="E8F1EB"/>
                    </a:solidFill>
                  </a:tcPr>
                </a:tc>
                <a:tc>
                  <a:txBody>
                    <a:bodyPr/>
                    <a:lstStyle/>
                    <a:p>
                      <a:r>
                        <a:rPr sz="1725" b="0">
                          <a:solidFill>
                            <a:srgbClr val="293C37"/>
                          </a:solidFill>
                          <a:latin typeface="Arial"/>
                          <a:ea typeface="Arial"/>
                          <a:cs typeface="Arial"/>
                        </a:rPr>
                        <a:t>Riwayat pembayaran tetap terjaga</a:t>
                      </a:r>
                    </a:p>
                  </a:txBody>
                  <a:tcPr marL="85725" marR="85725" marT="19050" marB="19050">
                    <a:solidFill>
                      <a:srgbClr val="E8F1EB"/>
                    </a:solidFill>
                  </a:tcPr>
                </a:tc>
                <a:tc>
                  <a:txBody>
                    <a:bodyPr/>
                    <a:lstStyle/>
                    <a:p>
                      <a:r>
                        <a:rPr sz="1725" b="0">
                          <a:solidFill>
                            <a:srgbClr val="293C37"/>
                          </a:solidFill>
                          <a:latin typeface="Arial"/>
                          <a:ea typeface="Arial"/>
                          <a:cs typeface="Arial"/>
                        </a:rPr>
                        <a:t>Pembebasan baru tidak otomatis membatalkan pembayaran lama.</a:t>
                      </a:r>
                    </a:p>
                  </a:txBody>
                  <a:tcPr marL="85725" marR="85725" marT="19050" marB="19050">
                    <a:solidFill>
                      <a:srgbClr val="E8F1EB"/>
                    </a:solidFill>
                  </a:tcPr>
                </a:tc>
              </a:tr>
            </a:tbl>
          </a:graphicData>
        </a:graphic>
      </p:graphicFrame>
      <p:sp>
        <p:nvSpPr>
          <p:cNvPr id="6" name="">
            <a:extLst xmlns:a="http://schemas.openxmlformats.org/drawingml/2006/main">
              <a:ext uri="{FF2B5EF4-FFF2-40B4-BE49-F238E27FC236}">
                <a16:creationId xmlns:a16="http://schemas.microsoft.com/office/drawing/2014/main" id="{264F67A1-046E-4180-A643-44ED02D816F7}"/>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Pembebasan SPP bagi SADESA harus ditetapkan secara khusus, bukan otomatis.</a:t>
            </a:r>
          </a:p>
        </p:txBody>
      </p:sp>
    </p:spTree>
    <p:extLst>
      <p:ext uri="{BB962C8B-B14F-4D97-AF65-F5344CB8AC3E}">
        <p14:creationId xmlns:p14="http://schemas.microsoft.com/office/powerpoint/2010/main" val="607780512"/>
      </p:ext>
    </p:extLst>
  </p:cSld>
</p:sld>
</file>

<file path=ppt/slides/slide2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B9E45D-B76C-4400-B2FC-43CCDC51E464}"/>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91C77972-857C-4366-8D9D-67B753B65968}"/>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Status Pembayaran</a:t>
            </a:r>
          </a:p>
        </p:txBody>
      </p:sp>
      <p:sp>
        <p:nvSpPr>
          <p:cNvPr id="3" name="">
            <a:extLst xmlns:a="http://schemas.openxmlformats.org/drawingml/2006/main">
              <a:ext uri="{FF2B5EF4-FFF2-40B4-BE49-F238E27FC236}">
                <a16:creationId xmlns:a16="http://schemas.microsoft.com/office/drawing/2014/main" id="{2DCFC1F1-8B71-444E-8EA6-7B45E9686A1C}"/>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8ACB5608-75D7-441A-B5A5-2DD68A06E2D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20</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2333625"/>
                <a:gridCol w="4000500"/>
                <a:gridCol w="4638675"/>
              </a:tblGrid>
              <a:tr h="428625">
                <a:tc>
                  <a:txBody>
                    <a:bodyPr/>
                    <a:lstStyle/>
                    <a:p>
                      <a:r>
                        <a:rPr sz="1725" b="1">
                          <a:solidFill>
                            <a:srgbClr val="FFFFFF"/>
                          </a:solidFill>
                          <a:latin typeface="Arial"/>
                          <a:ea typeface="Arial"/>
                          <a:cs typeface="Arial"/>
                        </a:rPr>
                        <a:t>Tab</a:t>
                      </a:r>
                    </a:p>
                  </a:txBody>
                  <a:tcPr marL="85725" marR="85725" marT="19050" marB="19050">
                    <a:solidFill>
                      <a:srgbClr val="176B55"/>
                    </a:solidFill>
                  </a:tcPr>
                </a:tc>
                <a:tc>
                  <a:txBody>
                    <a:bodyPr/>
                    <a:lstStyle/>
                    <a:p>
                      <a:r>
                        <a:rPr sz="1725" b="1">
                          <a:solidFill>
                            <a:srgbClr val="FFFFFF"/>
                          </a:solidFill>
                          <a:latin typeface="Arial"/>
                          <a:ea typeface="Arial"/>
                          <a:cs typeface="Arial"/>
                        </a:rPr>
                        <a:t>Informasi utama</a:t>
                      </a:r>
                    </a:p>
                  </a:txBody>
                  <a:tcPr marL="85725" marR="85725" marT="19050" marB="19050">
                    <a:solidFill>
                      <a:srgbClr val="176B55"/>
                    </a:solidFill>
                  </a:tcPr>
                </a:tc>
                <a:tc>
                  <a:txBody>
                    <a:bodyPr/>
                    <a:lstStyle/>
                    <a:p>
                      <a:r>
                        <a:rPr sz="1725" b="1">
                          <a:solidFill>
                            <a:srgbClr val="FFFFFF"/>
                          </a:solidFill>
                          <a:latin typeface="Arial"/>
                          <a:ea typeface="Arial"/>
                          <a:cs typeface="Arial"/>
                        </a:rPr>
                        <a:t>Contoh penggunaan</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Ringkasan</a:t>
                      </a:r>
                    </a:p>
                  </a:txBody>
                  <a:tcPr marL="85725" marR="85725" marT="19050" marB="19050">
                    <a:solidFill>
                      <a:srgbClr val="FFFFFF"/>
                    </a:solidFill>
                  </a:tcPr>
                </a:tc>
                <a:tc>
                  <a:txBody>
                    <a:bodyPr/>
                    <a:lstStyle/>
                    <a:p>
                      <a:r>
                        <a:rPr sz="1725" b="0">
                          <a:solidFill>
                            <a:srgbClr val="293C37"/>
                          </a:solidFill>
                          <a:latin typeface="Arial"/>
                          <a:ea typeface="Arial"/>
                          <a:cs typeface="Arial"/>
                        </a:rPr>
                        <a:t>Status setiap kelompok kewajiban per santri</a:t>
                      </a:r>
                    </a:p>
                  </a:txBody>
                  <a:tcPr marL="85725" marR="85725" marT="19050" marB="19050">
                    <a:solidFill>
                      <a:srgbClr val="FFFFFF"/>
                    </a:solidFill>
                  </a:tcPr>
                </a:tc>
                <a:tc>
                  <a:txBody>
                    <a:bodyPr/>
                    <a:lstStyle/>
                    <a:p>
                      <a:r>
                        <a:rPr sz="1725" b="0">
                          <a:solidFill>
                            <a:srgbClr val="293C37"/>
                          </a:solidFill>
                          <a:latin typeface="Arial"/>
                          <a:ea typeface="Arial"/>
                          <a:cs typeface="Arial"/>
                        </a:rPr>
                        <a:t>Memeriksa kondisi pembayaran seorang santri</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Bulanan</a:t>
                      </a:r>
                    </a:p>
                  </a:txBody>
                  <a:tcPr marL="85725" marR="85725" marT="19050" marB="19050">
                    <a:solidFill>
                      <a:srgbClr val="E8F1EB"/>
                    </a:solidFill>
                  </a:tcPr>
                </a:tc>
                <a:tc>
                  <a:txBody>
                    <a:bodyPr/>
                    <a:lstStyle/>
                    <a:p>
                      <a:r>
                        <a:rPr sz="1725" b="0">
                          <a:solidFill>
                            <a:srgbClr val="293C37"/>
                          </a:solidFill>
                          <a:latin typeface="Arial"/>
                          <a:ea typeface="Arial"/>
                          <a:cs typeface="Arial"/>
                        </a:rPr>
                        <a:t>SPP, Makan, Nyuci menurut bulan</a:t>
                      </a:r>
                    </a:p>
                  </a:txBody>
                  <a:tcPr marL="85725" marR="85725" marT="19050" marB="19050">
                    <a:solidFill>
                      <a:srgbClr val="E8F1EB"/>
                    </a:solidFill>
                  </a:tcPr>
                </a:tc>
                <a:tc>
                  <a:txBody>
                    <a:bodyPr/>
                    <a:lstStyle/>
                    <a:p>
                      <a:r>
                        <a:rPr sz="1725" b="0">
                          <a:solidFill>
                            <a:srgbClr val="293C37"/>
                          </a:solidFill>
                          <a:latin typeface="Arial"/>
                          <a:ea typeface="Arial"/>
                          <a:cs typeface="Arial"/>
                        </a:rPr>
                        <a:t>Menelusuri bulan yang belum lunas</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Tahunan</a:t>
                      </a:r>
                    </a:p>
                  </a:txBody>
                  <a:tcPr marL="85725" marR="85725" marT="19050" marB="19050">
                    <a:solidFill>
                      <a:srgbClr val="FFFFFF"/>
                    </a:solidFill>
                  </a:tcPr>
                </a:tc>
                <a:tc>
                  <a:txBody>
                    <a:bodyPr/>
                    <a:lstStyle/>
                    <a:p>
                      <a:r>
                        <a:rPr sz="1725" b="0">
                          <a:solidFill>
                            <a:srgbClr val="293C37"/>
                          </a:solidFill>
                          <a:latin typeface="Arial"/>
                          <a:ea typeface="Arial"/>
                          <a:cs typeface="Arial"/>
                        </a:rPr>
                        <a:t>EHB, Ekskul, Kesehatan</a:t>
                      </a:r>
                    </a:p>
                  </a:txBody>
                  <a:tcPr marL="85725" marR="85725" marT="19050" marB="19050">
                    <a:solidFill>
                      <a:srgbClr val="FFFFFF"/>
                    </a:solidFill>
                  </a:tcPr>
                </a:tc>
                <a:tc>
                  <a:txBody>
                    <a:bodyPr/>
                    <a:lstStyle/>
                    <a:p>
                      <a:r>
                        <a:rPr sz="1725" b="0">
                          <a:solidFill>
                            <a:srgbClr val="293C37"/>
                          </a:solidFill>
                          <a:latin typeface="Arial"/>
                          <a:ea typeface="Arial"/>
                          <a:cs typeface="Arial"/>
                        </a:rPr>
                        <a:t>Memeriksa tiga kewajiban tahun ajaran</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USPP</a:t>
                      </a:r>
                    </a:p>
                  </a:txBody>
                  <a:tcPr marL="85725" marR="85725" marT="19050" marB="19050">
                    <a:solidFill>
                      <a:srgbClr val="E8F1EB"/>
                    </a:solidFill>
                  </a:tcPr>
                </a:tc>
                <a:tc>
                  <a:txBody>
                    <a:bodyPr/>
                    <a:lstStyle/>
                    <a:p>
                      <a:r>
                        <a:rPr sz="1725" b="0">
                          <a:solidFill>
                            <a:srgbClr val="293C37"/>
                          </a:solidFill>
                          <a:latin typeface="Arial"/>
                          <a:ea typeface="Arial"/>
                          <a:cs typeface="Arial"/>
                        </a:rPr>
                        <a:t>Total, terbayar, sisa, riwayat cicilan</a:t>
                      </a:r>
                    </a:p>
                  </a:txBody>
                  <a:tcPr marL="85725" marR="85725" marT="19050" marB="19050">
                    <a:solidFill>
                      <a:srgbClr val="E8F1EB"/>
                    </a:solidFill>
                  </a:tcPr>
                </a:tc>
                <a:tc>
                  <a:txBody>
                    <a:bodyPr/>
                    <a:lstStyle/>
                    <a:p>
                      <a:r>
                        <a:rPr sz="1725" b="0">
                          <a:solidFill>
                            <a:srgbClr val="293C37"/>
                          </a:solidFill>
                          <a:latin typeface="Arial"/>
                          <a:ea typeface="Arial"/>
                          <a:cs typeface="Arial"/>
                        </a:rPr>
                        <a:t>Memantau sisa uang bangunan</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Tunggakan</a:t>
                      </a:r>
                    </a:p>
                  </a:txBody>
                  <a:tcPr marL="85725" marR="85725" marT="19050" marB="19050">
                    <a:solidFill>
                      <a:srgbClr val="FFFFFF"/>
                    </a:solidFill>
                  </a:tcPr>
                </a:tc>
                <a:tc>
                  <a:txBody>
                    <a:bodyPr/>
                    <a:lstStyle/>
                    <a:p>
                      <a:r>
                        <a:rPr sz="1725" b="0">
                          <a:solidFill>
                            <a:srgbClr val="293C37"/>
                          </a:solidFill>
                          <a:latin typeface="Arial"/>
                          <a:ea typeface="Arial"/>
                          <a:cs typeface="Arial"/>
                        </a:rPr>
                        <a:t>Kewajiban yang sudah jatuh tempo</a:t>
                      </a:r>
                    </a:p>
                  </a:txBody>
                  <a:tcPr marL="85725" marR="85725" marT="19050" marB="19050">
                    <a:solidFill>
                      <a:srgbClr val="FFFFFF"/>
                    </a:solidFill>
                  </a:tcPr>
                </a:tc>
                <a:tc>
                  <a:txBody>
                    <a:bodyPr/>
                    <a:lstStyle/>
                    <a:p>
                      <a:r>
                        <a:rPr sz="1725" b="0">
                          <a:solidFill>
                            <a:srgbClr val="293C37"/>
                          </a:solidFill>
                          <a:latin typeface="Arial"/>
                          <a:ea typeface="Arial"/>
                          <a:cs typeface="Arial"/>
                        </a:rPr>
                        <a:t>Menentukan tindak lanjut penagihan</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FE10060-45DE-44C9-9938-0A639F3161D5}"/>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Catat Pembayaran menerima tunai tanpa kartu atau PIN, tetapi tetap wajib memakai sesi kas.</a:t>
            </a:r>
          </a:p>
        </p:txBody>
      </p:sp>
    </p:spTree>
    <p:extLst>
      <p:ext uri="{BB962C8B-B14F-4D97-AF65-F5344CB8AC3E}">
        <p14:creationId xmlns:p14="http://schemas.microsoft.com/office/powerpoint/2010/main" val="1625475387"/>
      </p:ext>
    </p:extLst>
  </p:cSld>
</p:sld>
</file>

<file path=ppt/slides/slide2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DAD51D2-E508-414B-BE54-13D213BE1BE3}"/>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A2C2389C-16FC-4D6A-87E7-141E2D546578}"/>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Portal Orang Tua</a:t>
            </a:r>
          </a:p>
        </p:txBody>
      </p:sp>
      <p:sp>
        <p:nvSpPr>
          <p:cNvPr id="3" name="">
            <a:extLst xmlns:a="http://schemas.openxmlformats.org/drawingml/2006/main">
              <a:ext uri="{FF2B5EF4-FFF2-40B4-BE49-F238E27FC236}">
                <a16:creationId xmlns:a16="http://schemas.microsoft.com/office/drawing/2014/main" id="{3C0B066D-8D4D-4B44-BB43-D9B38743C052}"/>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7C84F521-6D1B-4B1E-B7F7-462A2B86083E}"/>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DE3F4F8D-CCBD-46BE-895A-517AE66C7812}"/>
              </a:ext>
            </a:extLst>
          </p:cNvPr>
          <p:cNvSpPr>
            <a:spLocks xmlns:a="http://schemas.openxmlformats.org/drawingml/2006/main" noGrp="1"/>
          </p:cNvSpPr>
          <p:nvPr/>
        </p:nvSpPr>
        <p:spPr>
          <a:xfrm xmlns:a="http://schemas.openxmlformats.org/drawingml/2006/main">
            <a:off x="609600" y="1857375"/>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Sebelum membayar</a:t>
            </a:r>
          </a:p>
        </p:txBody>
      </p:sp>
      <p:sp>
        <p:nvSpPr>
          <p:cNvPr id="6" name="">
            <a:extLst xmlns:a="http://schemas.openxmlformats.org/drawingml/2006/main">
              <a:ext uri="{FF2B5EF4-FFF2-40B4-BE49-F238E27FC236}">
                <a16:creationId xmlns:a16="http://schemas.microsoft.com/office/drawing/2014/main" id="{ED0FFB0A-46CF-4D95-8D14-E92969E7DF01}"/>
              </a:ext>
            </a:extLst>
          </p:cNvPr>
          <p:cNvSpPr>
            <a:spLocks xmlns:a="http://schemas.openxmlformats.org/drawingml/2006/main" noGrp="1"/>
          </p:cNvSpPr>
          <p:nvPr/>
        </p:nvSpPr>
        <p:spPr>
          <a:xfrm xmlns:a="http://schemas.openxmlformats.org/drawingml/2006/main">
            <a:off x="3867150" y="1857375"/>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Lihat kewajiban anak, pilih satu atau beberapa item, dan periksa periode serta jumlah.</a:t>
            </a:r>
          </a:p>
        </p:txBody>
      </p:sp>
      <p:sp>
        <p:nvSpPr>
          <p:cNvPr id="7" name="">
            <a:extLst xmlns:a="http://schemas.openxmlformats.org/drawingml/2006/main">
              <a:ext uri="{FF2B5EF4-FFF2-40B4-BE49-F238E27FC236}">
                <a16:creationId xmlns:a16="http://schemas.microsoft.com/office/drawing/2014/main" id="{F543EEFA-5502-489B-8B33-2191CB01D2D1}"/>
              </a:ext>
            </a:extLst>
          </p:cNvPr>
          <p:cNvSpPr>
            <a:spLocks xmlns:a="http://schemas.openxmlformats.org/drawingml/2006/main" noGrp="1"/>
          </p:cNvSpPr>
          <p:nvPr/>
        </p:nvSpPr>
        <p:spPr>
          <a:xfrm xmlns:a="http://schemas.openxmlformats.org/drawingml/2006/main">
            <a:off x="609600" y="2726531"/>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Saat membayar</a:t>
            </a:r>
          </a:p>
        </p:txBody>
      </p:sp>
      <p:sp>
        <p:nvSpPr>
          <p:cNvPr id="8" name="">
            <a:extLst xmlns:a="http://schemas.openxmlformats.org/drawingml/2006/main">
              <a:ext uri="{FF2B5EF4-FFF2-40B4-BE49-F238E27FC236}">
                <a16:creationId xmlns:a16="http://schemas.microsoft.com/office/drawing/2014/main" id="{23432399-52C2-42AB-B621-293BCC1537BD}"/>
              </a:ext>
            </a:extLst>
          </p:cNvPr>
          <p:cNvSpPr>
            <a:spLocks xmlns:a="http://schemas.openxmlformats.org/drawingml/2006/main" noGrp="1"/>
          </p:cNvSpPr>
          <p:nvPr/>
        </p:nvSpPr>
        <p:spPr>
          <a:xfrm xmlns:a="http://schemas.openxmlformats.org/drawingml/2006/main">
            <a:off x="3867150" y="2726531"/>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Ikuti instruksi VA atau QRIS yang aktif. Biaya layanan mengikuti pengaturan pesantren.</a:t>
            </a:r>
          </a:p>
        </p:txBody>
      </p:sp>
      <p:sp>
        <p:nvSpPr>
          <p:cNvPr id="9" name="">
            <a:extLst xmlns:a="http://schemas.openxmlformats.org/drawingml/2006/main">
              <a:ext uri="{FF2B5EF4-FFF2-40B4-BE49-F238E27FC236}">
                <a16:creationId xmlns:a16="http://schemas.microsoft.com/office/drawing/2014/main" id="{8B6771D6-8EDA-4403-BF1C-3EAB7F94A6D1}"/>
              </a:ext>
            </a:extLst>
          </p:cNvPr>
          <p:cNvSpPr>
            <a:spLocks xmlns:a="http://schemas.openxmlformats.org/drawingml/2006/main" noGrp="1"/>
          </p:cNvSpPr>
          <p:nvPr/>
        </p:nvSpPr>
        <p:spPr>
          <a:xfrm xmlns:a="http://schemas.openxmlformats.org/drawingml/2006/main">
            <a:off x="609600" y="3595688"/>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Setelah membayar</a:t>
            </a:r>
          </a:p>
        </p:txBody>
      </p:sp>
      <p:sp>
        <p:nvSpPr>
          <p:cNvPr id="10" name="">
            <a:extLst xmlns:a="http://schemas.openxmlformats.org/drawingml/2006/main">
              <a:ext uri="{FF2B5EF4-FFF2-40B4-BE49-F238E27FC236}">
                <a16:creationId xmlns:a16="http://schemas.microsoft.com/office/drawing/2014/main" id="{1E22A7AE-E9A2-47C2-8452-B1E172005B66}"/>
              </a:ext>
            </a:extLst>
          </p:cNvPr>
          <p:cNvSpPr>
            <a:spLocks xmlns:a="http://schemas.openxmlformats.org/drawingml/2006/main" noGrp="1"/>
          </p:cNvSpPr>
          <p:nvPr/>
        </p:nvSpPr>
        <p:spPr>
          <a:xfrm xmlns:a="http://schemas.openxmlformats.org/drawingml/2006/main">
            <a:off x="3867150" y="3595688"/>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Lihat hasil verifikasi, riwayat, dan bukti pembayaran.</a:t>
            </a:r>
          </a:p>
        </p:txBody>
      </p:sp>
      <p:sp>
        <p:nvSpPr>
          <p:cNvPr id="11" name="">
            <a:extLst xmlns:a="http://schemas.openxmlformats.org/drawingml/2006/main">
              <a:ext uri="{FF2B5EF4-FFF2-40B4-BE49-F238E27FC236}">
                <a16:creationId xmlns:a16="http://schemas.microsoft.com/office/drawing/2014/main" id="{3C622DD5-1319-4271-B02E-2E4BFE47DEA0}"/>
              </a:ext>
            </a:extLst>
          </p:cNvPr>
          <p:cNvSpPr>
            <a:spLocks xmlns:a="http://schemas.openxmlformats.org/drawingml/2006/main" noGrp="1"/>
          </p:cNvSpPr>
          <p:nvPr/>
        </p:nvSpPr>
        <p:spPr>
          <a:xfrm xmlns:a="http://schemas.openxmlformats.org/drawingml/2006/main">
            <a:off x="609600" y="4464844"/>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Uang jajan</a:t>
            </a:r>
          </a:p>
        </p:txBody>
      </p:sp>
      <p:sp>
        <p:nvSpPr>
          <p:cNvPr id="12" name="">
            <a:extLst xmlns:a="http://schemas.openxmlformats.org/drawingml/2006/main">
              <a:ext uri="{FF2B5EF4-FFF2-40B4-BE49-F238E27FC236}">
                <a16:creationId xmlns:a16="http://schemas.microsoft.com/office/drawing/2014/main" id="{255DA1B8-0733-4CCE-87E9-6BCF4D95CFC1}"/>
              </a:ext>
            </a:extLst>
          </p:cNvPr>
          <p:cNvSpPr>
            <a:spLocks xmlns:a="http://schemas.openxmlformats.org/drawingml/2006/main" noGrp="1"/>
          </p:cNvSpPr>
          <p:nvPr/>
        </p:nvSpPr>
        <p:spPr>
          <a:xfrm xmlns:a="http://schemas.openxmlformats.org/drawingml/2006/main">
            <a:off x="3867150" y="4464844"/>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Isi saldo dan tetapkan batas pencairan anak melalui layanan portal.</a:t>
            </a:r>
          </a:p>
        </p:txBody>
      </p:sp>
      <p:sp>
        <p:nvSpPr>
          <p:cNvPr id="13" name="">
            <a:extLst xmlns:a="http://schemas.openxmlformats.org/drawingml/2006/main">
              <a:ext uri="{FF2B5EF4-FFF2-40B4-BE49-F238E27FC236}">
                <a16:creationId xmlns:a16="http://schemas.microsoft.com/office/drawing/2014/main" id="{4FE50D19-AA17-44BB-83A4-7FA986721D97}"/>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Kesiapan pembayaran online nyata perlu konfirmasi akun layanan Duitku, kanal, dan uji transaksi.</a:t>
            </a:r>
          </a:p>
        </p:txBody>
      </p:sp>
    </p:spTree>
    <p:extLst>
      <p:ext uri="{BB962C8B-B14F-4D97-AF65-F5344CB8AC3E}">
        <p14:creationId xmlns:p14="http://schemas.microsoft.com/office/powerpoint/2010/main" val="1647307597"/>
      </p:ext>
    </p:extLst>
  </p:cSld>
</p:sld>
</file>

<file path=ppt/slides/slide2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E4E0E9-23F0-4B44-8475-D65FE49FE788}"/>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E209A3DF-EA64-4541-94EF-C42E15CC313D}"/>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Duitku, Fixed VA, dan biaya layanan</a:t>
            </a:r>
          </a:p>
        </p:txBody>
      </p:sp>
      <p:sp>
        <p:nvSpPr>
          <p:cNvPr id="3" name="">
            <a:extLst xmlns:a="http://schemas.openxmlformats.org/drawingml/2006/main">
              <a:ext uri="{FF2B5EF4-FFF2-40B4-BE49-F238E27FC236}">
                <a16:creationId xmlns:a16="http://schemas.microsoft.com/office/drawing/2014/main" id="{BDE63FB9-10C2-4CCA-929D-A6C7E9E11882}"/>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99D5D3AC-9474-4DC9-93A4-F965067FCD2B}"/>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22</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2952750"/>
                <a:gridCol w="8020050"/>
              </a:tblGrid>
              <a:tr h="428625">
                <a:tc>
                  <a:txBody>
                    <a:bodyPr/>
                    <a:lstStyle/>
                    <a:p>
                      <a:r>
                        <a:rPr sz="1725" b="1">
                          <a:solidFill>
                            <a:srgbClr val="FFFFFF"/>
                          </a:solidFill>
                          <a:latin typeface="Arial"/>
                          <a:ea typeface="Arial"/>
                          <a:cs typeface="Arial"/>
                        </a:rPr>
                        <a:t>Konsep</a:t>
                      </a:r>
                    </a:p>
                  </a:txBody>
                  <a:tcPr marL="85725" marR="85725" marT="19050" marB="19050">
                    <a:solidFill>
                      <a:srgbClr val="176B55"/>
                    </a:solidFill>
                  </a:tcPr>
                </a:tc>
                <a:tc>
                  <a:txBody>
                    <a:bodyPr/>
                    <a:lstStyle/>
                    <a:p>
                      <a:r>
                        <a:rPr sz="1725" b="1">
                          <a:solidFill>
                            <a:srgbClr val="FFFFFF"/>
                          </a:solidFill>
                          <a:latin typeface="Arial"/>
                          <a:ea typeface="Arial"/>
                          <a:cs typeface="Arial"/>
                        </a:rPr>
                        <a:t>Arti bagi orang tua / pesantren</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VA per pesanan</a:t>
                      </a:r>
                    </a:p>
                  </a:txBody>
                  <a:tcPr marL="85725" marR="85725" marT="19050" marB="19050">
                    <a:solidFill>
                      <a:srgbClr val="FFFFFF"/>
                    </a:solidFill>
                  </a:tcPr>
                </a:tc>
                <a:tc>
                  <a:txBody>
                    <a:bodyPr/>
                    <a:lstStyle/>
                    <a:p>
                      <a:r>
                        <a:rPr sz="1725" b="0">
                          <a:solidFill>
                            <a:srgbClr val="293C37"/>
                          </a:solidFill>
                          <a:latin typeface="Arial"/>
                          <a:ea typeface="Arial"/>
                          <a:cs typeface="Arial"/>
                        </a:rPr>
                        <a:t>Nomor atau instruksi pembayaran untuk pesanan pembayaran tertentu.</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Fixed VA</a:t>
                      </a:r>
                    </a:p>
                  </a:txBody>
                  <a:tcPr marL="85725" marR="85725" marT="19050" marB="19050">
                    <a:solidFill>
                      <a:srgbClr val="E8F1EB"/>
                    </a:solidFill>
                  </a:tcPr>
                </a:tc>
                <a:tc>
                  <a:txBody>
                    <a:bodyPr/>
                    <a:lstStyle/>
                    <a:p>
                      <a:r>
                        <a:rPr sz="1725" b="0">
                          <a:solidFill>
                            <a:srgbClr val="293C37"/>
                          </a:solidFill>
                          <a:latin typeface="Arial"/>
                          <a:ea typeface="Arial"/>
                          <a:cs typeface="Arial"/>
                        </a:rPr>
                        <a:t>Target sistem: nomor VA tetap milik santri untuk pembayaran berulang.</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Biaya oleh orang tua</a:t>
                      </a:r>
                    </a:p>
                  </a:txBody>
                  <a:tcPr marL="85725" marR="85725" marT="19050" marB="19050">
                    <a:solidFill>
                      <a:srgbClr val="FFFFFF"/>
                    </a:solidFill>
                  </a:tcPr>
                </a:tc>
                <a:tc>
                  <a:txBody>
                    <a:bodyPr/>
                    <a:lstStyle/>
                    <a:p>
                      <a:r>
                        <a:rPr sz="1725" b="0">
                          <a:solidFill>
                            <a:srgbClr val="293C37"/>
                          </a:solidFill>
                          <a:latin typeface="Arial"/>
                          <a:ea typeface="Arial"/>
                          <a:cs typeface="Arial"/>
                        </a:rPr>
                        <a:t>Jumlah yang dibayar dapat mencakup tagihan ditambah biaya layanan.</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Biaya oleh pesantren</a:t>
                      </a:r>
                    </a:p>
                  </a:txBody>
                  <a:tcPr marL="85725" marR="85725" marT="19050" marB="19050">
                    <a:solidFill>
                      <a:srgbClr val="E8F1EB"/>
                    </a:solidFill>
                  </a:tcPr>
                </a:tc>
                <a:tc>
                  <a:txBody>
                    <a:bodyPr/>
                    <a:lstStyle/>
                    <a:p>
                      <a:r>
                        <a:rPr sz="1725" b="0">
                          <a:solidFill>
                            <a:srgbClr val="293C37"/>
                          </a:solidFill>
                          <a:latin typeface="Arial"/>
                          <a:ea typeface="Arial"/>
                          <a:cs typeface="Arial"/>
                        </a:rPr>
                        <a:t>Pesantren menanggung biaya sehingga dana bersih berbeda dari nilai tagihan.</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Kesiapan integrasi</a:t>
                      </a:r>
                    </a:p>
                  </a:txBody>
                  <a:tcPr marL="85725" marR="85725" marT="19050" marB="19050">
                    <a:solidFill>
                      <a:srgbClr val="FFFFFF"/>
                    </a:solidFill>
                  </a:tcPr>
                </a:tc>
                <a:tc>
                  <a:txBody>
                    <a:bodyPr/>
                    <a:lstStyle/>
                    <a:p>
                      <a:r>
                        <a:rPr sz="1725" b="0">
                          <a:solidFill>
                            <a:srgbClr val="293C37"/>
                          </a:solidFill>
                          <a:latin typeface="Arial"/>
                          <a:ea typeface="Arial"/>
                          <a:cs typeface="Arial"/>
                        </a:rPr>
                        <a:t>Dukungan VA dan QRIS ada pada kode aplikasi. Penerbitan Fixed VA menyeluruh belum terkonfirmasi.</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7E8FC82-DD9C-4360-82DF-B52511C489B4}"/>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Nomor VA dari satu pesanan belum membuktikan bahwa layanan Fixed VA permanen sudah aktif.</a:t>
            </a:r>
          </a:p>
        </p:txBody>
      </p:sp>
    </p:spTree>
    <p:extLst>
      <p:ext uri="{BB962C8B-B14F-4D97-AF65-F5344CB8AC3E}">
        <p14:creationId xmlns:p14="http://schemas.microsoft.com/office/powerpoint/2010/main" val="773022809"/>
      </p:ext>
    </p:extLst>
  </p:cSld>
</p:sld>
</file>

<file path=ppt/slides/slide2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DF6FA81-C949-4E6D-A361-F59CC21B8CCF}"/>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7F780ECD-15BE-49F7-9A1A-6CDBE1572CE7}"/>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Uang Jajan</a:t>
            </a:r>
          </a:p>
        </p:txBody>
      </p:sp>
      <p:sp>
        <p:nvSpPr>
          <p:cNvPr id="3" name="">
            <a:extLst xmlns:a="http://schemas.openxmlformats.org/drawingml/2006/main">
              <a:ext uri="{FF2B5EF4-FFF2-40B4-BE49-F238E27FC236}">
                <a16:creationId xmlns:a16="http://schemas.microsoft.com/office/drawing/2014/main" id="{0124CF02-4D83-4947-A0AB-26EFF389A383}"/>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EFCBF1A5-8E64-4ED2-AFC1-2789E4243C1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7F88F327-C610-4C44-B5E8-308F0B555795}"/>
              </a:ext>
            </a:extLst>
          </p:cNvPr>
          <p:cNvSpPr>
            <a:spLocks xmlns:a="http://schemas.openxmlformats.org/drawingml/2006/main" noGrp="1"/>
          </p:cNvSpPr>
          <p:nvPr/>
        </p:nvSpPr>
        <p:spPr>
          <a:xfrm xmlns:a="http://schemas.openxmlformats.org/drawingml/2006/main">
            <a:off x="609600" y="1857375"/>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Tujuan</a:t>
            </a:r>
          </a:p>
        </p:txBody>
      </p:sp>
      <p:sp>
        <p:nvSpPr>
          <p:cNvPr id="6" name="">
            <a:extLst xmlns:a="http://schemas.openxmlformats.org/drawingml/2006/main">
              <a:ext uri="{FF2B5EF4-FFF2-40B4-BE49-F238E27FC236}">
                <a16:creationId xmlns:a16="http://schemas.microsoft.com/office/drawing/2014/main" id="{D6FECB86-2CC2-4FB9-B7F6-2CA837EB094B}"/>
              </a:ext>
            </a:extLst>
          </p:cNvPr>
          <p:cNvSpPr>
            <a:spLocks xmlns:a="http://schemas.openxmlformats.org/drawingml/2006/main" noGrp="1"/>
          </p:cNvSpPr>
          <p:nvPr/>
        </p:nvSpPr>
        <p:spPr>
          <a:xfrm xmlns:a="http://schemas.openxmlformats.org/drawingml/2006/main">
            <a:off x="3867150" y="1857375"/>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Mengetahui saldo titipan setiap santri dan setiap perubahan yang membentuk saldo tersebut.</a:t>
            </a:r>
          </a:p>
        </p:txBody>
      </p:sp>
      <p:sp>
        <p:nvSpPr>
          <p:cNvPr id="7" name="">
            <a:extLst xmlns:a="http://schemas.openxmlformats.org/drawingml/2006/main">
              <a:ext uri="{FF2B5EF4-FFF2-40B4-BE49-F238E27FC236}">
                <a16:creationId xmlns:a16="http://schemas.microsoft.com/office/drawing/2014/main" id="{10FBE80A-FBB3-421A-AFD3-44F1FA888107}"/>
              </a:ext>
            </a:extLst>
          </p:cNvPr>
          <p:cNvSpPr>
            <a:spLocks xmlns:a="http://schemas.openxmlformats.org/drawingml/2006/main" noGrp="1"/>
          </p:cNvSpPr>
          <p:nvPr/>
        </p:nvSpPr>
        <p:spPr>
          <a:xfrm xmlns:a="http://schemas.openxmlformats.org/drawingml/2006/main">
            <a:off x="609600" y="2726531"/>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Yang terlihat</a:t>
            </a:r>
          </a:p>
        </p:txBody>
      </p:sp>
      <p:sp>
        <p:nvSpPr>
          <p:cNvPr id="8" name="">
            <a:extLst xmlns:a="http://schemas.openxmlformats.org/drawingml/2006/main">
              <a:ext uri="{FF2B5EF4-FFF2-40B4-BE49-F238E27FC236}">
                <a16:creationId xmlns:a16="http://schemas.microsoft.com/office/drawing/2014/main" id="{3EE05537-C48D-4C8E-AC5F-CF024EF66DBB}"/>
              </a:ext>
            </a:extLst>
          </p:cNvPr>
          <p:cNvSpPr>
            <a:spLocks xmlns:a="http://schemas.openxmlformats.org/drawingml/2006/main" noGrp="1"/>
          </p:cNvSpPr>
          <p:nvPr/>
        </p:nvSpPr>
        <p:spPr>
          <a:xfrm xmlns:a="http://schemas.openxmlformats.org/drawingml/2006/main">
            <a:off x="3867150" y="2726531"/>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Saldo, batas pencairan, top-up terakhir, penarikan terakhir, dan rincian transaksi.</a:t>
            </a:r>
          </a:p>
        </p:txBody>
      </p:sp>
      <p:sp>
        <p:nvSpPr>
          <p:cNvPr id="9" name="">
            <a:extLst xmlns:a="http://schemas.openxmlformats.org/drawingml/2006/main">
              <a:ext uri="{FF2B5EF4-FFF2-40B4-BE49-F238E27FC236}">
                <a16:creationId xmlns:a16="http://schemas.microsoft.com/office/drawing/2014/main" id="{E860B775-BBE3-4003-80B8-1F894A81EAA5}"/>
              </a:ext>
            </a:extLst>
          </p:cNvPr>
          <p:cNvSpPr>
            <a:spLocks xmlns:a="http://schemas.openxmlformats.org/drawingml/2006/main" noGrp="1"/>
          </p:cNvSpPr>
          <p:nvPr/>
        </p:nvSpPr>
        <p:spPr>
          <a:xfrm xmlns:a="http://schemas.openxmlformats.org/drawingml/2006/main">
            <a:off x="609600" y="3595688"/>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Cara menghitung</a:t>
            </a:r>
          </a:p>
        </p:txBody>
      </p:sp>
      <p:sp>
        <p:nvSpPr>
          <p:cNvPr id="10" name="">
            <a:extLst xmlns:a="http://schemas.openxmlformats.org/drawingml/2006/main">
              <a:ext uri="{FF2B5EF4-FFF2-40B4-BE49-F238E27FC236}">
                <a16:creationId xmlns:a16="http://schemas.microsoft.com/office/drawing/2014/main" id="{417F34C7-EBA1-4021-8B00-45A9AC745FF3}"/>
              </a:ext>
            </a:extLst>
          </p:cNvPr>
          <p:cNvSpPr>
            <a:spLocks xmlns:a="http://schemas.openxmlformats.org/drawingml/2006/main" noGrp="1"/>
          </p:cNvSpPr>
          <p:nvPr/>
        </p:nvSpPr>
        <p:spPr>
          <a:xfrm xmlns:a="http://schemas.openxmlformats.org/drawingml/2006/main">
            <a:off x="3867150" y="3595688"/>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Saldo berasal dari jumlah setoran dan pencairan yang sah. Petugas tidak mengedit saldo secara bebas.</a:t>
            </a:r>
          </a:p>
        </p:txBody>
      </p:sp>
      <p:sp>
        <p:nvSpPr>
          <p:cNvPr id="11" name="">
            <a:extLst xmlns:a="http://schemas.openxmlformats.org/drawingml/2006/main">
              <a:ext uri="{FF2B5EF4-FFF2-40B4-BE49-F238E27FC236}">
                <a16:creationId xmlns:a16="http://schemas.microsoft.com/office/drawing/2014/main" id="{3F75A498-BD2B-42BA-B19E-3E8E7CD7F7A9}"/>
              </a:ext>
            </a:extLst>
          </p:cNvPr>
          <p:cNvSpPr>
            <a:spLocks xmlns:a="http://schemas.openxmlformats.org/drawingml/2006/main" noGrp="1"/>
          </p:cNvSpPr>
          <p:nvPr/>
        </p:nvSpPr>
        <p:spPr>
          <a:xfrm xmlns:a="http://schemas.openxmlformats.org/drawingml/2006/main">
            <a:off x="609600" y="4464844"/>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Batas pencairan</a:t>
            </a:r>
          </a:p>
        </p:txBody>
      </p:sp>
      <p:sp>
        <p:nvSpPr>
          <p:cNvPr id="12" name="">
            <a:extLst xmlns:a="http://schemas.openxmlformats.org/drawingml/2006/main">
              <a:ext uri="{FF2B5EF4-FFF2-40B4-BE49-F238E27FC236}">
                <a16:creationId xmlns:a16="http://schemas.microsoft.com/office/drawing/2014/main" id="{32E848C2-EB7C-434A-8DD4-66868DA0B4E6}"/>
              </a:ext>
            </a:extLst>
          </p:cNvPr>
          <p:cNvSpPr>
            <a:spLocks xmlns:a="http://schemas.openxmlformats.org/drawingml/2006/main" noGrp="1"/>
          </p:cNvSpPr>
          <p:nvPr/>
        </p:nvSpPr>
        <p:spPr>
          <a:xfrm xmlns:a="http://schemas.openxmlformats.org/drawingml/2006/main">
            <a:off x="3867150" y="4464844"/>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Batas pesantren dan orang tua berlaku bersama. Batas yang lebih ketat menjadi pengaman.</a:t>
            </a:r>
          </a:p>
        </p:txBody>
      </p:sp>
      <p:sp>
        <p:nvSpPr>
          <p:cNvPr id="13" name="">
            <a:extLst xmlns:a="http://schemas.openxmlformats.org/drawingml/2006/main">
              <a:ext uri="{FF2B5EF4-FFF2-40B4-BE49-F238E27FC236}">
                <a16:creationId xmlns:a16="http://schemas.microsoft.com/office/drawing/2014/main" id="{C1EA7F9B-27DC-4BDE-A153-A1CB1ECBB4FC}"/>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Contoh: batas pesantren Rp100.000/hari dan orang tua Rp50.000/hari menghasilkan batas Rp50.000/hari.</a:t>
            </a:r>
          </a:p>
        </p:txBody>
      </p:sp>
    </p:spTree>
    <p:extLst>
      <p:ext uri="{BB962C8B-B14F-4D97-AF65-F5344CB8AC3E}">
        <p14:creationId xmlns:p14="http://schemas.microsoft.com/office/powerpoint/2010/main" val="1085234200"/>
      </p:ext>
    </p:extLst>
  </p:cSld>
</p:sld>
</file>

<file path=ppt/slides/slide2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1BDC13D-5D66-46EA-8178-EBD7C4271E3F}"/>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FF4CDAC6-8AC1-41A3-BB65-EB354DEC911C}"/>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Kredensial: kartu QR dan PIN</a:t>
            </a:r>
          </a:p>
        </p:txBody>
      </p:sp>
      <p:sp>
        <p:nvSpPr>
          <p:cNvPr id="3" name="">
            <a:extLst xmlns:a="http://schemas.openxmlformats.org/drawingml/2006/main">
              <a:ext uri="{FF2B5EF4-FFF2-40B4-BE49-F238E27FC236}">
                <a16:creationId xmlns:a16="http://schemas.microsoft.com/office/drawing/2014/main" id="{070911C1-D087-4EE8-B007-441B06CDB8F9}"/>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8F53829A-5D8B-4C07-9890-DCBCC94085D1}"/>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ABD519C-8E0C-46A0-AC12-5E21211935BA}"/>
              </a:ext>
            </a:extLst>
          </p:cNvPr>
          <p:cNvSpPr>
            <a:spLocks xmlns:a="http://schemas.openxmlformats.org/drawingml/2006/main" noGrp="1"/>
          </p:cNvSpPr>
          <p:nvPr/>
        </p:nvSpPr>
        <p:spPr>
          <a:xfrm xmlns:a="http://schemas.openxmlformats.org/drawingml/2006/main">
            <a:off x="609600" y="1857375"/>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Kartu santri</a:t>
            </a:r>
          </a:p>
        </p:txBody>
      </p:sp>
      <p:sp>
        <p:nvSpPr>
          <p:cNvPr id="6" name="">
            <a:extLst xmlns:a="http://schemas.openxmlformats.org/drawingml/2006/main">
              <a:ext uri="{FF2B5EF4-FFF2-40B4-BE49-F238E27FC236}">
                <a16:creationId xmlns:a16="http://schemas.microsoft.com/office/drawing/2014/main" id="{AE34FB6D-0F37-41AA-8C74-154EB7E02925}"/>
              </a:ext>
            </a:extLst>
          </p:cNvPr>
          <p:cNvSpPr>
            <a:spLocks xmlns:a="http://schemas.openxmlformats.org/drawingml/2006/main" noGrp="1"/>
          </p:cNvSpPr>
          <p:nvPr/>
        </p:nvSpPr>
        <p:spPr>
          <a:xfrm xmlns:a="http://schemas.openxmlformats.org/drawingml/2006/main">
            <a:off x="3867150" y="1857375"/>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Memuat foto, nama, NIS, asrama, serta QR untuk mengenali akun santri.</a:t>
            </a:r>
          </a:p>
        </p:txBody>
      </p:sp>
      <p:sp>
        <p:nvSpPr>
          <p:cNvPr id="7" name="">
            <a:extLst xmlns:a="http://schemas.openxmlformats.org/drawingml/2006/main">
              <a:ext uri="{FF2B5EF4-FFF2-40B4-BE49-F238E27FC236}">
                <a16:creationId xmlns:a16="http://schemas.microsoft.com/office/drawing/2014/main" id="{73F26F35-50E6-4907-A3DB-92D9A923A788}"/>
              </a:ext>
            </a:extLst>
          </p:cNvPr>
          <p:cNvSpPr>
            <a:spLocks xmlns:a="http://schemas.openxmlformats.org/drawingml/2006/main" noGrp="1"/>
          </p:cNvSpPr>
          <p:nvPr/>
        </p:nvSpPr>
        <p:spPr>
          <a:xfrm xmlns:a="http://schemas.openxmlformats.org/drawingml/2006/main">
            <a:off x="609600" y="2726531"/>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Kartu aktif</a:t>
            </a:r>
          </a:p>
        </p:txBody>
      </p:sp>
      <p:sp>
        <p:nvSpPr>
          <p:cNvPr id="8" name="">
            <a:extLst xmlns:a="http://schemas.openxmlformats.org/drawingml/2006/main">
              <a:ext uri="{FF2B5EF4-FFF2-40B4-BE49-F238E27FC236}">
                <a16:creationId xmlns:a16="http://schemas.microsoft.com/office/drawing/2014/main" id="{3E4C8227-7C3F-42DB-80EB-CCB41E2A64EE}"/>
              </a:ext>
            </a:extLst>
          </p:cNvPr>
          <p:cNvSpPr>
            <a:spLocks xmlns:a="http://schemas.openxmlformats.org/drawingml/2006/main" noGrp="1"/>
          </p:cNvSpPr>
          <p:nvPr/>
        </p:nvSpPr>
        <p:spPr>
          <a:xfrm xmlns:a="http://schemas.openxmlformats.org/drawingml/2006/main">
            <a:off x="3867150" y="2726531"/>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Maksimal satu kartu aktif per santri. Kartu hilang dapat dinonaktifkan dan diganti.</a:t>
            </a:r>
          </a:p>
        </p:txBody>
      </p:sp>
      <p:sp>
        <p:nvSpPr>
          <p:cNvPr id="9" name="">
            <a:extLst xmlns:a="http://schemas.openxmlformats.org/drawingml/2006/main">
              <a:ext uri="{FF2B5EF4-FFF2-40B4-BE49-F238E27FC236}">
                <a16:creationId xmlns:a16="http://schemas.microsoft.com/office/drawing/2014/main" id="{DF3EEF33-5004-4A13-94B0-F015D87EB698}"/>
              </a:ext>
            </a:extLst>
          </p:cNvPr>
          <p:cNvSpPr>
            <a:spLocks xmlns:a="http://schemas.openxmlformats.org/drawingml/2006/main" noGrp="1"/>
          </p:cNvSpPr>
          <p:nvPr/>
        </p:nvSpPr>
        <p:spPr>
          <a:xfrm xmlns:a="http://schemas.openxmlformats.org/drawingml/2006/main">
            <a:off x="609600" y="3595688"/>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PIN</a:t>
            </a:r>
          </a:p>
        </p:txBody>
      </p:sp>
      <p:sp>
        <p:nvSpPr>
          <p:cNvPr id="10" name="">
            <a:extLst xmlns:a="http://schemas.openxmlformats.org/drawingml/2006/main">
              <a:ext uri="{FF2B5EF4-FFF2-40B4-BE49-F238E27FC236}">
                <a16:creationId xmlns:a16="http://schemas.microsoft.com/office/drawing/2014/main" id="{4405EC81-1D87-4B15-8312-6841F4AAC0D2}"/>
              </a:ext>
            </a:extLst>
          </p:cNvPr>
          <p:cNvSpPr>
            <a:spLocks xmlns:a="http://schemas.openxmlformats.org/drawingml/2006/main" noGrp="1"/>
          </p:cNvSpPr>
          <p:nvPr/>
        </p:nvSpPr>
        <p:spPr>
          <a:xfrm xmlns:a="http://schemas.openxmlformats.org/drawingml/2006/main">
            <a:off x="3867150" y="3595688"/>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PIN terdiri dari enam digit. Tiga kesalahan memicu penguncian sementara selama 15 menit.</a:t>
            </a:r>
          </a:p>
        </p:txBody>
      </p:sp>
      <p:sp>
        <p:nvSpPr>
          <p:cNvPr id="11" name="">
            <a:extLst xmlns:a="http://schemas.openxmlformats.org/drawingml/2006/main">
              <a:ext uri="{FF2B5EF4-FFF2-40B4-BE49-F238E27FC236}">
                <a16:creationId xmlns:a16="http://schemas.microsoft.com/office/drawing/2014/main" id="{01E42CBB-F14D-4BCC-A7B6-4954E94D9A10}"/>
              </a:ext>
            </a:extLst>
          </p:cNvPr>
          <p:cNvSpPr>
            <a:spLocks xmlns:a="http://schemas.openxmlformats.org/drawingml/2006/main" noGrp="1"/>
          </p:cNvSpPr>
          <p:nvPr/>
        </p:nvSpPr>
        <p:spPr>
          <a:xfrm xmlns:a="http://schemas.openxmlformats.org/drawingml/2006/main">
            <a:off x="609600" y="4464844"/>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Pengelolaan</a:t>
            </a:r>
          </a:p>
        </p:txBody>
      </p:sp>
      <p:sp>
        <p:nvSpPr>
          <p:cNvPr id="12" name="">
            <a:extLst xmlns:a="http://schemas.openxmlformats.org/drawingml/2006/main">
              <a:ext uri="{FF2B5EF4-FFF2-40B4-BE49-F238E27FC236}">
                <a16:creationId xmlns:a16="http://schemas.microsoft.com/office/drawing/2014/main" id="{186A243F-560E-40F5-8EEE-0E3F54227122}"/>
              </a:ext>
            </a:extLst>
          </p:cNvPr>
          <p:cNvSpPr>
            <a:spLocks xmlns:a="http://schemas.openxmlformats.org/drawingml/2006/main" noGrp="1"/>
          </p:cNvSpPr>
          <p:nvPr/>
        </p:nvSpPr>
        <p:spPr>
          <a:xfrm xmlns:a="http://schemas.openxmlformats.org/drawingml/2006/main">
            <a:off x="3867150" y="4464844"/>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Tersedia penerbitan dan cetak massal, blokir kartu, reset PIN, serta riwayat tindakan.</a:t>
            </a:r>
          </a:p>
        </p:txBody>
      </p:sp>
      <p:sp>
        <p:nvSpPr>
          <p:cNvPr id="13" name="">
            <a:extLst xmlns:a="http://schemas.openxmlformats.org/drawingml/2006/main">
              <a:ext uri="{FF2B5EF4-FFF2-40B4-BE49-F238E27FC236}">
                <a16:creationId xmlns:a16="http://schemas.microsoft.com/office/drawing/2014/main" id="{B3F76828-C8C4-4B82-B039-8F2A05573480}"/>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Pergantian kartu tidak menghapus saldo atau riwayat santri. PIN terpisah dari kartu fisik.</a:t>
            </a:r>
          </a:p>
        </p:txBody>
      </p:sp>
    </p:spTree>
    <p:extLst>
      <p:ext uri="{BB962C8B-B14F-4D97-AF65-F5344CB8AC3E}">
        <p14:creationId xmlns:p14="http://schemas.microsoft.com/office/powerpoint/2010/main" val="1509283181"/>
      </p:ext>
    </p:extLst>
  </p:cSld>
</p:sld>
</file>

<file path=ppt/slides/slide2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17" name=""/>
          <p:cNvCxnSpPr>
            <a:stCxn xmlns:a="http://schemas.openxmlformats.org/drawingml/2006/main" id="7" idx="3"/>
            <a:endCxn xmlns:a="http://schemas.openxmlformats.org/drawingml/2006/main" id="8" idx="1"/>
          </p:cNvCxnSpPr>
          <p:nvPr/>
        </p:nvCxnSpPr>
        <p:spPr>
          <a:xfrm xmlns:a="http://schemas.openxmlformats.org/drawingml/2006/main">
            <a:off x="8772525"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8" name=""/>
          <p:cNvCxnSpPr>
            <a:stCxn xmlns:a="http://schemas.openxmlformats.org/drawingml/2006/main" id="6" idx="3"/>
            <a:endCxn xmlns:a="http://schemas.openxmlformats.org/drawingml/2006/main" id="7" idx="1"/>
          </p:cNvCxnSpPr>
          <p:nvPr/>
        </p:nvCxnSpPr>
        <p:spPr>
          <a:xfrm xmlns:a="http://schemas.openxmlformats.org/drawingml/2006/main">
            <a:off x="5962650"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cxnSp>
        <p:nvCxnSpPr>
          <p:cNvPr id="19" name=""/>
          <p:cNvCxnSpPr>
            <a:stCxn xmlns:a="http://schemas.openxmlformats.org/drawingml/2006/main" id="5" idx="3"/>
            <a:endCxn xmlns:a="http://schemas.openxmlformats.org/drawingml/2006/main" id="6" idx="1"/>
          </p:cNvCxnSpPr>
          <p:nvPr/>
        </p:nvCxnSpPr>
        <p:spPr>
          <a:xfrm xmlns:a="http://schemas.openxmlformats.org/drawingml/2006/main">
            <a:off x="3152775" y="2762250"/>
            <a:ext cx="266700" cy="0"/>
          </a:xfrm>
          <a:prstGeom xmlns:a="http://schemas.openxmlformats.org/drawingml/2006/main" prst="straightConnector1">
            <a:avLst/>
          </a:prstGeom>
          <a:ln xmlns:a="http://schemas.openxmlformats.org/drawingml/2006/main" w="23813">
            <a:solidFill>
              <a:srgbClr val="176B55"/>
            </a:solidFill>
            <a:tailEnd type="arrow" w="med" len="med"/>
          </a:ln>
        </p:spPr>
      </p:cxnSp>
      <p:sp>
        <p:nvSpPr>
          <p:cNvPr id="20" name="">
            <a:extLst xmlns:a="http://schemas.openxmlformats.org/drawingml/2006/main">
              <a:ext uri="{FF2B5EF4-FFF2-40B4-BE49-F238E27FC236}">
                <a16:creationId xmlns:a16="http://schemas.microsoft.com/office/drawing/2014/main" id="{17D8F735-262E-4BCD-938D-C3AA73836722}"/>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8E1A190C-3AC8-48BB-A121-07D04E1C101C}"/>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Loket Penarikan &amp; Penyetoran</a:t>
            </a:r>
          </a:p>
        </p:txBody>
      </p:sp>
      <p:sp>
        <p:nvSpPr>
          <p:cNvPr id="3" name="">
            <a:extLst xmlns:a="http://schemas.openxmlformats.org/drawingml/2006/main">
              <a:ext uri="{FF2B5EF4-FFF2-40B4-BE49-F238E27FC236}">
                <a16:creationId xmlns:a16="http://schemas.microsoft.com/office/drawing/2014/main" id="{5FFE650F-7FB7-477E-A619-582569DE2395}"/>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75CB095F-D487-4651-9C0F-6F10D3FC027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7DDE516B-6A15-45DC-814F-E937BCF458B7}"/>
              </a:ext>
            </a:extLst>
          </p:cNvPr>
          <p:cNvSpPr>
            <a:spLocks xmlns:a="http://schemas.openxmlformats.org/drawingml/2006/main" noGrp="1"/>
          </p:cNvSpPr>
          <p:nvPr/>
        </p:nvSpPr>
        <p:spPr>
          <a:xfrm xmlns:a="http://schemas.openxmlformats.org/drawingml/2006/main">
            <a:off x="609600"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Kenali santri</a:t>
            </a:r>
          </a:p>
        </p:txBody>
      </p:sp>
      <p:sp>
        <p:nvSpPr>
          <p:cNvPr id="6" name="">
            <a:extLst xmlns:a="http://schemas.openxmlformats.org/drawingml/2006/main">
              <a:ext uri="{FF2B5EF4-FFF2-40B4-BE49-F238E27FC236}">
                <a16:creationId xmlns:a16="http://schemas.microsoft.com/office/drawing/2014/main" id="{CA5CFEF9-C0AD-4E75-8A67-45458314BA33}"/>
              </a:ext>
            </a:extLst>
          </p:cNvPr>
          <p:cNvSpPr>
            <a:spLocks xmlns:a="http://schemas.openxmlformats.org/drawingml/2006/main" noGrp="1"/>
          </p:cNvSpPr>
          <p:nvPr/>
        </p:nvSpPr>
        <p:spPr>
          <a:xfrm xmlns:a="http://schemas.openxmlformats.org/drawingml/2006/main">
            <a:off x="3419475"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Pilih layanan</a:t>
            </a:r>
          </a:p>
        </p:txBody>
      </p:sp>
      <p:sp>
        <p:nvSpPr>
          <p:cNvPr id="7" name="">
            <a:extLst xmlns:a="http://schemas.openxmlformats.org/drawingml/2006/main">
              <a:ext uri="{FF2B5EF4-FFF2-40B4-BE49-F238E27FC236}">
                <a16:creationId xmlns:a16="http://schemas.microsoft.com/office/drawing/2014/main" id="{5F47B8B9-8DDB-4613-9929-EFC58CF61841}"/>
              </a:ext>
            </a:extLst>
          </p:cNvPr>
          <p:cNvSpPr>
            <a:spLocks xmlns:a="http://schemas.openxmlformats.org/drawingml/2006/main" noGrp="1"/>
          </p:cNvSpPr>
          <p:nvPr/>
        </p:nvSpPr>
        <p:spPr>
          <a:xfrm xmlns:a="http://schemas.openxmlformats.org/drawingml/2006/main">
            <a:off x="6229350"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Periksa syarat</a:t>
            </a:r>
          </a:p>
        </p:txBody>
      </p:sp>
      <p:sp>
        <p:nvSpPr>
          <p:cNvPr id="8" name="">
            <a:extLst xmlns:a="http://schemas.openxmlformats.org/drawingml/2006/main">
              <a:ext uri="{FF2B5EF4-FFF2-40B4-BE49-F238E27FC236}">
                <a16:creationId xmlns:a16="http://schemas.microsoft.com/office/drawing/2014/main" id="{45B2CE2C-BE32-4C65-9825-F0B866E43AE5}"/>
              </a:ext>
            </a:extLst>
          </p:cNvPr>
          <p:cNvSpPr>
            <a:spLocks xmlns:a="http://schemas.openxmlformats.org/drawingml/2006/main" noGrp="1"/>
          </p:cNvSpPr>
          <p:nvPr/>
        </p:nvSpPr>
        <p:spPr>
          <a:xfrm xmlns:a="http://schemas.openxmlformats.org/drawingml/2006/main">
            <a:off x="9039225" y="2190750"/>
            <a:ext cx="2543175" cy="1143000"/>
          </a:xfrm>
          <a:prstGeom xmlns:a="http://schemas.openxmlformats.org/drawingml/2006/main" prst="roundRect">
            <a:avLst>
              <a:gd name="adj" fmla="val 6667"/>
            </a:avLst>
          </a:prstGeom>
          <a:solidFill xmlns:a="http://schemas.openxmlformats.org/drawingml/2006/main">
            <a:srgbClr val="E8F1EB"/>
          </a:solidFill>
          <a:ln xmlns:a="http://schemas.openxmlformats.org/drawingml/2006/main" w="9525">
            <a:solidFill>
              <a:srgbClr val="D5E0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3C35"/>
                </a:solidFill>
                <a:latin typeface="Arial"/>
                <a:ea typeface="Arial"/>
                <a:cs typeface="Arial"/>
              </a:defRPr>
            </a:pPr>
            <a:r>
              <a:rPr sz="1875" b="1">
                <a:solidFill>
                  <a:srgbClr val="173C35"/>
                </a:solidFill>
                <a:latin typeface="Arial"/>
                <a:ea typeface="Arial"/>
                <a:cs typeface="Arial"/>
              </a:rPr>
              <a:t>Selesaikan transaksi</a:t>
            </a:r>
          </a:p>
        </p:txBody>
      </p:sp>
      <p:sp>
        <p:nvSpPr>
          <p:cNvPr id="12" name="">
            <a:extLst xmlns:a="http://schemas.openxmlformats.org/drawingml/2006/main">
              <a:ext uri="{FF2B5EF4-FFF2-40B4-BE49-F238E27FC236}">
                <a16:creationId xmlns:a16="http://schemas.microsoft.com/office/drawing/2014/main" id="{FBC2FD14-CAF2-4C2B-A180-CEE82FF232F6}"/>
              </a:ext>
            </a:extLst>
          </p:cNvPr>
          <p:cNvSpPr>
            <a:spLocks xmlns:a="http://schemas.openxmlformats.org/drawingml/2006/main" noGrp="1"/>
          </p:cNvSpPr>
          <p:nvPr/>
        </p:nvSpPr>
        <p:spPr>
          <a:xfrm xmlns:a="http://schemas.openxmlformats.org/drawingml/2006/main">
            <a:off x="609600"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Pindai kartu. Petugas mencocokkan foto dan identitas.</a:t>
            </a:r>
          </a:p>
        </p:txBody>
      </p:sp>
      <p:sp>
        <p:nvSpPr>
          <p:cNvPr id="13" name="">
            <a:extLst xmlns:a="http://schemas.openxmlformats.org/drawingml/2006/main">
              <a:ext uri="{FF2B5EF4-FFF2-40B4-BE49-F238E27FC236}">
                <a16:creationId xmlns:a16="http://schemas.microsoft.com/office/drawing/2014/main" id="{4C445B51-1E9A-45CA-A7E2-19E31094628F}"/>
              </a:ext>
            </a:extLst>
          </p:cNvPr>
          <p:cNvSpPr>
            <a:spLocks xmlns:a="http://schemas.openxmlformats.org/drawingml/2006/main" noGrp="1"/>
          </p:cNvSpPr>
          <p:nvPr/>
        </p:nvSpPr>
        <p:spPr>
          <a:xfrm xmlns:a="http://schemas.openxmlformats.org/drawingml/2006/main">
            <a:off x="3419475"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Pencairan uang jajan, setoran saldo, atau pembayaran tagihan.</a:t>
            </a:r>
          </a:p>
        </p:txBody>
      </p:sp>
      <p:sp>
        <p:nvSpPr>
          <p:cNvPr id="14" name="">
            <a:extLst xmlns:a="http://schemas.openxmlformats.org/drawingml/2006/main">
              <a:ext uri="{FF2B5EF4-FFF2-40B4-BE49-F238E27FC236}">
                <a16:creationId xmlns:a16="http://schemas.microsoft.com/office/drawing/2014/main" id="{7514641C-DB8F-4F72-ADE7-DDDCC5051619}"/>
              </a:ext>
            </a:extLst>
          </p:cNvPr>
          <p:cNvSpPr>
            <a:spLocks xmlns:a="http://schemas.openxmlformats.org/drawingml/2006/main" noGrp="1"/>
          </p:cNvSpPr>
          <p:nvPr/>
        </p:nvSpPr>
        <p:spPr>
          <a:xfrm xmlns:a="http://schemas.openxmlformats.org/drawingml/2006/main">
            <a:off x="6229350"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Untuk pencairan: PIN, saldo, dan limit harus memenuhi syarat.</a:t>
            </a:r>
          </a:p>
        </p:txBody>
      </p:sp>
      <p:sp>
        <p:nvSpPr>
          <p:cNvPr id="15" name="">
            <a:extLst xmlns:a="http://schemas.openxmlformats.org/drawingml/2006/main">
              <a:ext uri="{FF2B5EF4-FFF2-40B4-BE49-F238E27FC236}">
                <a16:creationId xmlns:a16="http://schemas.microsoft.com/office/drawing/2014/main" id="{E3D21E65-50C2-40B1-88E3-8AFBB113E180}"/>
              </a:ext>
            </a:extLst>
          </p:cNvPr>
          <p:cNvSpPr>
            <a:spLocks xmlns:a="http://schemas.openxmlformats.org/drawingml/2006/main" noGrp="1"/>
          </p:cNvSpPr>
          <p:nvPr/>
        </p:nvSpPr>
        <p:spPr>
          <a:xfrm xmlns:a="http://schemas.openxmlformats.org/drawingml/2006/main">
            <a:off x="9039225" y="3619500"/>
            <a:ext cx="25431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93C37"/>
                </a:solidFill>
                <a:latin typeface="Arial"/>
                <a:ea typeface="Arial"/>
                <a:cs typeface="Arial"/>
              </a:defRPr>
            </a:pPr>
            <a:r>
              <a:rPr sz="1875" b="0">
                <a:solidFill>
                  <a:srgbClr val="293C37"/>
                </a:solidFill>
                <a:latin typeface="Arial"/>
                <a:ea typeface="Arial"/>
                <a:cs typeface="Arial"/>
              </a:rPr>
              <a:t>Petugas menyerahkan / menerima uang dan memberikan bukti.</a:t>
            </a:r>
          </a:p>
        </p:txBody>
      </p:sp>
      <p:sp>
        <p:nvSpPr>
          <p:cNvPr id="16" name="">
            <a:extLst xmlns:a="http://schemas.openxmlformats.org/drawingml/2006/main">
              <a:ext uri="{FF2B5EF4-FFF2-40B4-BE49-F238E27FC236}">
                <a16:creationId xmlns:a16="http://schemas.microsoft.com/office/drawing/2014/main" id="{A6985708-604D-4B67-A738-BA22D389FB6D}"/>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Sesi kas harus aktif. Jangan mengulangi transaksi sebelum memeriksa hasil transaksi sebelumnya.</a:t>
            </a:r>
          </a:p>
        </p:txBody>
      </p:sp>
    </p:spTree>
    <p:extLst>
      <p:ext uri="{BB962C8B-B14F-4D97-AF65-F5344CB8AC3E}">
        <p14:creationId xmlns:p14="http://schemas.microsoft.com/office/powerpoint/2010/main" val="80528187"/>
      </p:ext>
    </p:extLst>
  </p:cSld>
</p:sld>
</file>

<file path=ppt/slides/slide2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10EC92-11D2-47E8-88ED-2CFDE590FE02}"/>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7ACDA0C2-8877-46AE-85D3-600891E29A2A}"/>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Sesi Kas: tanggung jawab uang fisik</a:t>
            </a:r>
          </a:p>
        </p:txBody>
      </p:sp>
      <p:sp>
        <p:nvSpPr>
          <p:cNvPr id="3" name="">
            <a:extLst xmlns:a="http://schemas.openxmlformats.org/drawingml/2006/main">
              <a:ext uri="{FF2B5EF4-FFF2-40B4-BE49-F238E27FC236}">
                <a16:creationId xmlns:a16="http://schemas.microsoft.com/office/drawing/2014/main" id="{0D76EDDD-CA9D-4371-A30F-54842F871553}"/>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641B78A5-3C58-42AC-8DDA-137EA1CA695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26</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2190750"/>
                <a:gridCol w="5143500"/>
                <a:gridCol w="3638550"/>
              </a:tblGrid>
              <a:tr h="428625">
                <a:tc>
                  <a:txBody>
                    <a:bodyPr/>
                    <a:lstStyle/>
                    <a:p>
                      <a:r>
                        <a:rPr sz="1725" b="1">
                          <a:solidFill>
                            <a:srgbClr val="FFFFFF"/>
                          </a:solidFill>
                          <a:latin typeface="Arial"/>
                          <a:ea typeface="Arial"/>
                          <a:cs typeface="Arial"/>
                        </a:rPr>
                        <a:t>Tahap</a:t>
                      </a:r>
                    </a:p>
                  </a:txBody>
                  <a:tcPr marL="85725" marR="85725" marT="19050" marB="19050">
                    <a:solidFill>
                      <a:srgbClr val="176B55"/>
                    </a:solidFill>
                  </a:tcPr>
                </a:tc>
                <a:tc>
                  <a:txBody>
                    <a:bodyPr/>
                    <a:lstStyle/>
                    <a:p>
                      <a:r>
                        <a:rPr sz="1725" b="1">
                          <a:solidFill>
                            <a:srgbClr val="FFFFFF"/>
                          </a:solidFill>
                          <a:latin typeface="Arial"/>
                          <a:ea typeface="Arial"/>
                          <a:cs typeface="Arial"/>
                        </a:rPr>
                        <a:t>Catatan petugas</a:t>
                      </a:r>
                    </a:p>
                  </a:txBody>
                  <a:tcPr marL="85725" marR="85725" marT="19050" marB="19050">
                    <a:solidFill>
                      <a:srgbClr val="176B55"/>
                    </a:solidFill>
                  </a:tcPr>
                </a:tc>
                <a:tc>
                  <a:txBody>
                    <a:bodyPr/>
                    <a:lstStyle/>
                    <a:p>
                      <a:r>
                        <a:rPr sz="1725" b="1">
                          <a:solidFill>
                            <a:srgbClr val="FFFFFF"/>
                          </a:solidFill>
                          <a:latin typeface="Arial"/>
                          <a:ea typeface="Arial"/>
                          <a:cs typeface="Arial"/>
                        </a:rPr>
                        <a:t>Contoh ilustratif</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Buka kas</a:t>
                      </a:r>
                    </a:p>
                  </a:txBody>
                  <a:tcPr marL="85725" marR="85725" marT="19050" marB="19050">
                    <a:solidFill>
                      <a:srgbClr val="FFFFFF"/>
                    </a:solidFill>
                  </a:tcPr>
                </a:tc>
                <a:tc>
                  <a:txBody>
                    <a:bodyPr/>
                    <a:lstStyle/>
                    <a:p>
                      <a:r>
                        <a:rPr sz="1725" b="0">
                          <a:solidFill>
                            <a:srgbClr val="293C37"/>
                          </a:solidFill>
                          <a:latin typeface="Arial"/>
                          <a:ea typeface="Arial"/>
                          <a:cs typeface="Arial"/>
                        </a:rPr>
                        <a:t>Hitung uang awal yang benar-benar tersedia</a:t>
                      </a:r>
                    </a:p>
                  </a:txBody>
                  <a:tcPr marL="85725" marR="85725" marT="19050" marB="19050">
                    <a:solidFill>
                      <a:srgbClr val="FFFFFF"/>
                    </a:solidFill>
                  </a:tcPr>
                </a:tc>
                <a:tc>
                  <a:txBody>
                    <a:bodyPr/>
                    <a:lstStyle/>
                    <a:p>
                      <a:r>
                        <a:rPr sz="1725" b="0">
                          <a:solidFill>
                            <a:srgbClr val="293C37"/>
                          </a:solidFill>
                          <a:latin typeface="Arial"/>
                          <a:ea typeface="Arial"/>
                          <a:cs typeface="Arial"/>
                        </a:rPr>
                        <a:t>Rp500.000</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Terima kas</a:t>
                      </a:r>
                    </a:p>
                  </a:txBody>
                  <a:tcPr marL="85725" marR="85725" marT="19050" marB="19050">
                    <a:solidFill>
                      <a:srgbClr val="E8F1EB"/>
                    </a:solidFill>
                  </a:tcPr>
                </a:tc>
                <a:tc>
                  <a:txBody>
                    <a:bodyPr/>
                    <a:lstStyle/>
                    <a:p>
                      <a:r>
                        <a:rPr sz="1725" b="0">
                          <a:solidFill>
                            <a:srgbClr val="293C37"/>
                          </a:solidFill>
                          <a:latin typeface="Arial"/>
                          <a:ea typeface="Arial"/>
                          <a:cs typeface="Arial"/>
                        </a:rPr>
                        <a:t>Pembayaran dan setoran tunai</a:t>
                      </a:r>
                    </a:p>
                  </a:txBody>
                  <a:tcPr marL="85725" marR="85725" marT="19050" marB="19050">
                    <a:solidFill>
                      <a:srgbClr val="E8F1EB"/>
                    </a:solidFill>
                  </a:tcPr>
                </a:tc>
                <a:tc>
                  <a:txBody>
                    <a:bodyPr/>
                    <a:lstStyle/>
                    <a:p>
                      <a:r>
                        <a:rPr sz="1725" b="0">
                          <a:solidFill>
                            <a:srgbClr val="293C37"/>
                          </a:solidFill>
                          <a:latin typeface="Arial"/>
                          <a:ea typeface="Arial"/>
                          <a:cs typeface="Arial"/>
                        </a:rPr>
                        <a:t>Tambah Rp900.000</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Keluarkan kas</a:t>
                      </a:r>
                    </a:p>
                  </a:txBody>
                  <a:tcPr marL="85725" marR="85725" marT="19050" marB="19050">
                    <a:solidFill>
                      <a:srgbClr val="FFFFFF"/>
                    </a:solidFill>
                  </a:tcPr>
                </a:tc>
                <a:tc>
                  <a:txBody>
                    <a:bodyPr/>
                    <a:lstStyle/>
                    <a:p>
                      <a:r>
                        <a:rPr sz="1725" b="0">
                          <a:solidFill>
                            <a:srgbClr val="293C37"/>
                          </a:solidFill>
                          <a:latin typeface="Arial"/>
                          <a:ea typeface="Arial"/>
                          <a:cs typeface="Arial"/>
                        </a:rPr>
                        <a:t>Pencairan dan pengembalian tunai yang sah</a:t>
                      </a:r>
                    </a:p>
                  </a:txBody>
                  <a:tcPr marL="85725" marR="85725" marT="19050" marB="19050">
                    <a:solidFill>
                      <a:srgbClr val="FFFFFF"/>
                    </a:solidFill>
                  </a:tcPr>
                </a:tc>
                <a:tc>
                  <a:txBody>
                    <a:bodyPr/>
                    <a:lstStyle/>
                    <a:p>
                      <a:r>
                        <a:rPr sz="1725" b="0">
                          <a:solidFill>
                            <a:srgbClr val="293C37"/>
                          </a:solidFill>
                          <a:latin typeface="Arial"/>
                          <a:ea typeface="Arial"/>
                          <a:cs typeface="Arial"/>
                        </a:rPr>
                        <a:t>Kurang Rp200.000</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Kas seharusnya</a:t>
                      </a:r>
                    </a:p>
                  </a:txBody>
                  <a:tcPr marL="85725" marR="85725" marT="19050" marB="19050">
                    <a:solidFill>
                      <a:srgbClr val="E8F1EB"/>
                    </a:solidFill>
                  </a:tcPr>
                </a:tc>
                <a:tc>
                  <a:txBody>
                    <a:bodyPr/>
                    <a:lstStyle/>
                    <a:p>
                      <a:r>
                        <a:rPr sz="1725" b="0">
                          <a:solidFill>
                            <a:srgbClr val="293C37"/>
                          </a:solidFill>
                          <a:latin typeface="Arial"/>
                          <a:ea typeface="Arial"/>
                          <a:cs typeface="Arial"/>
                        </a:rPr>
                        <a:t>Kas awal + penerimaan − pengeluaran</a:t>
                      </a:r>
                    </a:p>
                  </a:txBody>
                  <a:tcPr marL="85725" marR="85725" marT="19050" marB="19050">
                    <a:solidFill>
                      <a:srgbClr val="E8F1EB"/>
                    </a:solidFill>
                  </a:tcPr>
                </a:tc>
                <a:tc>
                  <a:txBody>
                    <a:bodyPr/>
                    <a:lstStyle/>
                    <a:p>
                      <a:r>
                        <a:rPr sz="1725" b="0">
                          <a:solidFill>
                            <a:srgbClr val="293C37"/>
                          </a:solidFill>
                          <a:latin typeface="Arial"/>
                          <a:ea typeface="Arial"/>
                          <a:cs typeface="Arial"/>
                        </a:rPr>
                        <a:t>Rp1.200.000</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Tutup kas</a:t>
                      </a:r>
                    </a:p>
                  </a:txBody>
                  <a:tcPr marL="85725" marR="85725" marT="19050" marB="19050">
                    <a:solidFill>
                      <a:srgbClr val="FFFFFF"/>
                    </a:solidFill>
                  </a:tcPr>
                </a:tc>
                <a:tc>
                  <a:txBody>
                    <a:bodyPr/>
                    <a:lstStyle/>
                    <a:p>
                      <a:r>
                        <a:rPr sz="1725" b="0">
                          <a:solidFill>
                            <a:srgbClr val="293C37"/>
                          </a:solidFill>
                          <a:latin typeface="Arial"/>
                          <a:ea typeface="Arial"/>
                          <a:cs typeface="Arial"/>
                        </a:rPr>
                        <a:t>Hitung fisik, bandingkan, jelaskan selisih</a:t>
                      </a:r>
                    </a:p>
                  </a:txBody>
                  <a:tcPr marL="85725" marR="85725" marT="19050" marB="19050">
                    <a:solidFill>
                      <a:srgbClr val="FFFFFF"/>
                    </a:solidFill>
                  </a:tcPr>
                </a:tc>
                <a:tc>
                  <a:txBody>
                    <a:bodyPr/>
                    <a:lstStyle/>
                    <a:p>
                      <a:r>
                        <a:rPr sz="1725" b="0">
                          <a:solidFill>
                            <a:srgbClr val="293C37"/>
                          </a:solidFill>
                          <a:latin typeface="Arial"/>
                          <a:ea typeface="Arial"/>
                          <a:cs typeface="Arial"/>
                        </a:rPr>
                        <a:t>Fisik Rp1.180.000: kurang Rp20.000</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0B7B002-C5C5-4AF6-BA4A-1D0E7FA8E794}"/>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Selisih tetap dicatat untuk pemeriksaan. Nominal transaksi asal tidak diubah untuk menutupi selisih.</a:t>
            </a:r>
          </a:p>
        </p:txBody>
      </p:sp>
    </p:spTree>
    <p:extLst>
      <p:ext uri="{BB962C8B-B14F-4D97-AF65-F5344CB8AC3E}">
        <p14:creationId xmlns:p14="http://schemas.microsoft.com/office/powerpoint/2010/main" val="1129287228"/>
      </p:ext>
    </p:extLst>
  </p:cSld>
</p:sld>
</file>

<file path=ppt/slides/slide2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6C4584-D41A-4EE6-B501-4F66BFBD2152}"/>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0BA7AEFC-5097-4C38-B60A-131687FC2B71}"/>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Penyaluran: hak masing-masing penerima</a:t>
            </a:r>
          </a:p>
        </p:txBody>
      </p:sp>
      <p:sp>
        <p:nvSpPr>
          <p:cNvPr id="3" name="">
            <a:extLst xmlns:a="http://schemas.openxmlformats.org/drawingml/2006/main">
              <a:ext uri="{FF2B5EF4-FFF2-40B4-BE49-F238E27FC236}">
                <a16:creationId xmlns:a16="http://schemas.microsoft.com/office/drawing/2014/main" id="{261D4EB4-70EF-436B-9D4E-09256C91E2C6}"/>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A91AB8F1-38EA-4F76-9DAA-E9F0765C0F37}"/>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27</a:t>
            </a:r>
          </a:p>
        </p:txBody>
      </p:sp>
      <p:graphicFrame>
        <p:nvGraphicFramePr>
          <p:cNvPr id="11" name=""/>
          <p:cNvGraphicFramePr/>
          <p:nvPr/>
        </p:nvGraphicFramePr>
        <p:xfrm>
          <a:off xmlns:a="http://schemas.openxmlformats.org/drawingml/2006/main" x="609600" y="1666875"/>
          <a:ext xmlns:a="http://schemas.openxmlformats.org/drawingml/2006/main" cx="10972800" cy="3238500"/>
        </p:xfrm>
        <a:graphic xmlns:a="http://schemas.openxmlformats.org/drawingml/2006/main">
          <a:graphicData uri="http://schemas.openxmlformats.org/drawingml/2006/table">
            <a:tbl>
              <a:tblPr/>
              <a:tblGrid>
                <a:gridCol w="2857500"/>
                <a:gridCol w="3571875"/>
                <a:gridCol w="4543425"/>
              </a:tblGrid>
              <a:tr h="428625">
                <a:tc>
                  <a:txBody>
                    <a:bodyPr/>
                    <a:lstStyle/>
                    <a:p>
                      <a:r>
                        <a:rPr sz="1725" b="1">
                          <a:solidFill>
                            <a:srgbClr val="FFFFFF"/>
                          </a:solidFill>
                          <a:latin typeface="Arial"/>
                          <a:ea typeface="Arial"/>
                          <a:cs typeface="Arial"/>
                        </a:rPr>
                        <a:t>Tujuan</a:t>
                      </a:r>
                    </a:p>
                  </a:txBody>
                  <a:tcPr marL="85725" marR="85725" marT="19050" marB="19050">
                    <a:solidFill>
                      <a:srgbClr val="176B55"/>
                    </a:solidFill>
                  </a:tcPr>
                </a:tc>
                <a:tc>
                  <a:txBody>
                    <a:bodyPr/>
                    <a:lstStyle/>
                    <a:p>
                      <a:r>
                        <a:rPr sz="1725" b="1">
                          <a:solidFill>
                            <a:srgbClr val="FFFFFF"/>
                          </a:solidFill>
                          <a:latin typeface="Arial"/>
                          <a:ea typeface="Arial"/>
                          <a:cs typeface="Arial"/>
                        </a:rPr>
                        <a:t>Sumber dana</a:t>
                      </a:r>
                    </a:p>
                  </a:txBody>
                  <a:tcPr marL="85725" marR="85725" marT="19050" marB="19050">
                    <a:solidFill>
                      <a:srgbClr val="176B55"/>
                    </a:solidFill>
                  </a:tcPr>
                </a:tc>
                <a:tc>
                  <a:txBody>
                    <a:bodyPr/>
                    <a:lstStyle/>
                    <a:p>
                      <a:r>
                        <a:rPr sz="1725" b="1">
                          <a:solidFill>
                            <a:srgbClr val="FFFFFF"/>
                          </a:solidFill>
                          <a:latin typeface="Arial"/>
                          <a:ea typeface="Arial"/>
                          <a:cs typeface="Arial"/>
                        </a:rPr>
                        <a:t>Informasi yang diperiksa</a:t>
                      </a:r>
                    </a:p>
                  </a:txBody>
                  <a:tcPr marL="85725" marR="85725" marT="19050" marB="19050">
                    <a:solidFill>
                      <a:srgbClr val="176B55"/>
                    </a:solidFill>
                  </a:tcPr>
                </a:tc>
              </a:tr>
              <a:tr h="702469">
                <a:tc>
                  <a:txBody>
                    <a:bodyPr/>
                    <a:lstStyle/>
                    <a:p>
                      <a:r>
                        <a:rPr sz="1725" b="0">
                          <a:solidFill>
                            <a:srgbClr val="293C37"/>
                          </a:solidFill>
                          <a:latin typeface="Arial"/>
                          <a:ea typeface="Arial"/>
                          <a:cs typeface="Arial"/>
                        </a:rPr>
                        <a:t>Bendahara Pesantren</a:t>
                      </a:r>
                    </a:p>
                  </a:txBody>
                  <a:tcPr marL="85725" marR="85725" marT="19050" marB="19050">
                    <a:solidFill>
                      <a:srgbClr val="FFFFFF"/>
                    </a:solidFill>
                  </a:tcPr>
                </a:tc>
                <a:tc>
                  <a:txBody>
                    <a:bodyPr/>
                    <a:lstStyle/>
                    <a:p>
                      <a:r>
                        <a:rPr sz="1725" b="0">
                          <a:solidFill>
                            <a:srgbClr val="293C37"/>
                          </a:solidFill>
                          <a:latin typeface="Arial"/>
                          <a:ea typeface="Arial"/>
                          <a:cs typeface="Arial"/>
                        </a:rPr>
                        <a:t>SPP, USPP, EHB, Ekskul, Kesehatan</a:t>
                      </a:r>
                    </a:p>
                  </a:txBody>
                  <a:tcPr marL="85725" marR="85725" marT="19050" marB="19050">
                    <a:solidFill>
                      <a:srgbClr val="FFFFFF"/>
                    </a:solidFill>
                  </a:tcPr>
                </a:tc>
                <a:tc>
                  <a:txBody>
                    <a:bodyPr/>
                    <a:lstStyle/>
                    <a:p>
                      <a:r>
                        <a:rPr sz="1725" b="0">
                          <a:solidFill>
                            <a:srgbClr val="293C37"/>
                          </a:solidFill>
                          <a:latin typeface="Arial"/>
                          <a:ea typeface="Arial"/>
                          <a:cs typeface="Arial"/>
                        </a:rPr>
                        <a:t>Item, periode, dana masuk, dan sisa penyaluran</a:t>
                      </a:r>
                    </a:p>
                  </a:txBody>
                  <a:tcPr marL="85725" marR="85725" marT="19050" marB="19050">
                    <a:solidFill>
                      <a:srgbClr val="FFFFFF"/>
                    </a:solidFill>
                  </a:tcPr>
                </a:tc>
              </a:tr>
              <a:tr h="702469">
                <a:tc>
                  <a:txBody>
                    <a:bodyPr/>
                    <a:lstStyle/>
                    <a:p>
                      <a:r>
                        <a:rPr sz="1725" b="0">
                          <a:solidFill>
                            <a:srgbClr val="293C37"/>
                          </a:solidFill>
                          <a:latin typeface="Arial"/>
                          <a:ea typeface="Arial"/>
                          <a:cs typeface="Arial"/>
                        </a:rPr>
                        <a:t>Katering</a:t>
                      </a:r>
                    </a:p>
                  </a:txBody>
                  <a:tcPr marL="85725" marR="85725" marT="19050" marB="19050">
                    <a:solidFill>
                      <a:srgbClr val="E8F1EB"/>
                    </a:solidFill>
                  </a:tcPr>
                </a:tc>
                <a:tc>
                  <a:txBody>
                    <a:bodyPr/>
                    <a:lstStyle/>
                    <a:p>
                      <a:r>
                        <a:rPr sz="1725" b="0">
                          <a:solidFill>
                            <a:srgbClr val="293C37"/>
                          </a:solidFill>
                          <a:latin typeface="Arial"/>
                          <a:ea typeface="Arial"/>
                          <a:cs typeface="Arial"/>
                        </a:rPr>
                        <a:t>Uang Makan</a:t>
                      </a:r>
                    </a:p>
                  </a:txBody>
                  <a:tcPr marL="85725" marR="85725" marT="19050" marB="19050">
                    <a:solidFill>
                      <a:srgbClr val="E8F1EB"/>
                    </a:solidFill>
                  </a:tcPr>
                </a:tc>
                <a:tc>
                  <a:txBody>
                    <a:bodyPr/>
                    <a:lstStyle/>
                    <a:p>
                      <a:r>
                        <a:rPr sz="1725" b="0">
                          <a:solidFill>
                            <a:srgbClr val="293C37"/>
                          </a:solidFill>
                          <a:latin typeface="Arial"/>
                          <a:ea typeface="Arial"/>
                          <a:cs typeface="Arial"/>
                        </a:rPr>
                        <a:t>Penyedia, santri terkait, periode, dan dana tersedia</a:t>
                      </a:r>
                    </a:p>
                  </a:txBody>
                  <a:tcPr marL="85725" marR="85725" marT="19050" marB="19050">
                    <a:solidFill>
                      <a:srgbClr val="E8F1EB"/>
                    </a:solidFill>
                  </a:tcPr>
                </a:tc>
              </a:tr>
              <a:tr h="702469">
                <a:tc>
                  <a:txBody>
                    <a:bodyPr/>
                    <a:lstStyle/>
                    <a:p>
                      <a:r>
                        <a:rPr sz="1725" b="0">
                          <a:solidFill>
                            <a:srgbClr val="293C37"/>
                          </a:solidFill>
                          <a:latin typeface="Arial"/>
                          <a:ea typeface="Arial"/>
                          <a:cs typeface="Arial"/>
                        </a:rPr>
                        <a:t>Laundry</a:t>
                      </a:r>
                    </a:p>
                  </a:txBody>
                  <a:tcPr marL="85725" marR="85725" marT="19050" marB="19050">
                    <a:solidFill>
                      <a:srgbClr val="FFFFFF"/>
                    </a:solidFill>
                  </a:tcPr>
                </a:tc>
                <a:tc>
                  <a:txBody>
                    <a:bodyPr/>
                    <a:lstStyle/>
                    <a:p>
                      <a:r>
                        <a:rPr sz="1725" b="0">
                          <a:solidFill>
                            <a:srgbClr val="293C37"/>
                          </a:solidFill>
                          <a:latin typeface="Arial"/>
                          <a:ea typeface="Arial"/>
                          <a:cs typeface="Arial"/>
                        </a:rPr>
                        <a:t>Uang Nyuci</a:t>
                      </a:r>
                    </a:p>
                  </a:txBody>
                  <a:tcPr marL="85725" marR="85725" marT="19050" marB="19050">
                    <a:solidFill>
                      <a:srgbClr val="FFFFFF"/>
                    </a:solidFill>
                  </a:tcPr>
                </a:tc>
                <a:tc>
                  <a:txBody>
                    <a:bodyPr/>
                    <a:lstStyle/>
                    <a:p>
                      <a:r>
                        <a:rPr sz="1725" b="0">
                          <a:solidFill>
                            <a:srgbClr val="293C37"/>
                          </a:solidFill>
                          <a:latin typeface="Arial"/>
                          <a:ea typeface="Arial"/>
                          <a:cs typeface="Arial"/>
                        </a:rPr>
                        <a:t>Penyedia, santri terkait, periode, dan dana tersedia</a:t>
                      </a:r>
                    </a:p>
                  </a:txBody>
                  <a:tcPr marL="85725" marR="85725" marT="19050" marB="19050">
                    <a:solidFill>
                      <a:srgbClr val="FFFFFF"/>
                    </a:solidFill>
                  </a:tcPr>
                </a:tc>
              </a:tr>
              <a:tr h="702469">
                <a:tc>
                  <a:txBody>
                    <a:bodyPr/>
                    <a:lstStyle/>
                    <a:p>
                      <a:r>
                        <a:rPr sz="1725" b="0">
                          <a:solidFill>
                            <a:srgbClr val="293C37"/>
                          </a:solidFill>
                          <a:latin typeface="Arial"/>
                          <a:ea typeface="Arial"/>
                          <a:cs typeface="Arial"/>
                        </a:rPr>
                        <a:t>Tidak masuk penyaluran ini</a:t>
                      </a:r>
                    </a:p>
                  </a:txBody>
                  <a:tcPr marL="85725" marR="85725" marT="19050" marB="19050">
                    <a:solidFill>
                      <a:srgbClr val="E8F1EB"/>
                    </a:solidFill>
                  </a:tcPr>
                </a:tc>
                <a:tc>
                  <a:txBody>
                    <a:bodyPr/>
                    <a:lstStyle/>
                    <a:p>
                      <a:r>
                        <a:rPr sz="1725" b="0">
                          <a:solidFill>
                            <a:srgbClr val="293C37"/>
                          </a:solidFill>
                          <a:latin typeface="Arial"/>
                          <a:ea typeface="Arial"/>
                          <a:cs typeface="Arial"/>
                        </a:rPr>
                        <a:t>Uang Jajan</a:t>
                      </a:r>
                    </a:p>
                  </a:txBody>
                  <a:tcPr marL="85725" marR="85725" marT="19050" marB="19050">
                    <a:solidFill>
                      <a:srgbClr val="E8F1EB"/>
                    </a:solidFill>
                  </a:tcPr>
                </a:tc>
                <a:tc>
                  <a:txBody>
                    <a:bodyPr/>
                    <a:lstStyle/>
                    <a:p>
                      <a:r>
                        <a:rPr sz="1725" b="0">
                          <a:solidFill>
                            <a:srgbClr val="293C37"/>
                          </a:solidFill>
                          <a:latin typeface="Arial"/>
                          <a:ea typeface="Arial"/>
                          <a:cs typeface="Arial"/>
                        </a:rPr>
                        <a:t>Tetap sebagai titipan santri untuk pencairan</a:t>
                      </a:r>
                    </a:p>
                  </a:txBody>
                  <a:tcPr marL="85725" marR="85725" marT="19050" marB="19050">
                    <a:solidFill>
                      <a:srgbClr val="E8F1EB"/>
                    </a:solidFill>
                  </a:tcPr>
                </a:tc>
              </a:tr>
            </a:tbl>
          </a:graphicData>
        </a:graphic>
      </p:graphicFrame>
      <p:sp>
        <p:nvSpPr>
          <p:cNvPr id="6" name="">
            <a:extLst xmlns:a="http://schemas.openxmlformats.org/drawingml/2006/main">
              <a:ext uri="{FF2B5EF4-FFF2-40B4-BE49-F238E27FC236}">
                <a16:creationId xmlns:a16="http://schemas.microsoft.com/office/drawing/2014/main" id="{7708D2C9-5773-4FE5-9180-7E2827A7919A}"/>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Penyaluran boleh sebagian dan berulang, selama akumulasinya tidak melebihi dana yang tersedia.</a:t>
            </a:r>
          </a:p>
        </p:txBody>
      </p:sp>
    </p:spTree>
    <p:extLst>
      <p:ext uri="{BB962C8B-B14F-4D97-AF65-F5344CB8AC3E}">
        <p14:creationId xmlns:p14="http://schemas.microsoft.com/office/powerpoint/2010/main" val="438254267"/>
      </p:ext>
    </p:extLst>
  </p:cSld>
</p:sld>
</file>

<file path=ppt/slides/slide2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9A9364-F697-42BD-B37E-39A2F0CE688A}"/>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54CCEB60-17A8-4803-88D7-901DE07D2E8F}"/>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Penyedia berganti, hak periode lama tetap</a:t>
            </a:r>
          </a:p>
        </p:txBody>
      </p:sp>
      <p:sp>
        <p:nvSpPr>
          <p:cNvPr id="3" name="">
            <a:extLst xmlns:a="http://schemas.openxmlformats.org/drawingml/2006/main">
              <a:ext uri="{FF2B5EF4-FFF2-40B4-BE49-F238E27FC236}">
                <a16:creationId xmlns:a16="http://schemas.microsoft.com/office/drawing/2014/main" id="{0D0D789E-CB07-4323-AA42-11979B991D52}"/>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7AA32715-C5B8-4630-B450-6E7EDF03BB0C}"/>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28</a:t>
            </a:r>
          </a:p>
        </p:txBody>
      </p:sp>
      <p:graphicFrame>
        <p:nvGraphicFramePr>
          <p:cNvPr id="11" name=""/>
          <p:cNvGraphicFramePr/>
          <p:nvPr/>
        </p:nvGraphicFramePr>
        <p:xfrm>
          <a:off xmlns:a="http://schemas.openxmlformats.org/drawingml/2006/main" x="609600" y="1666875"/>
          <a:ext xmlns:a="http://schemas.openxmlformats.org/drawingml/2006/main" cx="10972800" cy="2590800"/>
        </p:xfrm>
        <a:graphic xmlns:a="http://schemas.openxmlformats.org/drawingml/2006/main">
          <a:graphicData uri="http://schemas.openxmlformats.org/drawingml/2006/table">
            <a:tbl>
              <a:tblPr/>
              <a:tblGrid>
                <a:gridCol w="2333625"/>
                <a:gridCol w="3476625"/>
                <a:gridCol w="5162550"/>
              </a:tblGrid>
              <a:tr h="428625">
                <a:tc>
                  <a:txBody>
                    <a:bodyPr/>
                    <a:lstStyle/>
                    <a:p>
                      <a:r>
                        <a:rPr sz="1725" b="1">
                          <a:solidFill>
                            <a:srgbClr val="FFFFFF"/>
                          </a:solidFill>
                          <a:latin typeface="Arial"/>
                          <a:ea typeface="Arial"/>
                          <a:cs typeface="Arial"/>
                        </a:rPr>
                        <a:t>Periode contoh</a:t>
                      </a:r>
                    </a:p>
                  </a:txBody>
                  <a:tcPr marL="85725" marR="85725" marT="19050" marB="19050">
                    <a:solidFill>
                      <a:srgbClr val="176B55"/>
                    </a:solidFill>
                  </a:tcPr>
                </a:tc>
                <a:tc>
                  <a:txBody>
                    <a:bodyPr/>
                    <a:lstStyle/>
                    <a:p>
                      <a:r>
                        <a:rPr sz="1725" b="1">
                          <a:solidFill>
                            <a:srgbClr val="FFFFFF"/>
                          </a:solidFill>
                          <a:latin typeface="Arial"/>
                          <a:ea typeface="Arial"/>
                          <a:cs typeface="Arial"/>
                        </a:rPr>
                        <a:t>Penyedia santri</a:t>
                      </a:r>
                    </a:p>
                  </a:txBody>
                  <a:tcPr marL="85725" marR="85725" marT="19050" marB="19050">
                    <a:solidFill>
                      <a:srgbClr val="176B55"/>
                    </a:solidFill>
                  </a:tcPr>
                </a:tc>
                <a:tc>
                  <a:txBody>
                    <a:bodyPr/>
                    <a:lstStyle/>
                    <a:p>
                      <a:r>
                        <a:rPr sz="1725" b="1">
                          <a:solidFill>
                            <a:srgbClr val="FFFFFF"/>
                          </a:solidFill>
                          <a:latin typeface="Arial"/>
                          <a:ea typeface="Arial"/>
                          <a:cs typeface="Arial"/>
                        </a:rPr>
                        <a:t>Hak pembayaran periode itu</a:t>
                      </a:r>
                    </a:p>
                  </a:txBody>
                  <a:tcPr marL="85725" marR="85725" marT="19050" marB="19050">
                    <a:solidFill>
                      <a:srgbClr val="176B55"/>
                    </a:solidFill>
                  </a:tcPr>
                </a:tc>
              </a:tr>
              <a:tr h="720725">
                <a:tc>
                  <a:txBody>
                    <a:bodyPr/>
                    <a:lstStyle/>
                    <a:p>
                      <a:r>
                        <a:rPr sz="1725" b="0">
                          <a:solidFill>
                            <a:srgbClr val="293C37"/>
                          </a:solidFill>
                          <a:latin typeface="Arial"/>
                          <a:ea typeface="Arial"/>
                          <a:cs typeface="Arial"/>
                        </a:rPr>
                        <a:t>September</a:t>
                      </a:r>
                    </a:p>
                  </a:txBody>
                  <a:tcPr marL="85725" marR="85725" marT="19050" marB="19050">
                    <a:solidFill>
                      <a:srgbClr val="FFFFFF"/>
                    </a:solidFill>
                  </a:tcPr>
                </a:tc>
                <a:tc>
                  <a:txBody>
                    <a:bodyPr/>
                    <a:lstStyle/>
                    <a:p>
                      <a:r>
                        <a:rPr sz="1725" b="0">
                          <a:solidFill>
                            <a:srgbClr val="293C37"/>
                          </a:solidFill>
                          <a:latin typeface="Arial"/>
                          <a:ea typeface="Arial"/>
                          <a:cs typeface="Arial"/>
                        </a:rPr>
                        <a:t>Katering Mawar</a:t>
                      </a:r>
                    </a:p>
                  </a:txBody>
                  <a:tcPr marL="85725" marR="85725" marT="19050" marB="19050">
                    <a:solidFill>
                      <a:srgbClr val="FFFFFF"/>
                    </a:solidFill>
                  </a:tcPr>
                </a:tc>
                <a:tc>
                  <a:txBody>
                    <a:bodyPr/>
                    <a:lstStyle/>
                    <a:p>
                      <a:r>
                        <a:rPr sz="1725" b="0">
                          <a:solidFill>
                            <a:srgbClr val="293C37"/>
                          </a:solidFill>
                          <a:latin typeface="Arial"/>
                          <a:ea typeface="Arial"/>
                          <a:cs typeface="Arial"/>
                        </a:rPr>
                        <a:t>Pembayaran makan September menjadi hak Mawar.</a:t>
                      </a:r>
                    </a:p>
                  </a:txBody>
                  <a:tcPr marL="85725" marR="85725" marT="19050" marB="19050">
                    <a:solidFill>
                      <a:srgbClr val="FFFFFF"/>
                    </a:solidFill>
                  </a:tcPr>
                </a:tc>
              </a:tr>
              <a:tr h="720725">
                <a:tc>
                  <a:txBody>
                    <a:bodyPr/>
                    <a:lstStyle/>
                    <a:p>
                      <a:r>
                        <a:rPr sz="1725" b="0">
                          <a:solidFill>
                            <a:srgbClr val="293C37"/>
                          </a:solidFill>
                          <a:latin typeface="Arial"/>
                          <a:ea typeface="Arial"/>
                          <a:cs typeface="Arial"/>
                        </a:rPr>
                        <a:t>Oktober</a:t>
                      </a:r>
                    </a:p>
                  </a:txBody>
                  <a:tcPr marL="85725" marR="85725" marT="19050" marB="19050">
                    <a:solidFill>
                      <a:srgbClr val="E8F1EB"/>
                    </a:solidFill>
                  </a:tcPr>
                </a:tc>
                <a:tc>
                  <a:txBody>
                    <a:bodyPr/>
                    <a:lstStyle/>
                    <a:p>
                      <a:r>
                        <a:rPr sz="1725" b="0">
                          <a:solidFill>
                            <a:srgbClr val="293C37"/>
                          </a:solidFill>
                          <a:latin typeface="Arial"/>
                          <a:ea typeface="Arial"/>
                          <a:cs typeface="Arial"/>
                        </a:rPr>
                        <a:t>Katering Melati</a:t>
                      </a:r>
                    </a:p>
                  </a:txBody>
                  <a:tcPr marL="85725" marR="85725" marT="19050" marB="19050">
                    <a:solidFill>
                      <a:srgbClr val="E8F1EB"/>
                    </a:solidFill>
                  </a:tcPr>
                </a:tc>
                <a:tc>
                  <a:txBody>
                    <a:bodyPr/>
                    <a:lstStyle/>
                    <a:p>
                      <a:r>
                        <a:rPr sz="1725" b="0">
                          <a:solidFill>
                            <a:srgbClr val="293C37"/>
                          </a:solidFill>
                          <a:latin typeface="Arial"/>
                          <a:ea typeface="Arial"/>
                          <a:cs typeface="Arial"/>
                        </a:rPr>
                        <a:t>Pembayaran makan Oktober menjadi hak Melati.</a:t>
                      </a:r>
                    </a:p>
                  </a:txBody>
                  <a:tcPr marL="85725" marR="85725" marT="19050" marB="19050">
                    <a:solidFill>
                      <a:srgbClr val="E8F1EB"/>
                    </a:solidFill>
                  </a:tcPr>
                </a:tc>
              </a:tr>
              <a:tr h="720725">
                <a:tc>
                  <a:txBody>
                    <a:bodyPr/>
                    <a:lstStyle/>
                    <a:p>
                      <a:r>
                        <a:rPr sz="1725" b="0">
                          <a:solidFill>
                            <a:srgbClr val="293C37"/>
                          </a:solidFill>
                          <a:latin typeface="Arial"/>
                          <a:ea typeface="Arial"/>
                          <a:cs typeface="Arial"/>
                        </a:rPr>
                        <a:t>September dibayar terlambat</a:t>
                      </a:r>
                    </a:p>
                  </a:txBody>
                  <a:tcPr marL="85725" marR="85725" marT="19050" marB="19050">
                    <a:solidFill>
                      <a:srgbClr val="FFFFFF"/>
                    </a:solidFill>
                  </a:tcPr>
                </a:tc>
                <a:tc>
                  <a:txBody>
                    <a:bodyPr/>
                    <a:lstStyle/>
                    <a:p>
                      <a:r>
                        <a:rPr sz="1725" b="0">
                          <a:solidFill>
                            <a:srgbClr val="293C37"/>
                          </a:solidFill>
                          <a:latin typeface="Arial"/>
                          <a:ea typeface="Arial"/>
                          <a:cs typeface="Arial"/>
                        </a:rPr>
                        <a:t>Santri saat ini sudah di Melati</a:t>
                      </a:r>
                    </a:p>
                  </a:txBody>
                  <a:tcPr marL="85725" marR="85725" marT="19050" marB="19050">
                    <a:solidFill>
                      <a:srgbClr val="FFFFFF"/>
                    </a:solidFill>
                  </a:tcPr>
                </a:tc>
                <a:tc>
                  <a:txBody>
                    <a:bodyPr/>
                    <a:lstStyle/>
                    <a:p>
                      <a:r>
                        <a:rPr sz="1725" b="0">
                          <a:solidFill>
                            <a:srgbClr val="293C37"/>
                          </a:solidFill>
                          <a:latin typeface="Arial"/>
                          <a:ea typeface="Arial"/>
                          <a:cs typeface="Arial"/>
                        </a:rPr>
                        <a:t>Tujuan mengikuti catatan penyedia September yang tersimpan.</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EDD9DBE-4833-4384-AA39-D8E4B4AA545D}"/>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Data penyedia mengikuti modul Katering &amp; Laundry. Riwayat keuangan menyimpan hubungan per periode.</a:t>
            </a:r>
          </a:p>
        </p:txBody>
      </p:sp>
    </p:spTree>
    <p:extLst>
      <p:ext uri="{BB962C8B-B14F-4D97-AF65-F5344CB8AC3E}">
        <p14:creationId xmlns:p14="http://schemas.microsoft.com/office/powerpoint/2010/main" val="153065376"/>
      </p:ext>
    </p:extLst>
  </p:cSld>
</p:sld>
</file>

<file path=ppt/slides/slide2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701ABE-1C5A-42DC-8005-5B1A76E64263}"/>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14692DDF-103D-430C-90EA-9C5D66430051}"/>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Rekonsiliasi: mencocokkan uang dan catatan</a:t>
            </a:r>
          </a:p>
        </p:txBody>
      </p:sp>
      <p:sp>
        <p:nvSpPr>
          <p:cNvPr id="3" name="">
            <a:extLst xmlns:a="http://schemas.openxmlformats.org/drawingml/2006/main">
              <a:ext uri="{FF2B5EF4-FFF2-40B4-BE49-F238E27FC236}">
                <a16:creationId xmlns:a16="http://schemas.microsoft.com/office/drawing/2014/main" id="{30432801-A6A5-4CFF-9105-B25403895899}"/>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CFA35CB1-6811-43E5-A64F-E036D06620C9}"/>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29</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2667000"/>
                <a:gridCol w="4238625"/>
                <a:gridCol w="4067175"/>
              </a:tblGrid>
              <a:tr h="428625">
                <a:tc>
                  <a:txBody>
                    <a:bodyPr/>
                    <a:lstStyle/>
                    <a:p>
                      <a:r>
                        <a:rPr sz="1725" b="1">
                          <a:solidFill>
                            <a:srgbClr val="FFFFFF"/>
                          </a:solidFill>
                          <a:latin typeface="Arial"/>
                          <a:ea typeface="Arial"/>
                          <a:cs typeface="Arial"/>
                        </a:rPr>
                        <a:t>Bagian</a:t>
                      </a:r>
                    </a:p>
                  </a:txBody>
                  <a:tcPr marL="85725" marR="85725" marT="19050" marB="19050">
                    <a:solidFill>
                      <a:srgbClr val="176B55"/>
                    </a:solidFill>
                  </a:tcPr>
                </a:tc>
                <a:tc>
                  <a:txBody>
                    <a:bodyPr/>
                    <a:lstStyle/>
                    <a:p>
                      <a:r>
                        <a:rPr sz="1725" b="1">
                          <a:solidFill>
                            <a:srgbClr val="FFFFFF"/>
                          </a:solidFill>
                          <a:latin typeface="Arial"/>
                          <a:ea typeface="Arial"/>
                          <a:cs typeface="Arial"/>
                        </a:rPr>
                        <a:t>Yang dicocokkan</a:t>
                      </a:r>
                    </a:p>
                  </a:txBody>
                  <a:tcPr marL="85725" marR="85725" marT="19050" marB="19050">
                    <a:solidFill>
                      <a:srgbClr val="176B55"/>
                    </a:solidFill>
                  </a:tcPr>
                </a:tc>
                <a:tc>
                  <a:txBody>
                    <a:bodyPr/>
                    <a:lstStyle/>
                    <a:p>
                      <a:r>
                        <a:rPr sz="1725" b="1">
                          <a:solidFill>
                            <a:srgbClr val="FFFFFF"/>
                          </a:solidFill>
                          <a:latin typeface="Arial"/>
                          <a:ea typeface="Arial"/>
                          <a:cs typeface="Arial"/>
                        </a:rPr>
                        <a:t>Tindak lanjut</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Duitku &amp; Settlement</a:t>
                      </a:r>
                    </a:p>
                  </a:txBody>
                  <a:tcPr marL="85725" marR="85725" marT="19050" marB="19050">
                    <a:solidFill>
                      <a:srgbClr val="FFFFFF"/>
                    </a:solidFill>
                  </a:tcPr>
                </a:tc>
                <a:tc>
                  <a:txBody>
                    <a:bodyPr/>
                    <a:lstStyle/>
                    <a:p>
                      <a:r>
                        <a:rPr sz="1725" b="0">
                          <a:solidFill>
                            <a:srgbClr val="293C37"/>
                          </a:solidFill>
                          <a:latin typeface="Arial"/>
                          <a:ea typeface="Arial"/>
                          <a:cs typeface="Arial"/>
                        </a:rPr>
                        <a:t>Pembayaran online dengan dana yang diterima di bank</a:t>
                      </a:r>
                    </a:p>
                  </a:txBody>
                  <a:tcPr marL="85725" marR="85725" marT="19050" marB="19050">
                    <a:solidFill>
                      <a:srgbClr val="FFFFFF"/>
                    </a:solidFill>
                  </a:tcPr>
                </a:tc>
                <a:tc>
                  <a:txBody>
                    <a:bodyPr/>
                    <a:lstStyle/>
                    <a:p>
                      <a:r>
                        <a:rPr sz="1725" b="0">
                          <a:solidFill>
                            <a:srgbClr val="293C37"/>
                          </a:solidFill>
                          <a:latin typeface="Arial"/>
                          <a:ea typeface="Arial"/>
                          <a:cs typeface="Arial"/>
                        </a:rPr>
                        <a:t>Catat settlement dan periksa perbedaan nominal.</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Kas Loket &amp; Fisik</a:t>
                      </a:r>
                    </a:p>
                  </a:txBody>
                  <a:tcPr marL="85725" marR="85725" marT="19050" marB="19050">
                    <a:solidFill>
                      <a:srgbClr val="E8F1EB"/>
                    </a:solidFill>
                  </a:tcPr>
                </a:tc>
                <a:tc>
                  <a:txBody>
                    <a:bodyPr/>
                    <a:lstStyle/>
                    <a:p>
                      <a:r>
                        <a:rPr sz="1725" b="0">
                          <a:solidFill>
                            <a:srgbClr val="293C37"/>
                          </a:solidFill>
                          <a:latin typeface="Arial"/>
                          <a:ea typeface="Arial"/>
                          <a:cs typeface="Arial"/>
                        </a:rPr>
                        <a:t>Perhitungan sistem dengan uang fisik petugas</a:t>
                      </a:r>
                    </a:p>
                  </a:txBody>
                  <a:tcPr marL="85725" marR="85725" marT="19050" marB="19050">
                    <a:solidFill>
                      <a:srgbClr val="E8F1EB"/>
                    </a:solidFill>
                  </a:tcPr>
                </a:tc>
                <a:tc>
                  <a:txBody>
                    <a:bodyPr/>
                    <a:lstStyle/>
                    <a:p>
                      <a:r>
                        <a:rPr sz="1725" b="0">
                          <a:solidFill>
                            <a:srgbClr val="293C37"/>
                          </a:solidFill>
                          <a:latin typeface="Arial"/>
                          <a:ea typeface="Arial"/>
                          <a:cs typeface="Arial"/>
                        </a:rPr>
                        <a:t>Tinjau sesi kas dan alasan selisih.</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Perlu Resolusi</a:t>
                      </a:r>
                    </a:p>
                  </a:txBody>
                  <a:tcPr marL="85725" marR="85725" marT="19050" marB="19050">
                    <a:solidFill>
                      <a:srgbClr val="FFFFFF"/>
                    </a:solidFill>
                  </a:tcPr>
                </a:tc>
                <a:tc>
                  <a:txBody>
                    <a:bodyPr/>
                    <a:lstStyle/>
                    <a:p>
                      <a:r>
                        <a:rPr sz="1725" b="0">
                          <a:solidFill>
                            <a:srgbClr val="293C37"/>
                          </a:solidFill>
                          <a:latin typeface="Arial"/>
                          <a:ea typeface="Arial"/>
                          <a:cs typeface="Arial"/>
                        </a:rPr>
                        <a:t>Penerimaan yang belum jelas alokasinya</a:t>
                      </a:r>
                    </a:p>
                  </a:txBody>
                  <a:tcPr marL="85725" marR="85725" marT="19050" marB="19050">
                    <a:solidFill>
                      <a:srgbClr val="FFFFFF"/>
                    </a:solidFill>
                  </a:tcPr>
                </a:tc>
                <a:tc>
                  <a:txBody>
                    <a:bodyPr/>
                    <a:lstStyle/>
                    <a:p>
                      <a:r>
                        <a:rPr sz="1725" b="0">
                          <a:solidFill>
                            <a:srgbClr val="293C37"/>
                          </a:solidFill>
                          <a:latin typeface="Arial"/>
                          <a:ea typeface="Arial"/>
                          <a:cs typeface="Arial"/>
                        </a:rPr>
                        <a:t>Tentukan tujuan berdasarkan bukti.</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Riwayat Koreksi</a:t>
                      </a:r>
                    </a:p>
                  </a:txBody>
                  <a:tcPr marL="85725" marR="85725" marT="19050" marB="19050">
                    <a:solidFill>
                      <a:srgbClr val="E8F1EB"/>
                    </a:solidFill>
                  </a:tcPr>
                </a:tc>
                <a:tc>
                  <a:txBody>
                    <a:bodyPr/>
                    <a:lstStyle/>
                    <a:p>
                      <a:r>
                        <a:rPr sz="1725" b="0">
                          <a:solidFill>
                            <a:srgbClr val="293C37"/>
                          </a:solidFill>
                          <a:latin typeface="Arial"/>
                          <a:ea typeface="Arial"/>
                          <a:cs typeface="Arial"/>
                        </a:rPr>
                        <a:t>Pembayaran asal dengan koreksi yang dilakukan</a:t>
                      </a:r>
                    </a:p>
                  </a:txBody>
                  <a:tcPr marL="85725" marR="85725" marT="19050" marB="19050">
                    <a:solidFill>
                      <a:srgbClr val="E8F1EB"/>
                    </a:solidFill>
                  </a:tcPr>
                </a:tc>
                <a:tc>
                  <a:txBody>
                    <a:bodyPr/>
                    <a:lstStyle/>
                    <a:p>
                      <a:r>
                        <a:rPr sz="1725" b="0">
                          <a:solidFill>
                            <a:srgbClr val="293C37"/>
                          </a:solidFill>
                          <a:latin typeface="Arial"/>
                          <a:ea typeface="Arial"/>
                          <a:cs typeface="Arial"/>
                        </a:rPr>
                        <a:t>Telusuri alasan, petugas, dan dampak.</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Sinkronisasi Modul Lama</a:t>
                      </a:r>
                    </a:p>
                  </a:txBody>
                  <a:tcPr marL="85725" marR="85725" marT="19050" marB="19050">
                    <a:solidFill>
                      <a:srgbClr val="FFFFFF"/>
                    </a:solidFill>
                  </a:tcPr>
                </a:tc>
                <a:tc>
                  <a:txBody>
                    <a:bodyPr/>
                    <a:lstStyle/>
                    <a:p>
                      <a:r>
                        <a:rPr sz="1725" b="0">
                          <a:solidFill>
                            <a:srgbClr val="293C37"/>
                          </a:solidFill>
                          <a:latin typeface="Arial"/>
                          <a:ea typeface="Arial"/>
                          <a:cs typeface="Arial"/>
                        </a:rPr>
                        <a:t>Pembayaran lama dengan catatan keuangan baru</a:t>
                      </a:r>
                    </a:p>
                  </a:txBody>
                  <a:tcPr marL="85725" marR="85725" marT="19050" marB="19050">
                    <a:solidFill>
                      <a:srgbClr val="FFFFFF"/>
                    </a:solidFill>
                  </a:tcPr>
                </a:tc>
                <a:tc>
                  <a:txBody>
                    <a:bodyPr/>
                    <a:lstStyle/>
                    <a:p>
                      <a:r>
                        <a:rPr sz="1725" b="0">
                          <a:solidFill>
                            <a:srgbClr val="293C37"/>
                          </a:solidFill>
                          <a:latin typeface="Arial"/>
                          <a:ea typeface="Arial"/>
                          <a:cs typeface="Arial"/>
                        </a:rPr>
                        <a:t>Tinjau sumber dan cegah pencatatan ganda.</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722E45B-769B-409B-8CD9-A5F7E29B30BA}"/>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Settlement dicatat berdasarkan pemeriksaan dana masuk. Lunas bagi orang tua tidak sama dengan dana masuk bank.</a:t>
            </a:r>
          </a:p>
        </p:txBody>
      </p:sp>
    </p:spTree>
    <p:extLst>
      <p:ext uri="{BB962C8B-B14F-4D97-AF65-F5344CB8AC3E}">
        <p14:creationId xmlns:p14="http://schemas.microsoft.com/office/powerpoint/2010/main" val="1639836644"/>
      </p:ext>
    </p:extLst>
  </p:cSld>
</p:sld>
</file>

<file path=ppt/slides/slide3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4DBFB4-64F7-461A-BC8E-130597245EB5}"/>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3AE58F88-8AA3-4302-978B-74B56FB1EEBC}"/>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Koreksi tanpa menghapus jejak transaksi</a:t>
            </a:r>
          </a:p>
        </p:txBody>
      </p:sp>
      <p:sp>
        <p:nvSpPr>
          <p:cNvPr id="3" name="">
            <a:extLst xmlns:a="http://schemas.openxmlformats.org/drawingml/2006/main">
              <a:ext uri="{FF2B5EF4-FFF2-40B4-BE49-F238E27FC236}">
                <a16:creationId xmlns:a16="http://schemas.microsoft.com/office/drawing/2014/main" id="{9BA2BB22-F162-4C83-9B32-955048ADB61D}"/>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5B2ECFCB-BA1A-4DE7-A4A9-EDAF0B1EA52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30</a:t>
            </a:r>
          </a:p>
        </p:txBody>
      </p:sp>
      <p:graphicFrame>
        <p:nvGraphicFramePr>
          <p:cNvPr id="11" name=""/>
          <p:cNvGraphicFramePr/>
          <p:nvPr/>
        </p:nvGraphicFramePr>
        <p:xfrm>
          <a:off xmlns:a="http://schemas.openxmlformats.org/drawingml/2006/main" x="609600" y="1666875"/>
          <a:ext xmlns:a="http://schemas.openxmlformats.org/drawingml/2006/main" cx="10972800" cy="3238500"/>
        </p:xfrm>
        <a:graphic xmlns:a="http://schemas.openxmlformats.org/drawingml/2006/main">
          <a:graphicData uri="http://schemas.openxmlformats.org/drawingml/2006/table">
            <a:tbl>
              <a:tblPr/>
              <a:tblGrid>
                <a:gridCol w="2190750"/>
                <a:gridCol w="4191000"/>
                <a:gridCol w="4591050"/>
              </a:tblGrid>
              <a:tr h="428625">
                <a:tc>
                  <a:txBody>
                    <a:bodyPr/>
                    <a:lstStyle/>
                    <a:p>
                      <a:r>
                        <a:rPr sz="1725" b="1">
                          <a:solidFill>
                            <a:srgbClr val="FFFFFF"/>
                          </a:solidFill>
                          <a:latin typeface="Arial"/>
                          <a:ea typeface="Arial"/>
                          <a:cs typeface="Arial"/>
                        </a:rPr>
                        <a:t>Tindakan</a:t>
                      </a:r>
                    </a:p>
                  </a:txBody>
                  <a:tcPr marL="85725" marR="85725" marT="19050" marB="19050">
                    <a:solidFill>
                      <a:srgbClr val="176B55"/>
                    </a:solidFill>
                  </a:tcPr>
                </a:tc>
                <a:tc>
                  <a:txBody>
                    <a:bodyPr/>
                    <a:lstStyle/>
                    <a:p>
                      <a:r>
                        <a:rPr sz="1725" b="1">
                          <a:solidFill>
                            <a:srgbClr val="FFFFFF"/>
                          </a:solidFill>
                          <a:latin typeface="Arial"/>
                          <a:ea typeface="Arial"/>
                          <a:cs typeface="Arial"/>
                        </a:rPr>
                        <a:t>Maksud</a:t>
                      </a:r>
                    </a:p>
                  </a:txBody>
                  <a:tcPr marL="85725" marR="85725" marT="19050" marB="19050">
                    <a:solidFill>
                      <a:srgbClr val="176B55"/>
                    </a:solidFill>
                  </a:tcPr>
                </a:tc>
                <a:tc>
                  <a:txBody>
                    <a:bodyPr/>
                    <a:lstStyle/>
                    <a:p>
                      <a:r>
                        <a:rPr sz="1725" b="1">
                          <a:solidFill>
                            <a:srgbClr val="FFFFFF"/>
                          </a:solidFill>
                          <a:latin typeface="Arial"/>
                          <a:ea typeface="Arial"/>
                          <a:cs typeface="Arial"/>
                        </a:rPr>
                        <a:t>Bukti yang harus tetap ada</a:t>
                      </a:r>
                    </a:p>
                  </a:txBody>
                  <a:tcPr marL="85725" marR="85725" marT="19050" marB="19050">
                    <a:solidFill>
                      <a:srgbClr val="176B55"/>
                    </a:solidFill>
                  </a:tcPr>
                </a:tc>
              </a:tr>
              <a:tr h="702469">
                <a:tc>
                  <a:txBody>
                    <a:bodyPr/>
                    <a:lstStyle/>
                    <a:p>
                      <a:r>
                        <a:rPr sz="1725" b="0">
                          <a:solidFill>
                            <a:srgbClr val="293C37"/>
                          </a:solidFill>
                          <a:latin typeface="Arial"/>
                          <a:ea typeface="Arial"/>
                          <a:cs typeface="Arial"/>
                        </a:rPr>
                        <a:t>Void</a:t>
                      </a:r>
                    </a:p>
                  </a:txBody>
                  <a:tcPr marL="85725" marR="85725" marT="19050" marB="19050">
                    <a:solidFill>
                      <a:srgbClr val="FFFFFF"/>
                    </a:solidFill>
                  </a:tcPr>
                </a:tc>
                <a:tc>
                  <a:txBody>
                    <a:bodyPr/>
                    <a:lstStyle/>
                    <a:p>
                      <a:r>
                        <a:rPr sz="1725" b="0">
                          <a:solidFill>
                            <a:srgbClr val="293C37"/>
                          </a:solidFill>
                          <a:latin typeface="Arial"/>
                          <a:ea typeface="Arial"/>
                          <a:cs typeface="Arial"/>
                        </a:rPr>
                        <a:t>Menyatakan pembatalan catatan transaksi sesuai kasus</a:t>
                      </a:r>
                    </a:p>
                  </a:txBody>
                  <a:tcPr marL="85725" marR="85725" marT="19050" marB="19050">
                    <a:solidFill>
                      <a:srgbClr val="FFFFFF"/>
                    </a:solidFill>
                  </a:tcPr>
                </a:tc>
                <a:tc>
                  <a:txBody>
                    <a:bodyPr/>
                    <a:lstStyle/>
                    <a:p>
                      <a:r>
                        <a:rPr sz="1725" b="0">
                          <a:solidFill>
                            <a:srgbClr val="293C37"/>
                          </a:solidFill>
                          <a:latin typeface="Arial"/>
                          <a:ea typeface="Arial"/>
                          <a:cs typeface="Arial"/>
                        </a:rPr>
                        <a:t>Transaksi asal, alasan, dan catatan pembatalan</a:t>
                      </a:r>
                    </a:p>
                  </a:txBody>
                  <a:tcPr marL="85725" marR="85725" marT="19050" marB="19050">
                    <a:solidFill>
                      <a:srgbClr val="FFFFFF"/>
                    </a:solidFill>
                  </a:tcPr>
                </a:tc>
              </a:tr>
              <a:tr h="702469">
                <a:tc>
                  <a:txBody>
                    <a:bodyPr/>
                    <a:lstStyle/>
                    <a:p>
                      <a:r>
                        <a:rPr sz="1725" b="0">
                          <a:solidFill>
                            <a:srgbClr val="293C37"/>
                          </a:solidFill>
                          <a:latin typeface="Arial"/>
                          <a:ea typeface="Arial"/>
                          <a:cs typeface="Arial"/>
                        </a:rPr>
                        <a:t>Reversal</a:t>
                      </a:r>
                    </a:p>
                  </a:txBody>
                  <a:tcPr marL="85725" marR="85725" marT="19050" marB="19050">
                    <a:solidFill>
                      <a:srgbClr val="E8F1EB"/>
                    </a:solidFill>
                  </a:tcPr>
                </a:tc>
                <a:tc>
                  <a:txBody>
                    <a:bodyPr/>
                    <a:lstStyle/>
                    <a:p>
                      <a:r>
                        <a:rPr sz="1725" b="0">
                          <a:solidFill>
                            <a:srgbClr val="293C37"/>
                          </a:solidFill>
                          <a:latin typeface="Arial"/>
                          <a:ea typeface="Arial"/>
                          <a:cs typeface="Arial"/>
                        </a:rPr>
                        <a:t>Membalik dampak transaksi dengan catatan lawan</a:t>
                      </a:r>
                    </a:p>
                  </a:txBody>
                  <a:tcPr marL="85725" marR="85725" marT="19050" marB="19050">
                    <a:solidFill>
                      <a:srgbClr val="E8F1EB"/>
                    </a:solidFill>
                  </a:tcPr>
                </a:tc>
                <a:tc>
                  <a:txBody>
                    <a:bodyPr/>
                    <a:lstStyle/>
                    <a:p>
                      <a:r>
                        <a:rPr sz="1725" b="0">
                          <a:solidFill>
                            <a:srgbClr val="293C37"/>
                          </a:solidFill>
                          <a:latin typeface="Arial"/>
                          <a:ea typeface="Arial"/>
                          <a:cs typeface="Arial"/>
                        </a:rPr>
                        <a:t>Hubungan ke transaksi yang dibalik</a:t>
                      </a:r>
                    </a:p>
                  </a:txBody>
                  <a:tcPr marL="85725" marR="85725" marT="19050" marB="19050">
                    <a:solidFill>
                      <a:srgbClr val="E8F1EB"/>
                    </a:solidFill>
                  </a:tcPr>
                </a:tc>
              </a:tr>
              <a:tr h="702469">
                <a:tc>
                  <a:txBody>
                    <a:bodyPr/>
                    <a:lstStyle/>
                    <a:p>
                      <a:r>
                        <a:rPr sz="1725" b="0">
                          <a:solidFill>
                            <a:srgbClr val="293C37"/>
                          </a:solidFill>
                          <a:latin typeface="Arial"/>
                          <a:ea typeface="Arial"/>
                          <a:cs typeface="Arial"/>
                        </a:rPr>
                        <a:t>Refund</a:t>
                      </a:r>
                    </a:p>
                  </a:txBody>
                  <a:tcPr marL="85725" marR="85725" marT="19050" marB="19050">
                    <a:solidFill>
                      <a:srgbClr val="FFFFFF"/>
                    </a:solidFill>
                  </a:tcPr>
                </a:tc>
                <a:tc>
                  <a:txBody>
                    <a:bodyPr/>
                    <a:lstStyle/>
                    <a:p>
                      <a:r>
                        <a:rPr sz="1725" b="0">
                          <a:solidFill>
                            <a:srgbClr val="293C37"/>
                          </a:solidFill>
                          <a:latin typeface="Arial"/>
                          <a:ea typeface="Arial"/>
                          <a:cs typeface="Arial"/>
                        </a:rPr>
                        <a:t>Mencatat pengembalian uang kepada pembayar</a:t>
                      </a:r>
                    </a:p>
                  </a:txBody>
                  <a:tcPr marL="85725" marR="85725" marT="19050" marB="19050">
                    <a:solidFill>
                      <a:srgbClr val="FFFFFF"/>
                    </a:solidFill>
                  </a:tcPr>
                </a:tc>
                <a:tc>
                  <a:txBody>
                    <a:bodyPr/>
                    <a:lstStyle/>
                    <a:p>
                      <a:r>
                        <a:rPr sz="1725" b="0">
                          <a:solidFill>
                            <a:srgbClr val="293C37"/>
                          </a:solidFill>
                          <a:latin typeface="Arial"/>
                          <a:ea typeface="Arial"/>
                          <a:cs typeface="Arial"/>
                        </a:rPr>
                        <a:t>Nominal, metode, referensi, dan bukti pengembalian</a:t>
                      </a:r>
                    </a:p>
                  </a:txBody>
                  <a:tcPr marL="85725" marR="85725" marT="19050" marB="19050">
                    <a:solidFill>
                      <a:srgbClr val="FFFFFF"/>
                    </a:solidFill>
                  </a:tcPr>
                </a:tc>
              </a:tr>
              <a:tr h="702469">
                <a:tc>
                  <a:txBody>
                    <a:bodyPr/>
                    <a:lstStyle/>
                    <a:p>
                      <a:r>
                        <a:rPr sz="1725" b="0">
                          <a:solidFill>
                            <a:srgbClr val="293C37"/>
                          </a:solidFill>
                          <a:latin typeface="Arial"/>
                          <a:ea typeface="Arial"/>
                          <a:cs typeface="Arial"/>
                        </a:rPr>
                        <a:t>Pemulihan dana</a:t>
                      </a:r>
                    </a:p>
                  </a:txBody>
                  <a:tcPr marL="85725" marR="85725" marT="19050" marB="19050">
                    <a:solidFill>
                      <a:srgbClr val="E8F1EB"/>
                    </a:solidFill>
                  </a:tcPr>
                </a:tc>
                <a:tc>
                  <a:txBody>
                    <a:bodyPr/>
                    <a:lstStyle/>
                    <a:p>
                      <a:r>
                        <a:rPr sz="1725" b="0">
                          <a:solidFill>
                            <a:srgbClr val="293C37"/>
                          </a:solidFill>
                          <a:latin typeface="Arial"/>
                          <a:ea typeface="Arial"/>
                          <a:cs typeface="Arial"/>
                        </a:rPr>
                        <a:t>Menangani koreksi atas dana yang sudah disalurkan</a:t>
                      </a:r>
                    </a:p>
                  </a:txBody>
                  <a:tcPr marL="85725" marR="85725" marT="19050" marB="19050">
                    <a:solidFill>
                      <a:srgbClr val="E8F1EB"/>
                    </a:solidFill>
                  </a:tcPr>
                </a:tc>
                <a:tc>
                  <a:txBody>
                    <a:bodyPr/>
                    <a:lstStyle/>
                    <a:p>
                      <a:r>
                        <a:rPr sz="1725" b="0">
                          <a:solidFill>
                            <a:srgbClr val="293C37"/>
                          </a:solidFill>
                          <a:latin typeface="Arial"/>
                          <a:ea typeface="Arial"/>
                          <a:cs typeface="Arial"/>
                        </a:rPr>
                        <a:t>Pemeriksaan dan konfirmasi pihak penerima</a:t>
                      </a:r>
                    </a:p>
                  </a:txBody>
                  <a:tcPr marL="85725" marR="85725" marT="19050" marB="19050">
                    <a:solidFill>
                      <a:srgbClr val="E8F1EB"/>
                    </a:solidFill>
                  </a:tcPr>
                </a:tc>
              </a:tr>
            </a:tbl>
          </a:graphicData>
        </a:graphic>
      </p:graphicFrame>
      <p:sp>
        <p:nvSpPr>
          <p:cNvPr id="6" name="">
            <a:extLst xmlns:a="http://schemas.openxmlformats.org/drawingml/2006/main">
              <a:ext uri="{FF2B5EF4-FFF2-40B4-BE49-F238E27FC236}">
                <a16:creationId xmlns:a16="http://schemas.microsoft.com/office/drawing/2014/main" id="{AE6B02DF-CD1C-4A49-8B16-F2E638DF2239}"/>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Dana yang sudah disalurkan tidak otomatis dipotong dari jatah periode berikutnya.</a:t>
            </a:r>
          </a:p>
        </p:txBody>
      </p:sp>
    </p:spTree>
    <p:extLst>
      <p:ext uri="{BB962C8B-B14F-4D97-AF65-F5344CB8AC3E}">
        <p14:creationId xmlns:p14="http://schemas.microsoft.com/office/powerpoint/2010/main" val="1073313454"/>
      </p:ext>
    </p:extLst>
  </p:cSld>
</p:sld>
</file>

<file path=ppt/slides/slide3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6CB9574-A7D9-4726-B222-80BB5971957D}"/>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59469A9C-605D-4E60-BC9D-E3B59D16879C}"/>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Riwayat Transaksi</a:t>
            </a:r>
          </a:p>
        </p:txBody>
      </p:sp>
      <p:sp>
        <p:nvSpPr>
          <p:cNvPr id="3" name="">
            <a:extLst xmlns:a="http://schemas.openxmlformats.org/drawingml/2006/main">
              <a:ext uri="{FF2B5EF4-FFF2-40B4-BE49-F238E27FC236}">
                <a16:creationId xmlns:a16="http://schemas.microsoft.com/office/drawing/2014/main" id="{0793F51A-C6F8-4E5B-83CB-432028795EF4}"/>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804B8F54-44E5-4569-B99B-ECCF436CC0E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EF295DAB-4DC1-482E-92FE-9CB46ADABADD}"/>
              </a:ext>
            </a:extLst>
          </p:cNvPr>
          <p:cNvSpPr>
            <a:spLocks xmlns:a="http://schemas.openxmlformats.org/drawingml/2006/main" noGrp="1"/>
          </p:cNvSpPr>
          <p:nvPr/>
        </p:nvSpPr>
        <p:spPr>
          <a:xfrm xmlns:a="http://schemas.openxmlformats.org/drawingml/2006/main">
            <a:off x="609600" y="1857375"/>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Cakupan</a:t>
            </a:r>
          </a:p>
        </p:txBody>
      </p:sp>
      <p:sp>
        <p:nvSpPr>
          <p:cNvPr id="6" name="">
            <a:extLst xmlns:a="http://schemas.openxmlformats.org/drawingml/2006/main">
              <a:ext uri="{FF2B5EF4-FFF2-40B4-BE49-F238E27FC236}">
                <a16:creationId xmlns:a16="http://schemas.microsoft.com/office/drawing/2014/main" id="{03C80E95-4C63-4EE2-B532-3F998810D34D}"/>
              </a:ext>
            </a:extLst>
          </p:cNvPr>
          <p:cNvSpPr>
            <a:spLocks xmlns:a="http://schemas.openxmlformats.org/drawingml/2006/main" noGrp="1"/>
          </p:cNvSpPr>
          <p:nvPr/>
        </p:nvSpPr>
        <p:spPr>
          <a:xfrm xmlns:a="http://schemas.openxmlformats.org/drawingml/2006/main">
            <a:off x="3867150" y="1857375"/>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Pembayaran, top-up, pencairan uang jajan, penyaluran, serta koreksi transaksi.</a:t>
            </a:r>
          </a:p>
        </p:txBody>
      </p:sp>
      <p:sp>
        <p:nvSpPr>
          <p:cNvPr id="7" name="">
            <a:extLst xmlns:a="http://schemas.openxmlformats.org/drawingml/2006/main">
              <a:ext uri="{FF2B5EF4-FFF2-40B4-BE49-F238E27FC236}">
                <a16:creationId xmlns:a16="http://schemas.microsoft.com/office/drawing/2014/main" id="{2D3538D9-272C-4C76-9594-4652939FC89B}"/>
              </a:ext>
            </a:extLst>
          </p:cNvPr>
          <p:cNvSpPr>
            <a:spLocks xmlns:a="http://schemas.openxmlformats.org/drawingml/2006/main" noGrp="1"/>
          </p:cNvSpPr>
          <p:nvPr/>
        </p:nvSpPr>
        <p:spPr>
          <a:xfrm xmlns:a="http://schemas.openxmlformats.org/drawingml/2006/main">
            <a:off x="609600" y="2726531"/>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Pencarian</a:t>
            </a:r>
          </a:p>
        </p:txBody>
      </p:sp>
      <p:sp>
        <p:nvSpPr>
          <p:cNvPr id="8" name="">
            <a:extLst xmlns:a="http://schemas.openxmlformats.org/drawingml/2006/main">
              <a:ext uri="{FF2B5EF4-FFF2-40B4-BE49-F238E27FC236}">
                <a16:creationId xmlns:a16="http://schemas.microsoft.com/office/drawing/2014/main" id="{BDB69AC8-B02C-47EB-99F0-C2E5AD76B19E}"/>
              </a:ext>
            </a:extLst>
          </p:cNvPr>
          <p:cNvSpPr>
            <a:spLocks xmlns:a="http://schemas.openxmlformats.org/drawingml/2006/main" noGrp="1"/>
          </p:cNvSpPr>
          <p:nvPr/>
        </p:nvSpPr>
        <p:spPr>
          <a:xfrm xmlns:a="http://schemas.openxmlformats.org/drawingml/2006/main">
            <a:off x="3867150" y="2726531"/>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Telusuri berdasarkan waktu, santri, jenis, metode, item, status, petugas, atau nomor referensi.</a:t>
            </a:r>
          </a:p>
        </p:txBody>
      </p:sp>
      <p:sp>
        <p:nvSpPr>
          <p:cNvPr id="9" name="">
            <a:extLst xmlns:a="http://schemas.openxmlformats.org/drawingml/2006/main">
              <a:ext uri="{FF2B5EF4-FFF2-40B4-BE49-F238E27FC236}">
                <a16:creationId xmlns:a16="http://schemas.microsoft.com/office/drawing/2014/main" id="{839E964F-6811-4266-929B-07F71F6EBCBE}"/>
              </a:ext>
            </a:extLst>
          </p:cNvPr>
          <p:cNvSpPr>
            <a:spLocks xmlns:a="http://schemas.openxmlformats.org/drawingml/2006/main" noGrp="1"/>
          </p:cNvSpPr>
          <p:nvPr/>
        </p:nvSpPr>
        <p:spPr>
          <a:xfrm xmlns:a="http://schemas.openxmlformats.org/drawingml/2006/main">
            <a:off x="609600" y="3595688"/>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Rincian</a:t>
            </a:r>
          </a:p>
        </p:txBody>
      </p:sp>
      <p:sp>
        <p:nvSpPr>
          <p:cNvPr id="10" name="">
            <a:extLst xmlns:a="http://schemas.openxmlformats.org/drawingml/2006/main">
              <a:ext uri="{FF2B5EF4-FFF2-40B4-BE49-F238E27FC236}">
                <a16:creationId xmlns:a16="http://schemas.microsoft.com/office/drawing/2014/main" id="{D78CFD05-2CE1-4807-AD96-5E5A1F594536}"/>
              </a:ext>
            </a:extLst>
          </p:cNvPr>
          <p:cNvSpPr>
            <a:spLocks xmlns:a="http://schemas.openxmlformats.org/drawingml/2006/main" noGrp="1"/>
          </p:cNvSpPr>
          <p:nvPr/>
        </p:nvSpPr>
        <p:spPr>
          <a:xfrm xmlns:a="http://schemas.openxmlformats.org/drawingml/2006/main">
            <a:off x="3867150" y="3595688"/>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Buka detail untuk mengetahui asal uang, peruntukan, pihak terkait, dan catatan koreksi.</a:t>
            </a:r>
          </a:p>
        </p:txBody>
      </p:sp>
      <p:sp>
        <p:nvSpPr>
          <p:cNvPr id="11" name="">
            <a:extLst xmlns:a="http://schemas.openxmlformats.org/drawingml/2006/main">
              <a:ext uri="{FF2B5EF4-FFF2-40B4-BE49-F238E27FC236}">
                <a16:creationId xmlns:a16="http://schemas.microsoft.com/office/drawing/2014/main" id="{0A667650-CCA1-4E2F-B1A9-8A57004138EF}"/>
              </a:ext>
            </a:extLst>
          </p:cNvPr>
          <p:cNvSpPr>
            <a:spLocks xmlns:a="http://schemas.openxmlformats.org/drawingml/2006/main" noGrp="1"/>
          </p:cNvSpPr>
          <p:nvPr/>
        </p:nvSpPr>
        <p:spPr>
          <a:xfrm xmlns:a="http://schemas.openxmlformats.org/drawingml/2006/main">
            <a:off x="609600" y="4464844"/>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Kegunaan</a:t>
            </a:r>
          </a:p>
        </p:txBody>
      </p:sp>
      <p:sp>
        <p:nvSpPr>
          <p:cNvPr id="12" name="">
            <a:extLst xmlns:a="http://schemas.openxmlformats.org/drawingml/2006/main">
              <a:ext uri="{FF2B5EF4-FFF2-40B4-BE49-F238E27FC236}">
                <a16:creationId xmlns:a16="http://schemas.microsoft.com/office/drawing/2014/main" id="{EC7DB0E5-9F02-4E4B-8331-E0F15B44BF84}"/>
              </a:ext>
            </a:extLst>
          </p:cNvPr>
          <p:cNvSpPr>
            <a:spLocks xmlns:a="http://schemas.openxmlformats.org/drawingml/2006/main" noGrp="1"/>
          </p:cNvSpPr>
          <p:nvPr/>
        </p:nvSpPr>
        <p:spPr>
          <a:xfrm xmlns:a="http://schemas.openxmlformats.org/drawingml/2006/main">
            <a:off x="3867150" y="4464844"/>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Menjawab pertanyaan orang tua dan menelusuri selisih tanpa bergantung pada ingatan petugas.</a:t>
            </a:r>
          </a:p>
        </p:txBody>
      </p:sp>
      <p:sp>
        <p:nvSpPr>
          <p:cNvPr id="13" name="">
            <a:extLst xmlns:a="http://schemas.openxmlformats.org/drawingml/2006/main">
              <a:ext uri="{FF2B5EF4-FFF2-40B4-BE49-F238E27FC236}">
                <a16:creationId xmlns:a16="http://schemas.microsoft.com/office/drawing/2014/main" id="{052532B7-77CD-41B7-9559-5F043AA5FD1E}"/>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Nomor referensi menjadi penghubung antara bukti pembayaran, alokasi, dan tindak lanjut.</a:t>
            </a:r>
          </a:p>
        </p:txBody>
      </p:sp>
    </p:spTree>
    <p:extLst>
      <p:ext uri="{BB962C8B-B14F-4D97-AF65-F5344CB8AC3E}">
        <p14:creationId xmlns:p14="http://schemas.microsoft.com/office/powerpoint/2010/main" val="629388535"/>
      </p:ext>
    </p:extLst>
  </p:cSld>
</p:sld>
</file>

<file path=ppt/slides/slide3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2AFD92-ADAB-402C-9895-AEF8F12292A6}"/>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EACEA354-9159-4AB0-90C2-310404BEC5A3}"/>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Laporan &amp; Cetak</a:t>
            </a:r>
          </a:p>
        </p:txBody>
      </p:sp>
      <p:sp>
        <p:nvSpPr>
          <p:cNvPr id="3" name="">
            <a:extLst xmlns:a="http://schemas.openxmlformats.org/drawingml/2006/main">
              <a:ext uri="{FF2B5EF4-FFF2-40B4-BE49-F238E27FC236}">
                <a16:creationId xmlns:a16="http://schemas.microsoft.com/office/drawing/2014/main" id="{79DEA316-B0DF-4B64-A132-7ED91792DB87}"/>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293AA86E-BDF0-4952-AAB5-4A3BD442AB53}"/>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32</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3381375"/>
                <a:gridCol w="4048125"/>
                <a:gridCol w="3543300"/>
              </a:tblGrid>
              <a:tr h="428625">
                <a:tc>
                  <a:txBody>
                    <a:bodyPr/>
                    <a:lstStyle/>
                    <a:p>
                      <a:r>
                        <a:rPr sz="1725" b="1">
                          <a:solidFill>
                            <a:srgbClr val="FFFFFF"/>
                          </a:solidFill>
                          <a:latin typeface="Arial"/>
                          <a:ea typeface="Arial"/>
                          <a:cs typeface="Arial"/>
                        </a:rPr>
                        <a:t>Kelompok laporan</a:t>
                      </a:r>
                    </a:p>
                  </a:txBody>
                  <a:tcPr marL="85725" marR="85725" marT="19050" marB="19050">
                    <a:solidFill>
                      <a:srgbClr val="176B55"/>
                    </a:solidFill>
                  </a:tcPr>
                </a:tc>
                <a:tc>
                  <a:txBody>
                    <a:bodyPr/>
                    <a:lstStyle/>
                    <a:p>
                      <a:r>
                        <a:rPr sz="1725" b="1">
                          <a:solidFill>
                            <a:srgbClr val="FFFFFF"/>
                          </a:solidFill>
                          <a:latin typeface="Arial"/>
                          <a:ea typeface="Arial"/>
                          <a:cs typeface="Arial"/>
                        </a:rPr>
                        <a:t>Isi</a:t>
                      </a:r>
                    </a:p>
                  </a:txBody>
                  <a:tcPr marL="85725" marR="85725" marT="19050" marB="19050">
                    <a:solidFill>
                      <a:srgbClr val="176B55"/>
                    </a:solidFill>
                  </a:tcPr>
                </a:tc>
                <a:tc>
                  <a:txBody>
                    <a:bodyPr/>
                    <a:lstStyle/>
                    <a:p>
                      <a:r>
                        <a:rPr sz="1725" b="1">
                          <a:solidFill>
                            <a:srgbClr val="FFFFFF"/>
                          </a:solidFill>
                          <a:latin typeface="Arial"/>
                          <a:ea typeface="Arial"/>
                          <a:cs typeface="Arial"/>
                        </a:rPr>
                        <a:t>Kegunaan</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Penerimaan dan penyaluran</a:t>
                      </a:r>
                    </a:p>
                  </a:txBody>
                  <a:tcPr marL="85725" marR="85725" marT="19050" marB="19050">
                    <a:solidFill>
                      <a:srgbClr val="FFFFFF"/>
                    </a:solidFill>
                  </a:tcPr>
                </a:tc>
                <a:tc>
                  <a:txBody>
                    <a:bodyPr/>
                    <a:lstStyle/>
                    <a:p>
                      <a:r>
                        <a:rPr sz="1725" b="0">
                          <a:solidFill>
                            <a:srgbClr val="293C37"/>
                          </a:solidFill>
                          <a:latin typeface="Arial"/>
                          <a:ea typeface="Arial"/>
                          <a:cs typeface="Arial"/>
                        </a:rPr>
                        <a:t>Dana masuk dan dana kepada penerima</a:t>
                      </a:r>
                    </a:p>
                  </a:txBody>
                  <a:tcPr marL="85725" marR="85725" marT="19050" marB="19050">
                    <a:solidFill>
                      <a:srgbClr val="FFFFFF"/>
                    </a:solidFill>
                  </a:tcPr>
                </a:tc>
                <a:tc>
                  <a:txBody>
                    <a:bodyPr/>
                    <a:lstStyle/>
                    <a:p>
                      <a:r>
                        <a:rPr sz="1725" b="0">
                          <a:solidFill>
                            <a:srgbClr val="293C37"/>
                          </a:solidFill>
                          <a:latin typeface="Arial"/>
                          <a:ea typeface="Arial"/>
                          <a:cs typeface="Arial"/>
                        </a:rPr>
                        <a:t>Pertanggungjawaban periode</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Penunggak dan pembebasan</a:t>
                      </a:r>
                    </a:p>
                  </a:txBody>
                  <a:tcPr marL="85725" marR="85725" marT="19050" marB="19050">
                    <a:solidFill>
                      <a:srgbClr val="E8F1EB"/>
                    </a:solidFill>
                  </a:tcPr>
                </a:tc>
                <a:tc>
                  <a:txBody>
                    <a:bodyPr/>
                    <a:lstStyle/>
                    <a:p>
                      <a:r>
                        <a:rPr sz="1725" b="0">
                          <a:solidFill>
                            <a:srgbClr val="293C37"/>
                          </a:solidFill>
                          <a:latin typeface="Arial"/>
                          <a:ea typeface="Arial"/>
                          <a:cs typeface="Arial"/>
                        </a:rPr>
                        <a:t>Kewajiban tersisa dan pengecualian</a:t>
                      </a:r>
                    </a:p>
                  </a:txBody>
                  <a:tcPr marL="85725" marR="85725" marT="19050" marB="19050">
                    <a:solidFill>
                      <a:srgbClr val="E8F1EB"/>
                    </a:solidFill>
                  </a:tcPr>
                </a:tc>
                <a:tc>
                  <a:txBody>
                    <a:bodyPr/>
                    <a:lstStyle/>
                    <a:p>
                      <a:r>
                        <a:rPr sz="1725" b="0">
                          <a:solidFill>
                            <a:srgbClr val="293C37"/>
                          </a:solidFill>
                          <a:latin typeface="Arial"/>
                          <a:ea typeface="Arial"/>
                          <a:cs typeface="Arial"/>
                        </a:rPr>
                        <a:t>Tindak lanjut serta evaluasi kebijakan</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Detail per santri</a:t>
                      </a:r>
                    </a:p>
                  </a:txBody>
                  <a:tcPr marL="85725" marR="85725" marT="19050" marB="19050">
                    <a:solidFill>
                      <a:srgbClr val="FFFFFF"/>
                    </a:solidFill>
                  </a:tcPr>
                </a:tc>
                <a:tc>
                  <a:txBody>
                    <a:bodyPr/>
                    <a:lstStyle/>
                    <a:p>
                      <a:r>
                        <a:rPr sz="1725" b="0">
                          <a:solidFill>
                            <a:srgbClr val="293C37"/>
                          </a:solidFill>
                          <a:latin typeface="Arial"/>
                          <a:ea typeface="Arial"/>
                          <a:cs typeface="Arial"/>
                        </a:rPr>
                        <a:t>Rincian kewajiban dan pembayaran</a:t>
                      </a:r>
                    </a:p>
                  </a:txBody>
                  <a:tcPr marL="85725" marR="85725" marT="19050" marB="19050">
                    <a:solidFill>
                      <a:srgbClr val="FFFFFF"/>
                    </a:solidFill>
                  </a:tcPr>
                </a:tc>
                <a:tc>
                  <a:txBody>
                    <a:bodyPr/>
                    <a:lstStyle/>
                    <a:p>
                      <a:r>
                        <a:rPr sz="1725" b="0">
                          <a:solidFill>
                            <a:srgbClr val="293C37"/>
                          </a:solidFill>
                          <a:latin typeface="Arial"/>
                          <a:ea typeface="Arial"/>
                          <a:cs typeface="Arial"/>
                        </a:rPr>
                        <a:t>Penjelasan kepada wali santri</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Uang jajan dan loket</a:t>
                      </a:r>
                    </a:p>
                  </a:txBody>
                  <a:tcPr marL="85725" marR="85725" marT="19050" marB="19050">
                    <a:solidFill>
                      <a:srgbClr val="E8F1EB"/>
                    </a:solidFill>
                  </a:tcPr>
                </a:tc>
                <a:tc>
                  <a:txBody>
                    <a:bodyPr/>
                    <a:lstStyle/>
                    <a:p>
                      <a:r>
                        <a:rPr sz="1725" b="0">
                          <a:solidFill>
                            <a:srgbClr val="293C37"/>
                          </a:solidFill>
                          <a:latin typeface="Arial"/>
                          <a:ea typeface="Arial"/>
                          <a:cs typeface="Arial"/>
                        </a:rPr>
                        <a:t>Saldo titipan, mutasi, sesi kas</a:t>
                      </a:r>
                    </a:p>
                  </a:txBody>
                  <a:tcPr marL="85725" marR="85725" marT="19050" marB="19050">
                    <a:solidFill>
                      <a:srgbClr val="E8F1EB"/>
                    </a:solidFill>
                  </a:tcPr>
                </a:tc>
                <a:tc>
                  <a:txBody>
                    <a:bodyPr/>
                    <a:lstStyle/>
                    <a:p>
                      <a:r>
                        <a:rPr sz="1725" b="0">
                          <a:solidFill>
                            <a:srgbClr val="293C37"/>
                          </a:solidFill>
                          <a:latin typeface="Arial"/>
                          <a:ea typeface="Arial"/>
                          <a:cs typeface="Arial"/>
                        </a:rPr>
                        <a:t>Pengawasan layanan koperasi</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Settlement dan rekonsiliasi</a:t>
                      </a:r>
                    </a:p>
                  </a:txBody>
                  <a:tcPr marL="85725" marR="85725" marT="19050" marB="19050">
                    <a:solidFill>
                      <a:srgbClr val="FFFFFF"/>
                    </a:solidFill>
                  </a:tcPr>
                </a:tc>
                <a:tc>
                  <a:txBody>
                    <a:bodyPr/>
                    <a:lstStyle/>
                    <a:p>
                      <a:r>
                        <a:rPr sz="1725" b="0">
                          <a:solidFill>
                            <a:srgbClr val="293C37"/>
                          </a:solidFill>
                          <a:latin typeface="Arial"/>
                          <a:ea typeface="Arial"/>
                          <a:cs typeface="Arial"/>
                        </a:rPr>
                        <a:t>Dana masuk bank dan perbedaan catatan</a:t>
                      </a:r>
                    </a:p>
                  </a:txBody>
                  <a:tcPr marL="85725" marR="85725" marT="19050" marB="19050">
                    <a:solidFill>
                      <a:srgbClr val="FFFFFF"/>
                    </a:solidFill>
                  </a:tcPr>
                </a:tc>
                <a:tc>
                  <a:txBody>
                    <a:bodyPr/>
                    <a:lstStyle/>
                    <a:p>
                      <a:r>
                        <a:rPr sz="1725" b="0">
                          <a:solidFill>
                            <a:srgbClr val="293C37"/>
                          </a:solidFill>
                          <a:latin typeface="Arial"/>
                          <a:ea typeface="Arial"/>
                          <a:cs typeface="Arial"/>
                        </a:rPr>
                        <a:t>Pemeriksaan bendahara</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05B70CB-BF35-44DA-B644-F993342954E5}"/>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Cetak / simpan PDF melalui fasilitas cetak. Ekspor Excel tersedia untuk pengolahan lanjutan.</a:t>
            </a:r>
          </a:p>
        </p:txBody>
      </p:sp>
    </p:spTree>
    <p:extLst>
      <p:ext uri="{BB962C8B-B14F-4D97-AF65-F5344CB8AC3E}">
        <p14:creationId xmlns:p14="http://schemas.microsoft.com/office/powerpoint/2010/main" val="1569118863"/>
      </p:ext>
    </p:extLst>
  </p:cSld>
</p:sld>
</file>

<file path=ppt/slides/slide3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8164E8B-9815-40CC-A2FB-44D36673FBD6}"/>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A1FF56A3-642E-43D1-8596-7FDCAB56687C}"/>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Pengamanan dan jejak pertanggungjawaban</a:t>
            </a:r>
          </a:p>
        </p:txBody>
      </p:sp>
      <p:sp>
        <p:nvSpPr>
          <p:cNvPr id="3" name="">
            <a:extLst xmlns:a="http://schemas.openxmlformats.org/drawingml/2006/main">
              <a:ext uri="{FF2B5EF4-FFF2-40B4-BE49-F238E27FC236}">
                <a16:creationId xmlns:a16="http://schemas.microsoft.com/office/drawing/2014/main" id="{5FE31909-FF90-4F48-B5F2-1A40FF3E002F}"/>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6F196323-9BBB-46E1-8C0D-0EF35D1F06E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C4B61732-6D5A-4AED-A7BD-19476134FC69}"/>
              </a:ext>
            </a:extLst>
          </p:cNvPr>
          <p:cNvSpPr>
            <a:spLocks xmlns:a="http://schemas.openxmlformats.org/drawingml/2006/main" noGrp="1"/>
          </p:cNvSpPr>
          <p:nvPr/>
        </p:nvSpPr>
        <p:spPr>
          <a:xfrm xmlns:a="http://schemas.openxmlformats.org/drawingml/2006/main">
            <a:off x="609600" y="1857375"/>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Hak akses</a:t>
            </a:r>
          </a:p>
        </p:txBody>
      </p:sp>
      <p:sp>
        <p:nvSpPr>
          <p:cNvPr id="6" name="">
            <a:extLst xmlns:a="http://schemas.openxmlformats.org/drawingml/2006/main">
              <a:ext uri="{FF2B5EF4-FFF2-40B4-BE49-F238E27FC236}">
                <a16:creationId xmlns:a16="http://schemas.microsoft.com/office/drawing/2014/main" id="{A427E461-F378-49EF-8968-62166FE12912}"/>
              </a:ext>
            </a:extLst>
          </p:cNvPr>
          <p:cNvSpPr>
            <a:spLocks xmlns:a="http://schemas.openxmlformats.org/drawingml/2006/main" noGrp="1"/>
          </p:cNvSpPr>
          <p:nvPr/>
        </p:nvSpPr>
        <p:spPr>
          <a:xfrm xmlns:a="http://schemas.openxmlformats.org/drawingml/2006/main">
            <a:off x="3867150" y="1857375"/>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Akun hanya menjalankan tindakan sesuai izin. Pimpinan dapat memantau tanpa mengubah transaksi.</a:t>
            </a:r>
          </a:p>
        </p:txBody>
      </p:sp>
      <p:sp>
        <p:nvSpPr>
          <p:cNvPr id="7" name="">
            <a:extLst xmlns:a="http://schemas.openxmlformats.org/drawingml/2006/main">
              <a:ext uri="{FF2B5EF4-FFF2-40B4-BE49-F238E27FC236}">
                <a16:creationId xmlns:a16="http://schemas.microsoft.com/office/drawing/2014/main" id="{46AD737B-F25A-418C-ABF5-EB4D0D929F2B}"/>
              </a:ext>
            </a:extLst>
          </p:cNvPr>
          <p:cNvSpPr>
            <a:spLocks xmlns:a="http://schemas.openxmlformats.org/drawingml/2006/main" noGrp="1"/>
          </p:cNvSpPr>
          <p:nvPr/>
        </p:nvSpPr>
        <p:spPr>
          <a:xfrm xmlns:a="http://schemas.openxmlformats.org/drawingml/2006/main">
            <a:off x="609600" y="2726531"/>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Nominal yang sah</a:t>
            </a:r>
          </a:p>
        </p:txBody>
      </p:sp>
      <p:sp>
        <p:nvSpPr>
          <p:cNvPr id="8" name="">
            <a:extLst xmlns:a="http://schemas.openxmlformats.org/drawingml/2006/main">
              <a:ext uri="{FF2B5EF4-FFF2-40B4-BE49-F238E27FC236}">
                <a16:creationId xmlns:a16="http://schemas.microsoft.com/office/drawing/2014/main" id="{0917B927-EEB2-4499-9B12-F226440815C3}"/>
              </a:ext>
            </a:extLst>
          </p:cNvPr>
          <p:cNvSpPr>
            <a:spLocks xmlns:a="http://schemas.openxmlformats.org/drawingml/2006/main" noGrp="1"/>
          </p:cNvSpPr>
          <p:nvPr/>
        </p:nvSpPr>
        <p:spPr>
          <a:xfrm xmlns:a="http://schemas.openxmlformats.org/drawingml/2006/main">
            <a:off x="3867150" y="2726531"/>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Sistem memeriksa jumlah, sisa tagihan, aturan cicilan, saldo, dan batas pencairan.</a:t>
            </a:r>
          </a:p>
        </p:txBody>
      </p:sp>
      <p:sp>
        <p:nvSpPr>
          <p:cNvPr id="9" name="">
            <a:extLst xmlns:a="http://schemas.openxmlformats.org/drawingml/2006/main">
              <a:ext uri="{FF2B5EF4-FFF2-40B4-BE49-F238E27FC236}">
                <a16:creationId xmlns:a16="http://schemas.microsoft.com/office/drawing/2014/main" id="{ABDAF69A-97C0-41C8-BD65-440A5FEB6923}"/>
              </a:ext>
            </a:extLst>
          </p:cNvPr>
          <p:cNvSpPr>
            <a:spLocks xmlns:a="http://schemas.openxmlformats.org/drawingml/2006/main" noGrp="1"/>
          </p:cNvSpPr>
          <p:nvPr/>
        </p:nvSpPr>
        <p:spPr>
          <a:xfrm xmlns:a="http://schemas.openxmlformats.org/drawingml/2006/main">
            <a:off x="609600" y="3595688"/>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Pencegahan ganda</a:t>
            </a:r>
          </a:p>
        </p:txBody>
      </p:sp>
      <p:sp>
        <p:nvSpPr>
          <p:cNvPr id="10" name="">
            <a:extLst xmlns:a="http://schemas.openxmlformats.org/drawingml/2006/main">
              <a:ext uri="{FF2B5EF4-FFF2-40B4-BE49-F238E27FC236}">
                <a16:creationId xmlns:a16="http://schemas.microsoft.com/office/drawing/2014/main" id="{819DB156-8A9A-43FA-8EA8-AC8D8402902E}"/>
              </a:ext>
            </a:extLst>
          </p:cNvPr>
          <p:cNvSpPr>
            <a:spLocks xmlns:a="http://schemas.openxmlformats.org/drawingml/2006/main" noGrp="1"/>
          </p:cNvSpPr>
          <p:nvPr/>
        </p:nvSpPr>
        <p:spPr>
          <a:xfrm xmlns:a="http://schemas.openxmlformats.org/drawingml/2006/main">
            <a:off x="3867150" y="3595688"/>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Pemberitahuan pembayaran berulang harus merujuk penerimaan yang sama.</a:t>
            </a:r>
          </a:p>
        </p:txBody>
      </p:sp>
      <p:sp>
        <p:nvSpPr>
          <p:cNvPr id="11" name="">
            <a:extLst xmlns:a="http://schemas.openxmlformats.org/drawingml/2006/main">
              <a:ext uri="{FF2B5EF4-FFF2-40B4-BE49-F238E27FC236}">
                <a16:creationId xmlns:a16="http://schemas.microsoft.com/office/drawing/2014/main" id="{FF4C4E64-0CB6-456C-87D6-13FA36197422}"/>
              </a:ext>
            </a:extLst>
          </p:cNvPr>
          <p:cNvSpPr>
            <a:spLocks xmlns:a="http://schemas.openxmlformats.org/drawingml/2006/main" noGrp="1"/>
          </p:cNvSpPr>
          <p:nvPr/>
        </p:nvSpPr>
        <p:spPr>
          <a:xfrm xmlns:a="http://schemas.openxmlformats.org/drawingml/2006/main">
            <a:off x="609600" y="4464844"/>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Riwayat permanen</a:t>
            </a:r>
          </a:p>
        </p:txBody>
      </p:sp>
      <p:sp>
        <p:nvSpPr>
          <p:cNvPr id="12" name="">
            <a:extLst xmlns:a="http://schemas.openxmlformats.org/drawingml/2006/main">
              <a:ext uri="{FF2B5EF4-FFF2-40B4-BE49-F238E27FC236}">
                <a16:creationId xmlns:a16="http://schemas.microsoft.com/office/drawing/2014/main" id="{168CF501-EC3A-4B53-93DE-12393488ED9C}"/>
              </a:ext>
            </a:extLst>
          </p:cNvPr>
          <p:cNvSpPr>
            <a:spLocks xmlns:a="http://schemas.openxmlformats.org/drawingml/2006/main" noGrp="1"/>
          </p:cNvSpPr>
          <p:nvPr/>
        </p:nvSpPr>
        <p:spPr>
          <a:xfrm xmlns:a="http://schemas.openxmlformats.org/drawingml/2006/main">
            <a:off x="3867150" y="4464844"/>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Transaksi penting menyimpan waktu, petugas, sumber, referensi, serta alasan koreksi.</a:t>
            </a:r>
          </a:p>
        </p:txBody>
      </p:sp>
      <p:sp>
        <p:nvSpPr>
          <p:cNvPr id="13" name="">
            <a:extLst xmlns:a="http://schemas.openxmlformats.org/drawingml/2006/main">
              <a:ext uri="{FF2B5EF4-FFF2-40B4-BE49-F238E27FC236}">
                <a16:creationId xmlns:a16="http://schemas.microsoft.com/office/drawing/2014/main" id="{A607E517-D1D2-4EB1-8152-33FD55A85003}"/>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Pengamanan aplikasi tetap membutuhkan prosedur petugas dan pemeriksaan berkala.</a:t>
            </a:r>
          </a:p>
        </p:txBody>
      </p:sp>
    </p:spTree>
    <p:extLst>
      <p:ext uri="{BB962C8B-B14F-4D97-AF65-F5344CB8AC3E}">
        <p14:creationId xmlns:p14="http://schemas.microsoft.com/office/powerpoint/2010/main" val="1751122207"/>
      </p:ext>
    </p:extLst>
  </p:cSld>
</p:sld>
</file>

<file path=ppt/slides/slide3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78168C-08D0-4ED0-9E5E-107F96B3267E}"/>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4A544992-9FC6-4F40-A3C5-957FD836FBA1}"/>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FAQ pembayaran</a:t>
            </a:r>
          </a:p>
        </p:txBody>
      </p:sp>
      <p:sp>
        <p:nvSpPr>
          <p:cNvPr id="3" name="">
            <a:extLst xmlns:a="http://schemas.openxmlformats.org/drawingml/2006/main">
              <a:ext uri="{FF2B5EF4-FFF2-40B4-BE49-F238E27FC236}">
                <a16:creationId xmlns:a16="http://schemas.microsoft.com/office/drawing/2014/main" id="{E24ADDA3-BD1E-4A52-B8DD-4E7812CC861F}"/>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A3E0CE7F-B6B3-4EFA-AF8D-B6653F21B3F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34</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4286250"/>
                <a:gridCol w="6686550"/>
              </a:tblGrid>
              <a:tr h="428625">
                <a:tc>
                  <a:txBody>
                    <a:bodyPr/>
                    <a:lstStyle/>
                    <a:p>
                      <a:r>
                        <a:rPr sz="1725" b="1">
                          <a:solidFill>
                            <a:srgbClr val="FFFFFF"/>
                          </a:solidFill>
                          <a:latin typeface="Arial"/>
                          <a:ea typeface="Arial"/>
                          <a:cs typeface="Arial"/>
                        </a:rPr>
                        <a:t>Pertanyaan</a:t>
                      </a:r>
                    </a:p>
                  </a:txBody>
                  <a:tcPr marL="85725" marR="85725" marT="19050" marB="19050">
                    <a:solidFill>
                      <a:srgbClr val="176B55"/>
                    </a:solidFill>
                  </a:tcPr>
                </a:tc>
                <a:tc>
                  <a:txBody>
                    <a:bodyPr/>
                    <a:lstStyle/>
                    <a:p>
                      <a:r>
                        <a:rPr sz="1725" b="1">
                          <a:solidFill>
                            <a:srgbClr val="FFFFFF"/>
                          </a:solidFill>
                          <a:latin typeface="Arial"/>
                          <a:ea typeface="Arial"/>
                          <a:cs typeface="Arial"/>
                        </a:rPr>
                        <a:t>Jawaban</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Apakah SPP bisa dicicil?</a:t>
                      </a:r>
                    </a:p>
                  </a:txBody>
                  <a:tcPr marL="85725" marR="85725" marT="19050" marB="19050">
                    <a:solidFill>
                      <a:srgbClr val="FFFFFF"/>
                    </a:solidFill>
                  </a:tcPr>
                </a:tc>
                <a:tc>
                  <a:txBody>
                    <a:bodyPr/>
                    <a:lstStyle/>
                    <a:p>
                      <a:r>
                        <a:rPr sz="1725" b="0">
                          <a:solidFill>
                            <a:srgbClr val="293C37"/>
                          </a:solidFill>
                          <a:latin typeface="Arial"/>
                          <a:ea typeface="Arial"/>
                          <a:cs typeface="Arial"/>
                        </a:rPr>
                        <a:t>Tidak. Sisa kewajiban SPP untuk bulan yang dipilih harus dibayar penuh.</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Apakah USPP bisa dicicil?</a:t>
                      </a:r>
                    </a:p>
                  </a:txBody>
                  <a:tcPr marL="85725" marR="85725" marT="19050" marB="19050">
                    <a:solidFill>
                      <a:srgbClr val="E8F1EB"/>
                    </a:solidFill>
                  </a:tcPr>
                </a:tc>
                <a:tc>
                  <a:txBody>
                    <a:bodyPr/>
                    <a:lstStyle/>
                    <a:p>
                      <a:r>
                        <a:rPr sz="1725" b="0">
                          <a:solidFill>
                            <a:srgbClr val="293C37"/>
                          </a:solidFill>
                          <a:latin typeface="Arial"/>
                          <a:ea typeface="Arial"/>
                          <a:cs typeface="Arial"/>
                        </a:rPr>
                        <a:t>Ya, selama santri aktif. Riwayat cicilan dan sisa kewajiban tetap terlihat.</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Bisa membayar beberapa item?</a:t>
                      </a:r>
                    </a:p>
                  </a:txBody>
                  <a:tcPr marL="85725" marR="85725" marT="19050" marB="19050">
                    <a:solidFill>
                      <a:srgbClr val="FFFFFF"/>
                    </a:solidFill>
                  </a:tcPr>
                </a:tc>
                <a:tc>
                  <a:txBody>
                    <a:bodyPr/>
                    <a:lstStyle/>
                    <a:p>
                      <a:r>
                        <a:rPr sz="1725" b="0">
                          <a:solidFill>
                            <a:srgbClr val="293C37"/>
                          </a:solidFill>
                          <a:latin typeface="Arial"/>
                          <a:ea typeface="Arial"/>
                          <a:cs typeface="Arial"/>
                        </a:rPr>
                        <a:t>Bisa. Satu pembayaran dapat dibagi ke beberapa tagihan atau top-up.</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Bisa membayar bulan lalu atau di muka?</a:t>
                      </a:r>
                    </a:p>
                  </a:txBody>
                  <a:tcPr marL="85725" marR="85725" marT="19050" marB="19050">
                    <a:solidFill>
                      <a:srgbClr val="E8F1EB"/>
                    </a:solidFill>
                  </a:tcPr>
                </a:tc>
                <a:tc>
                  <a:txBody>
                    <a:bodyPr/>
                    <a:lstStyle/>
                    <a:p>
                      <a:r>
                        <a:rPr sz="1725" b="0">
                          <a:solidFill>
                            <a:srgbClr val="293C37"/>
                          </a:solidFill>
                          <a:latin typeface="Arial"/>
                          <a:ea typeface="Arial"/>
                          <a:cs typeface="Arial"/>
                        </a:rPr>
                        <a:t>Ketentuan sistem mendukungnya. Pilih periode yang tersedia dengan tarif yang berlaku.</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Sudah transfer tetapi belum lunas?</a:t>
                      </a:r>
                    </a:p>
                  </a:txBody>
                  <a:tcPr marL="85725" marR="85725" marT="19050" marB="19050">
                    <a:solidFill>
                      <a:srgbClr val="FFFFFF"/>
                    </a:solidFill>
                  </a:tcPr>
                </a:tc>
                <a:tc>
                  <a:txBody>
                    <a:bodyPr/>
                    <a:lstStyle/>
                    <a:p>
                      <a:r>
                        <a:rPr sz="1725" b="0">
                          <a:solidFill>
                            <a:srgbClr val="293C37"/>
                          </a:solidFill>
                          <a:latin typeface="Arial"/>
                          <a:ea typeface="Arial"/>
                          <a:cs typeface="Arial"/>
                        </a:rPr>
                        <a:t>Periksa order dan referensi. Petugas menelusuri melalui Rekonsiliasi, bukan membuat pembayaran online manual.</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A37F6D0-B3F2-4822-AB94-CCE6769C48C1}"/>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Transfer kurang, lebih, atau tanpa identitas yang cukup tidak boleh dialokasikan dengan tebakan.</a:t>
            </a:r>
          </a:p>
        </p:txBody>
      </p:sp>
    </p:spTree>
    <p:extLst>
      <p:ext uri="{BB962C8B-B14F-4D97-AF65-F5344CB8AC3E}">
        <p14:creationId xmlns:p14="http://schemas.microsoft.com/office/powerpoint/2010/main" val="441661023"/>
      </p:ext>
    </p:extLst>
  </p:cSld>
</p:sld>
</file>

<file path=ppt/slides/slide3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4F8F1F-80D8-4F7F-97C8-150D121F0EB4}"/>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3DF4095C-FC97-4AA6-9CAE-BA6FBD3CF131}"/>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FAQ uang jajan dan kartu</a:t>
            </a:r>
          </a:p>
        </p:txBody>
      </p:sp>
      <p:sp>
        <p:nvSpPr>
          <p:cNvPr id="3" name="">
            <a:extLst xmlns:a="http://schemas.openxmlformats.org/drawingml/2006/main">
              <a:ext uri="{FF2B5EF4-FFF2-40B4-BE49-F238E27FC236}">
                <a16:creationId xmlns:a16="http://schemas.microsoft.com/office/drawing/2014/main" id="{9E469918-0EF2-4C68-ABCC-8561284A2F07}"/>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6A8774BD-638C-40BE-8281-3FDF1A2605E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35</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4238625"/>
                <a:gridCol w="6734175"/>
              </a:tblGrid>
              <a:tr h="428625">
                <a:tc>
                  <a:txBody>
                    <a:bodyPr/>
                    <a:lstStyle/>
                    <a:p>
                      <a:r>
                        <a:rPr sz="1725" b="1">
                          <a:solidFill>
                            <a:srgbClr val="FFFFFF"/>
                          </a:solidFill>
                          <a:latin typeface="Arial"/>
                          <a:ea typeface="Arial"/>
                          <a:cs typeface="Arial"/>
                        </a:rPr>
                        <a:t>Pertanyaan</a:t>
                      </a:r>
                    </a:p>
                  </a:txBody>
                  <a:tcPr marL="85725" marR="85725" marT="19050" marB="19050">
                    <a:solidFill>
                      <a:srgbClr val="176B55"/>
                    </a:solidFill>
                  </a:tcPr>
                </a:tc>
                <a:tc>
                  <a:txBody>
                    <a:bodyPr/>
                    <a:lstStyle/>
                    <a:p>
                      <a:r>
                        <a:rPr sz="1725" b="1">
                          <a:solidFill>
                            <a:srgbClr val="FFFFFF"/>
                          </a:solidFill>
                          <a:latin typeface="Arial"/>
                          <a:ea typeface="Arial"/>
                          <a:cs typeface="Arial"/>
                        </a:rPr>
                        <a:t>Jawaban</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Apakah uang jajan boleh dipakai pesantren?</a:t>
                      </a:r>
                    </a:p>
                  </a:txBody>
                  <a:tcPr marL="85725" marR="85725" marT="19050" marB="19050">
                    <a:solidFill>
                      <a:srgbClr val="FFFFFF"/>
                    </a:solidFill>
                  </a:tcPr>
                </a:tc>
                <a:tc>
                  <a:txBody>
                    <a:bodyPr/>
                    <a:lstStyle/>
                    <a:p>
                      <a:r>
                        <a:rPr sz="1725" b="0">
                          <a:solidFill>
                            <a:srgbClr val="293C37"/>
                          </a:solidFill>
                          <a:latin typeface="Arial"/>
                          <a:ea typeface="Arial"/>
                          <a:cs typeface="Arial"/>
                        </a:rPr>
                        <a:t>Tidak. Dana itu milik santri dan hanya digunakan sesuai layanan uang jajan.</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Mengapa saldo buku baru mulai nol?</a:t>
                      </a:r>
                    </a:p>
                  </a:txBody>
                  <a:tcPr marL="85725" marR="85725" marT="19050" marB="19050">
                    <a:solidFill>
                      <a:srgbClr val="E8F1EB"/>
                    </a:solidFill>
                  </a:tcPr>
                </a:tc>
                <a:tc>
                  <a:txBody>
                    <a:bodyPr/>
                    <a:lstStyle/>
                    <a:p>
                      <a:r>
                        <a:rPr sz="1725" b="0">
                          <a:solidFill>
                            <a:srgbClr val="293C37"/>
                          </a:solidFill>
                          <a:latin typeface="Arial"/>
                          <a:ea typeface="Arial"/>
                          <a:cs typeface="Arial"/>
                        </a:rPr>
                        <a:t>Ketentuan sistem menetapkan saldo lama tidak diimpor. Penyelesaian saldo lama perlu prosedur terpisah.</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Apa yang dilakukan jika kartu hilang?</a:t>
                      </a:r>
                    </a:p>
                  </a:txBody>
                  <a:tcPr marL="85725" marR="85725" marT="19050" marB="19050">
                    <a:solidFill>
                      <a:srgbClr val="FFFFFF"/>
                    </a:solidFill>
                  </a:tcPr>
                </a:tc>
                <a:tc>
                  <a:txBody>
                    <a:bodyPr/>
                    <a:lstStyle/>
                    <a:p>
                      <a:r>
                        <a:rPr sz="1725" b="0">
                          <a:solidFill>
                            <a:srgbClr val="293C37"/>
                          </a:solidFill>
                          <a:latin typeface="Arial"/>
                          <a:ea typeface="Arial"/>
                          <a:cs typeface="Arial"/>
                        </a:rPr>
                        <a:t>Laporkan, nonaktifkan kartu lama, lalu terbitkan pengganti. Riwayat santri tetap ada.</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Apa yang terjadi jika lupa / salah PIN?</a:t>
                      </a:r>
                    </a:p>
                  </a:txBody>
                  <a:tcPr marL="85725" marR="85725" marT="19050" marB="19050">
                    <a:solidFill>
                      <a:srgbClr val="E8F1EB"/>
                    </a:solidFill>
                  </a:tcPr>
                </a:tc>
                <a:tc>
                  <a:txBody>
                    <a:bodyPr/>
                    <a:lstStyle/>
                    <a:p>
                      <a:r>
                        <a:rPr sz="1725" b="0">
                          <a:solidFill>
                            <a:srgbClr val="293C37"/>
                          </a:solidFill>
                          <a:latin typeface="Arial"/>
                          <a:ea typeface="Arial"/>
                          <a:cs typeface="Arial"/>
                        </a:rPr>
                        <a:t>Reset melalui pihak berwenang. Tiga kesalahan menyebabkan kunci sementara 15 menit.</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Bisa menarik semua saldo sekaligus?</a:t>
                      </a:r>
                    </a:p>
                  </a:txBody>
                  <a:tcPr marL="85725" marR="85725" marT="19050" marB="19050">
                    <a:solidFill>
                      <a:srgbClr val="FFFFFF"/>
                    </a:solidFill>
                  </a:tcPr>
                </a:tc>
                <a:tc>
                  <a:txBody>
                    <a:bodyPr/>
                    <a:lstStyle/>
                    <a:p>
                      <a:r>
                        <a:rPr sz="1725" b="0">
                          <a:solidFill>
                            <a:srgbClr val="293C37"/>
                          </a:solidFill>
                          <a:latin typeface="Arial"/>
                          <a:ea typeface="Arial"/>
                          <a:cs typeface="Arial"/>
                        </a:rPr>
                        <a:t>Hanya jika saldo, batas pencairan yang berlaku, dan pemeriksaan identitas mengizinkan.</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830289F-384A-4AEC-8C57-13E400DB3392}"/>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Batas dari orang tua tidak dapat melonggarkan batas pesantren yang lebih ketat.</a:t>
            </a:r>
          </a:p>
        </p:txBody>
      </p:sp>
    </p:spTree>
    <p:extLst>
      <p:ext uri="{BB962C8B-B14F-4D97-AF65-F5344CB8AC3E}">
        <p14:creationId xmlns:p14="http://schemas.microsoft.com/office/powerpoint/2010/main" val="467711187"/>
      </p:ext>
    </p:extLst>
  </p:cSld>
</p:sld>
</file>

<file path=ppt/slides/slide3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CA3E6A-6CC8-43F8-9B72-490A1127313B}"/>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5293DA50-33F7-4D3F-B281-C3C58D31C28B}"/>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FAQ dana, koreksi, dan pengecualian</a:t>
            </a:r>
          </a:p>
        </p:txBody>
      </p:sp>
      <p:sp>
        <p:nvSpPr>
          <p:cNvPr id="3" name="">
            <a:extLst xmlns:a="http://schemas.openxmlformats.org/drawingml/2006/main">
              <a:ext uri="{FF2B5EF4-FFF2-40B4-BE49-F238E27FC236}">
                <a16:creationId xmlns:a16="http://schemas.microsoft.com/office/drawing/2014/main" id="{4D325182-115D-48CF-85DB-65286B4002DD}"/>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44C1BE85-3F89-487A-9258-FBB6BAA8584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36</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4381500"/>
                <a:gridCol w="6591300"/>
              </a:tblGrid>
              <a:tr h="428625">
                <a:tc>
                  <a:txBody>
                    <a:bodyPr/>
                    <a:lstStyle/>
                    <a:p>
                      <a:r>
                        <a:rPr sz="1725" b="1">
                          <a:solidFill>
                            <a:srgbClr val="FFFFFF"/>
                          </a:solidFill>
                          <a:latin typeface="Arial"/>
                          <a:ea typeface="Arial"/>
                          <a:cs typeface="Arial"/>
                        </a:rPr>
                        <a:t>Pertanyaan</a:t>
                      </a:r>
                    </a:p>
                  </a:txBody>
                  <a:tcPr marL="85725" marR="85725" marT="19050" marB="19050">
                    <a:solidFill>
                      <a:srgbClr val="176B55"/>
                    </a:solidFill>
                  </a:tcPr>
                </a:tc>
                <a:tc>
                  <a:txBody>
                    <a:bodyPr/>
                    <a:lstStyle/>
                    <a:p>
                      <a:r>
                        <a:rPr sz="1725" b="1">
                          <a:solidFill>
                            <a:srgbClr val="FFFFFF"/>
                          </a:solidFill>
                          <a:latin typeface="Arial"/>
                          <a:ea typeface="Arial"/>
                          <a:cs typeface="Arial"/>
                        </a:rPr>
                        <a:t>Jawaban</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Mengapa lunas tetapi dana belum di rekening?</a:t>
                      </a:r>
                    </a:p>
                  </a:txBody>
                  <a:tcPr marL="85725" marR="85725" marT="19050" marB="19050">
                    <a:solidFill>
                      <a:srgbClr val="FFFFFF"/>
                    </a:solidFill>
                  </a:tcPr>
                </a:tc>
                <a:tc>
                  <a:txBody>
                    <a:bodyPr/>
                    <a:lstStyle/>
                    <a:p>
                      <a:r>
                        <a:rPr sz="1725" b="0">
                          <a:solidFill>
                            <a:srgbClr val="293C37"/>
                          </a:solidFill>
                          <a:latin typeface="Arial"/>
                          <a:ea typeface="Arial"/>
                          <a:cs typeface="Arial"/>
                        </a:rPr>
                        <a:t>Verifikasi pembayaran dan pencairan Duitku ke bank merupakan tahap berbeda.</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Apakah tombol penyaluran langsung transfer?</a:t>
                      </a:r>
                    </a:p>
                  </a:txBody>
                  <a:tcPr marL="85725" marR="85725" marT="19050" marB="19050">
                    <a:solidFill>
                      <a:srgbClr val="E8F1EB"/>
                    </a:solidFill>
                  </a:tcPr>
                </a:tc>
                <a:tc>
                  <a:txBody>
                    <a:bodyPr/>
                    <a:lstStyle/>
                    <a:p>
                      <a:r>
                        <a:rPr sz="1725" b="0">
                          <a:solidFill>
                            <a:srgbClr val="293C37"/>
                          </a:solidFill>
                          <a:latin typeface="Arial"/>
                          <a:ea typeface="Arial"/>
                          <a:cs typeface="Arial"/>
                        </a:rPr>
                        <a:t>Modul mencatat penyaluran. Transfer / serah terima dilakukan sesuai prosedur dan bukti.</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Bolehkah salah catat langsung dihapus?</a:t>
                      </a:r>
                    </a:p>
                  </a:txBody>
                  <a:tcPr marL="85725" marR="85725" marT="19050" marB="19050">
                    <a:solidFill>
                      <a:srgbClr val="FFFFFF"/>
                    </a:solidFill>
                  </a:tcPr>
                </a:tc>
                <a:tc>
                  <a:txBody>
                    <a:bodyPr/>
                    <a:lstStyle/>
                    <a:p>
                      <a:r>
                        <a:rPr sz="1725" b="0">
                          <a:solidFill>
                            <a:srgbClr val="293C37"/>
                          </a:solidFill>
                          <a:latin typeface="Arial"/>
                          <a:ea typeface="Arial"/>
                          <a:cs typeface="Arial"/>
                        </a:rPr>
                        <a:t>Tidak. Gunakan koreksi yang sah agar jejak transaksi tetap utuh.</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Apakah semua SADESA bebas seluruh biaya?</a:t>
                      </a:r>
                    </a:p>
                  </a:txBody>
                  <a:tcPr marL="85725" marR="85725" marT="19050" marB="19050">
                    <a:solidFill>
                      <a:srgbClr val="E8F1EB"/>
                    </a:solidFill>
                  </a:tcPr>
                </a:tc>
                <a:tc>
                  <a:txBody>
                    <a:bodyPr/>
                    <a:lstStyle/>
                    <a:p>
                      <a:r>
                        <a:rPr sz="1725" b="0">
                          <a:solidFill>
                            <a:srgbClr val="293C37"/>
                          </a:solidFill>
                          <a:latin typeface="Arial"/>
                          <a:ea typeface="Arial"/>
                          <a:cs typeface="Arial"/>
                        </a:rPr>
                        <a:t>Tidak. Otomatis bebas Makan dan Nyuci. Item lain perlu keputusan pembebasan khusus.</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Bagaimana bila uang terlanjur ke penyedia?</a:t>
                      </a:r>
                    </a:p>
                  </a:txBody>
                  <a:tcPr marL="85725" marR="85725" marT="19050" marB="19050">
                    <a:solidFill>
                      <a:srgbClr val="FFFFFF"/>
                    </a:solidFill>
                  </a:tcPr>
                </a:tc>
                <a:tc>
                  <a:txBody>
                    <a:bodyPr/>
                    <a:lstStyle/>
                    <a:p>
                      <a:r>
                        <a:rPr sz="1725" b="0">
                          <a:solidFill>
                            <a:srgbClr val="293C37"/>
                          </a:solidFill>
                          <a:latin typeface="Arial"/>
                          <a:ea typeface="Arial"/>
                          <a:cs typeface="Arial"/>
                        </a:rPr>
                        <a:t>Buka kasus pemulihan, telusuri dan konfirmasikan. Jangan otomatis memotong periode berikutnya.</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3B2828C-5745-499A-BD66-BEAF4589EC6A}"/>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AL-BAGHORY memiliki aturan terpisah: bebas total dan tidak dilayani dalam modul keuangan baru.</a:t>
            </a:r>
          </a:p>
        </p:txBody>
      </p:sp>
    </p:spTree>
    <p:extLst>
      <p:ext uri="{BB962C8B-B14F-4D97-AF65-F5344CB8AC3E}">
        <p14:creationId xmlns:p14="http://schemas.microsoft.com/office/powerpoint/2010/main" val="1322962334"/>
      </p:ext>
    </p:extLst>
  </p:cSld>
</p:sld>
</file>

<file path=ppt/slides/slide3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1C8A16-F987-45E9-8005-A73D139A2C5F}"/>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D5400DE2-C781-434F-A842-0E5929AAFB36}"/>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Kesiapan dan keputusan sebelum operasional</a:t>
            </a:r>
          </a:p>
        </p:txBody>
      </p:sp>
      <p:sp>
        <p:nvSpPr>
          <p:cNvPr id="3" name="">
            <a:extLst xmlns:a="http://schemas.openxmlformats.org/drawingml/2006/main">
              <a:ext uri="{FF2B5EF4-FFF2-40B4-BE49-F238E27FC236}">
                <a16:creationId xmlns:a16="http://schemas.microsoft.com/office/drawing/2014/main" id="{2DC324FD-3F5E-4F47-A03A-4300440B77BE}"/>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54CEC5B5-96DD-43B7-ACB1-76C907D90394}"/>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37</a:t>
            </a:r>
          </a:p>
        </p:txBody>
      </p:sp>
      <p:graphicFrame>
        <p:nvGraphicFramePr>
          <p:cNvPr id="11"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3143250"/>
                <a:gridCol w="7829550"/>
              </a:tblGrid>
              <a:tr h="428625">
                <a:tc>
                  <a:txBody>
                    <a:bodyPr/>
                    <a:lstStyle/>
                    <a:p>
                      <a:r>
                        <a:rPr sz="1725" b="1">
                          <a:solidFill>
                            <a:srgbClr val="FFFFFF"/>
                          </a:solidFill>
                          <a:latin typeface="Arial"/>
                          <a:ea typeface="Arial"/>
                          <a:cs typeface="Arial"/>
                        </a:rPr>
                        <a:t>Bidang</a:t>
                      </a:r>
                    </a:p>
                  </a:txBody>
                  <a:tcPr marL="85725" marR="85725" marT="19050" marB="19050">
                    <a:solidFill>
                      <a:srgbClr val="176B55"/>
                    </a:solidFill>
                  </a:tcPr>
                </a:tc>
                <a:tc>
                  <a:txBody>
                    <a:bodyPr/>
                    <a:lstStyle/>
                    <a:p>
                      <a:r>
                        <a:rPr sz="1725" b="1">
                          <a:solidFill>
                            <a:srgbClr val="FFFFFF"/>
                          </a:solidFill>
                          <a:latin typeface="Arial"/>
                          <a:ea typeface="Arial"/>
                          <a:cs typeface="Arial"/>
                        </a:rPr>
                        <a:t>Hasil penelaahan / hal yang perlu dipastikan</a:t>
                      </a:r>
                    </a:p>
                  </a:txBody>
                  <a:tcPr marL="85725" marR="85725" marT="19050" marB="19050">
                    <a:solidFill>
                      <a:srgbClr val="176B55"/>
                    </a:solidFill>
                  </a:tcPr>
                </a:tc>
              </a:tr>
              <a:tr h="666750">
                <a:tc>
                  <a:txBody>
                    <a:bodyPr/>
                    <a:lstStyle/>
                    <a:p>
                      <a:r>
                        <a:rPr sz="1725" b="0">
                          <a:solidFill>
                            <a:srgbClr val="293C37"/>
                          </a:solidFill>
                          <a:latin typeface="Arial"/>
                          <a:ea typeface="Arial"/>
                          <a:cs typeface="Arial"/>
                        </a:rPr>
                        <a:t>Modul utama</a:t>
                      </a:r>
                    </a:p>
                  </a:txBody>
                  <a:tcPr marL="85725" marR="85725" marT="19050" marB="19050">
                    <a:solidFill>
                      <a:srgbClr val="FFFFFF"/>
                    </a:solidFill>
                  </a:tcPr>
                </a:tc>
                <a:tc>
                  <a:txBody>
                    <a:bodyPr/>
                    <a:lstStyle/>
                    <a:p>
                      <a:r>
                        <a:rPr sz="1725" b="0">
                          <a:solidFill>
                            <a:srgbClr val="293C37"/>
                          </a:solidFill>
                          <a:latin typeface="Arial"/>
                          <a:ea typeface="Arial"/>
                          <a:cs typeface="Arial"/>
                        </a:rPr>
                        <a:t>Halaman dan layanan inti tersedia dalam kode aplikasi. Kondisi produksi belum diuji dalam penelaahan ini.</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Duitku dan Fixed VA</a:t>
                      </a:r>
                    </a:p>
                  </a:txBody>
                  <a:tcPr marL="85725" marR="85725" marT="19050" marB="19050">
                    <a:solidFill>
                      <a:srgbClr val="E8F1EB"/>
                    </a:solidFill>
                  </a:tcPr>
                </a:tc>
                <a:tc>
                  <a:txBody>
                    <a:bodyPr/>
                    <a:lstStyle/>
                    <a:p>
                      <a:r>
                        <a:rPr sz="1725" b="0">
                          <a:solidFill>
                            <a:srgbClr val="293C37"/>
                          </a:solidFill>
                          <a:latin typeface="Arial"/>
                          <a:ea typeface="Arial"/>
                          <a:cs typeface="Arial"/>
                        </a:rPr>
                        <a:t>Konfirmasi aktivasi layanan Duitku, nomor VA sah, kanal, biaya, dan uji penerimaan hingga settlement.</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Dana dan tanggal peralihan</a:t>
                      </a:r>
                    </a:p>
                  </a:txBody>
                  <a:tcPr marL="85725" marR="85725" marT="19050" marB="19050">
                    <a:solidFill>
                      <a:srgbClr val="FFFFFF"/>
                    </a:solidFill>
                  </a:tcPr>
                </a:tc>
                <a:tc>
                  <a:txBody>
                    <a:bodyPr/>
                    <a:lstStyle/>
                    <a:p>
                      <a:r>
                        <a:rPr sz="1725" b="0">
                          <a:solidFill>
                            <a:srgbClr val="293C37"/>
                          </a:solidFill>
                          <a:latin typeface="Arial"/>
                          <a:ea typeface="Arial"/>
                          <a:cs typeface="Arial"/>
                        </a:rPr>
                        <a:t>Tetapkan dana pra-koperasi, tanggal efektif koperasi, dan penyelesaian saldo uang jajan lama.</a:t>
                      </a:r>
                    </a:p>
                  </a:txBody>
                  <a:tcPr marL="85725" marR="85725" marT="19050" marB="19050">
                    <a:solidFill>
                      <a:srgbClr val="FFFFFF"/>
                    </a:solidFill>
                  </a:tcPr>
                </a:tc>
              </a:tr>
              <a:tr h="666750">
                <a:tc>
                  <a:txBody>
                    <a:bodyPr/>
                    <a:lstStyle/>
                    <a:p>
                      <a:r>
                        <a:rPr sz="1725" b="0">
                          <a:solidFill>
                            <a:srgbClr val="293C37"/>
                          </a:solidFill>
                          <a:latin typeface="Arial"/>
                          <a:ea typeface="Arial"/>
                          <a:cs typeface="Arial"/>
                        </a:rPr>
                        <a:t>Likuiditas penyaluran</a:t>
                      </a:r>
                    </a:p>
                  </a:txBody>
                  <a:tcPr marL="85725" marR="85725" marT="19050" marB="19050">
                    <a:solidFill>
                      <a:srgbClr val="E8F1EB"/>
                    </a:solidFill>
                  </a:tcPr>
                </a:tc>
                <a:tc>
                  <a:txBody>
                    <a:bodyPr/>
                    <a:lstStyle/>
                    <a:p>
                      <a:r>
                        <a:rPr sz="1725" b="0">
                          <a:solidFill>
                            <a:srgbClr val="293C37"/>
                          </a:solidFill>
                          <a:latin typeface="Arial"/>
                          <a:ea typeface="Arial"/>
                          <a:cs typeface="Arial"/>
                        </a:rPr>
                        <a:t>Pastikan kas / bank nyata mencukupi. Alokasi tersedia tidak otomatis membuktikan dana sudah cair.</a:t>
                      </a:r>
                    </a:p>
                  </a:txBody>
                  <a:tcPr marL="85725" marR="85725" marT="19050" marB="19050">
                    <a:solidFill>
                      <a:srgbClr val="E8F1EB"/>
                    </a:solidFill>
                  </a:tcPr>
                </a:tc>
              </a:tr>
              <a:tr h="666750">
                <a:tc>
                  <a:txBody>
                    <a:bodyPr/>
                    <a:lstStyle/>
                    <a:p>
                      <a:r>
                        <a:rPr sz="1725" b="0">
                          <a:solidFill>
                            <a:srgbClr val="293C37"/>
                          </a:solidFill>
                          <a:latin typeface="Arial"/>
                          <a:ea typeface="Arial"/>
                          <a:cs typeface="Arial"/>
                        </a:rPr>
                        <a:t>Petugas dan penerimaan sistem</a:t>
                      </a:r>
                    </a:p>
                  </a:txBody>
                  <a:tcPr marL="85725" marR="85725" marT="19050" marB="19050">
                    <a:solidFill>
                      <a:srgbClr val="FFFFFF"/>
                    </a:solidFill>
                  </a:tcPr>
                </a:tc>
                <a:tc>
                  <a:txBody>
                    <a:bodyPr/>
                    <a:lstStyle/>
                    <a:p>
                      <a:r>
                        <a:rPr sz="1725" b="0">
                          <a:solidFill>
                            <a:srgbClr val="293C37"/>
                          </a:solidFill>
                          <a:latin typeface="Arial"/>
                          <a:ea typeface="Arial"/>
                          <a:cs typeface="Arial"/>
                        </a:rPr>
                        <a:t>Tetapkan kewenangan, prosedur selisih/koreksi, lalu lakukan simulasi dan persetujuan operasional.</a:t>
                      </a:r>
                    </a:p>
                  </a:txBody>
                  <a:tcPr marL="85725" marR="85725" marT="19050" marB="190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42DF73E-FF5C-4D89-B92F-03700DA20871}"/>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Usulan tindak lanjut pimpinan: tetapkan penanggung jawab dan bukti penerimaan untuk setiap bidang.</a:t>
            </a:r>
          </a:p>
        </p:txBody>
      </p:sp>
    </p:spTree>
    <p:extLst>
      <p:ext uri="{BB962C8B-B14F-4D97-AF65-F5344CB8AC3E}">
        <p14:creationId xmlns:p14="http://schemas.microsoft.com/office/powerpoint/2010/main" val="795627508"/>
      </p:ext>
    </p:extLst>
  </p:cSld>
</p:sld>
</file>

<file path=ppt/slides/slide3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F97FB4C-4DFB-470F-BD7D-807E80744DA6}"/>
              </a:ext>
            </a:extLst>
          </p:cNvPr>
          <p:cNvSpPr>
            <a:spLocks xmlns:a="http://schemas.openxmlformats.org/drawingml/2006/main" noGrp="1"/>
          </p:cNvSpPr>
          <p:nvPr/>
        </p:nvSpPr>
        <p:spPr>
          <a:xfrm xmlns:a="http://schemas.openxmlformats.org/drawingml/2006/main">
            <a:off x="609600" y="2667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76B55"/>
                </a:solidFill>
                <a:latin typeface="Arial"/>
                <a:ea typeface="Arial"/>
                <a:cs typeface="Arial"/>
              </a:defRPr>
            </a:pPr>
            <a:r>
              <a:rPr sz="1275" b="1">
                <a:solidFill>
                  <a:srgbClr val="176B55"/>
                </a:solidFill>
                <a:latin typeface="Arial"/>
                <a:ea typeface="Arial"/>
                <a:cs typeface="Arial"/>
              </a:rPr>
              <a:t>Bagian II · Modul &amp; FAQ</a:t>
            </a:r>
          </a:p>
        </p:txBody>
      </p:sp>
      <p:sp>
        <p:nvSpPr>
          <p:cNvPr id="2" name="">
            <a:extLst xmlns:a="http://schemas.openxmlformats.org/drawingml/2006/main">
              <a:ext uri="{FF2B5EF4-FFF2-40B4-BE49-F238E27FC236}">
                <a16:creationId xmlns:a16="http://schemas.microsoft.com/office/drawing/2014/main" id="{A9266B1E-709F-48D6-A777-3023C3C2F995}"/>
              </a:ext>
            </a:extLst>
          </p:cNvPr>
          <p:cNvSpPr>
            <a:spLocks xmlns:a="http://schemas.openxmlformats.org/drawingml/2006/main" noGrp="1"/>
          </p:cNvSpPr>
          <p:nvPr/>
        </p:nvSpPr>
        <p:spPr>
          <a:xfrm xmlns:a="http://schemas.openxmlformats.org/drawingml/2006/main">
            <a:off x="609600" y="723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73C35"/>
                </a:solidFill>
                <a:latin typeface="Arial"/>
                <a:ea typeface="Arial"/>
                <a:cs typeface="Arial"/>
              </a:defRPr>
            </a:pPr>
            <a:r>
              <a:rPr sz="3150" b="1">
                <a:solidFill>
                  <a:srgbClr val="173C35"/>
                </a:solidFill>
                <a:latin typeface="Arial"/>
                <a:ea typeface="Arial"/>
                <a:cs typeface="Arial"/>
              </a:rPr>
              <a:t>Acuan dan cara membaca materi</a:t>
            </a:r>
          </a:p>
        </p:txBody>
      </p:sp>
      <p:sp>
        <p:nvSpPr>
          <p:cNvPr id="3" name="">
            <a:extLst xmlns:a="http://schemas.openxmlformats.org/drawingml/2006/main">
              <a:ext uri="{FF2B5EF4-FFF2-40B4-BE49-F238E27FC236}">
                <a16:creationId xmlns:a16="http://schemas.microsoft.com/office/drawing/2014/main" id="{241E5D3A-6678-4AAC-8424-F1F74176E3A3}"/>
              </a:ext>
            </a:extLst>
          </p:cNvPr>
          <p:cNvSpPr>
            <a:spLocks xmlns:a="http://schemas.openxmlformats.org/drawingml/2006/main" noGrp="1"/>
          </p:cNvSpPr>
          <p:nvPr/>
        </p:nvSpPr>
        <p:spPr>
          <a:xfrm xmlns:a="http://schemas.openxmlformats.org/drawingml/2006/main">
            <a:off x="609600" y="64389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3766F"/>
                </a:solidFill>
                <a:latin typeface="Arial"/>
                <a:ea typeface="Arial"/>
                <a:cs typeface="Arial"/>
              </a:defRPr>
            </a:pPr>
            <a:r>
              <a:rPr sz="1050" b="0">
                <a:solidFill>
                  <a:srgbClr val="63766F"/>
                </a:solidFill>
                <a:latin typeface="Arial"/>
                <a:ea typeface="Arial"/>
                <a:cs typeface="Arial"/>
              </a:rPr>
              <a:t>Pondok Pesantren Sukahideng</a:t>
            </a:r>
          </a:p>
        </p:txBody>
      </p:sp>
      <p:sp>
        <p:nvSpPr>
          <p:cNvPr id="4" name="">
            <a:extLst xmlns:a="http://schemas.openxmlformats.org/drawingml/2006/main">
              <a:ext uri="{FF2B5EF4-FFF2-40B4-BE49-F238E27FC236}">
                <a16:creationId xmlns:a16="http://schemas.microsoft.com/office/drawing/2014/main" id="{31E1343B-F770-49FF-A747-D3547654704C}"/>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3766F"/>
                </a:solidFill>
                <a:latin typeface="Arial"/>
                <a:ea typeface="Arial"/>
                <a:cs typeface="Arial"/>
              </a:defRPr>
            </a:pPr>
            <a:r>
              <a:rPr sz="1200" b="0">
                <a:solidFill>
                  <a:srgbClr val="63766F"/>
                </a:solidFill>
                <a:latin typeface="Arial"/>
                <a:ea typeface="Arial"/>
                <a:cs typeface="Arial"/>
              </a:rPr>
              <a:t>38</a:t>
            </a:r>
          </a:p>
        </p:txBody>
      </p:sp>
      <p:sp>
        <p:nvSpPr>
          <p:cNvPr id="5" name="">
            <a:extLst xmlns:a="http://schemas.openxmlformats.org/drawingml/2006/main">
              <a:ext uri="{FF2B5EF4-FFF2-40B4-BE49-F238E27FC236}">
                <a16:creationId xmlns:a16="http://schemas.microsoft.com/office/drawing/2014/main" id="{06A3CF9F-0F60-4700-9C02-9A220F3E38DF}"/>
              </a:ext>
            </a:extLst>
          </p:cNvPr>
          <p:cNvSpPr>
            <a:spLocks xmlns:a="http://schemas.openxmlformats.org/drawingml/2006/main" noGrp="1"/>
          </p:cNvSpPr>
          <p:nvPr/>
        </p:nvSpPr>
        <p:spPr>
          <a:xfrm xmlns:a="http://schemas.openxmlformats.org/drawingml/2006/main">
            <a:off x="609600" y="1857375"/>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Aturan produk</a:t>
            </a:r>
          </a:p>
        </p:txBody>
      </p:sp>
      <p:sp>
        <p:nvSpPr>
          <p:cNvPr id="6" name="">
            <a:extLst xmlns:a="http://schemas.openxmlformats.org/drawingml/2006/main">
              <a:ext uri="{FF2B5EF4-FFF2-40B4-BE49-F238E27FC236}">
                <a16:creationId xmlns:a16="http://schemas.microsoft.com/office/drawing/2014/main" id="{37948A26-FA8D-4C82-9B37-C0A728BAFECE}"/>
              </a:ext>
            </a:extLst>
          </p:cNvPr>
          <p:cNvSpPr>
            <a:spLocks xmlns:a="http://schemas.openxmlformats.org/drawingml/2006/main" noGrp="1"/>
          </p:cNvSpPr>
          <p:nvPr/>
        </p:nvSpPr>
        <p:spPr>
          <a:xfrm xmlns:a="http://schemas.openxmlformats.org/drawingml/2006/main">
            <a:off x="3867150" y="1857375"/>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PRD Sistem Keuangan Baru: alur, pengecualian santri, uang jajan, penyaluran, dan audit.</a:t>
            </a:r>
          </a:p>
        </p:txBody>
      </p:sp>
      <p:sp>
        <p:nvSpPr>
          <p:cNvPr id="7" name="">
            <a:extLst xmlns:a="http://schemas.openxmlformats.org/drawingml/2006/main">
              <a:ext uri="{FF2B5EF4-FFF2-40B4-BE49-F238E27FC236}">
                <a16:creationId xmlns:a16="http://schemas.microsoft.com/office/drawing/2014/main" id="{74C1E5B2-32A1-4514-A39D-7D332456A543}"/>
              </a:ext>
            </a:extLst>
          </p:cNvPr>
          <p:cNvSpPr>
            <a:spLocks xmlns:a="http://schemas.openxmlformats.org/drawingml/2006/main" noGrp="1"/>
          </p:cNvSpPr>
          <p:nvPr/>
        </p:nvSpPr>
        <p:spPr>
          <a:xfrm xmlns:a="http://schemas.openxmlformats.org/drawingml/2006/main">
            <a:off x="609600" y="2726531"/>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Pengalaman pengguna</a:t>
            </a:r>
          </a:p>
        </p:txBody>
      </p:sp>
      <p:sp>
        <p:nvSpPr>
          <p:cNvPr id="8" name="">
            <a:extLst xmlns:a="http://schemas.openxmlformats.org/drawingml/2006/main">
              <a:ext uri="{FF2B5EF4-FFF2-40B4-BE49-F238E27FC236}">
                <a16:creationId xmlns:a16="http://schemas.microsoft.com/office/drawing/2014/main" id="{8224A952-828D-4E8B-829C-2EF445E8D9FA}"/>
              </a:ext>
            </a:extLst>
          </p:cNvPr>
          <p:cNvSpPr>
            <a:spLocks xmlns:a="http://schemas.openxmlformats.org/drawingml/2006/main" noGrp="1"/>
          </p:cNvSpPr>
          <p:nvPr/>
        </p:nvSpPr>
        <p:spPr>
          <a:xfrm xmlns:a="http://schemas.openxmlformats.org/drawingml/2006/main">
            <a:off x="3867150" y="2726531"/>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UI/UX Guidelines: bahasa sederhana, konsistensi, serta Status Pembayaran sebagai acuan tampilan.</a:t>
            </a:r>
          </a:p>
        </p:txBody>
      </p:sp>
      <p:sp>
        <p:nvSpPr>
          <p:cNvPr id="9" name="">
            <a:extLst xmlns:a="http://schemas.openxmlformats.org/drawingml/2006/main">
              <a:ext uri="{FF2B5EF4-FFF2-40B4-BE49-F238E27FC236}">
                <a16:creationId xmlns:a16="http://schemas.microsoft.com/office/drawing/2014/main" id="{4E6D218D-29E2-4AA3-937E-21EBC5F07BC4}"/>
              </a:ext>
            </a:extLst>
          </p:cNvPr>
          <p:cNvSpPr>
            <a:spLocks xmlns:a="http://schemas.openxmlformats.org/drawingml/2006/main" noGrp="1"/>
          </p:cNvSpPr>
          <p:nvPr/>
        </p:nvSpPr>
        <p:spPr>
          <a:xfrm xmlns:a="http://schemas.openxmlformats.org/drawingml/2006/main">
            <a:off x="609600" y="3595688"/>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Implementasi aktual</a:t>
            </a:r>
          </a:p>
        </p:txBody>
      </p:sp>
      <p:sp>
        <p:nvSpPr>
          <p:cNvPr id="10" name="">
            <a:extLst xmlns:a="http://schemas.openxmlformats.org/drawingml/2006/main">
              <a:ext uri="{FF2B5EF4-FFF2-40B4-BE49-F238E27FC236}">
                <a16:creationId xmlns:a16="http://schemas.microsoft.com/office/drawing/2014/main" id="{F0AD737D-010F-452A-B078-5900753F34F5}"/>
              </a:ext>
            </a:extLst>
          </p:cNvPr>
          <p:cNvSpPr>
            <a:spLocks xmlns:a="http://schemas.openxmlformats.org/drawingml/2006/main" noGrp="1"/>
          </p:cNvSpPr>
          <p:nvPr/>
        </p:nvSpPr>
        <p:spPr>
          <a:xfrm xmlns:a="http://schemas.openxmlformats.org/drawingml/2006/main">
            <a:off x="3867150" y="3595688"/>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Halaman keuangan, loket koperasi, Portal Orang Tua, serta layanan keuangan dalam kode aplikasi.</a:t>
            </a:r>
          </a:p>
        </p:txBody>
      </p:sp>
      <p:sp>
        <p:nvSpPr>
          <p:cNvPr id="11" name="">
            <a:extLst xmlns:a="http://schemas.openxmlformats.org/drawingml/2006/main">
              <a:ext uri="{FF2B5EF4-FFF2-40B4-BE49-F238E27FC236}">
                <a16:creationId xmlns:a16="http://schemas.microsoft.com/office/drawing/2014/main" id="{495FE08B-9CBB-4359-B2BD-0E0484762723}"/>
              </a:ext>
            </a:extLst>
          </p:cNvPr>
          <p:cNvSpPr>
            <a:spLocks xmlns:a="http://schemas.openxmlformats.org/drawingml/2006/main" noGrp="1"/>
          </p:cNvSpPr>
          <p:nvPr/>
        </p:nvSpPr>
        <p:spPr>
          <a:xfrm xmlns:a="http://schemas.openxmlformats.org/drawingml/2006/main">
            <a:off x="609600" y="4464844"/>
            <a:ext cx="30480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B55"/>
                </a:solidFill>
                <a:latin typeface="Arial"/>
                <a:ea typeface="Arial"/>
                <a:cs typeface="Arial"/>
              </a:defRPr>
            </a:pPr>
            <a:r>
              <a:rPr sz="2025" b="1">
                <a:solidFill>
                  <a:srgbClr val="176B55"/>
                </a:solidFill>
                <a:latin typeface="Arial"/>
                <a:ea typeface="Arial"/>
                <a:cs typeface="Arial"/>
              </a:rPr>
              <a:t>Catatan pembicara</a:t>
            </a:r>
          </a:p>
        </p:txBody>
      </p:sp>
      <p:sp>
        <p:nvSpPr>
          <p:cNvPr id="12" name="">
            <a:extLst xmlns:a="http://schemas.openxmlformats.org/drawingml/2006/main">
              <a:ext uri="{FF2B5EF4-FFF2-40B4-BE49-F238E27FC236}">
                <a16:creationId xmlns:a16="http://schemas.microsoft.com/office/drawing/2014/main" id="{4891B87D-19DA-48C4-B675-504620DFAE5C}"/>
              </a:ext>
            </a:extLst>
          </p:cNvPr>
          <p:cNvSpPr>
            <a:spLocks xmlns:a="http://schemas.openxmlformats.org/drawingml/2006/main" noGrp="1"/>
          </p:cNvSpPr>
          <p:nvPr/>
        </p:nvSpPr>
        <p:spPr>
          <a:xfrm xmlns:a="http://schemas.openxmlformats.org/drawingml/2006/main">
            <a:off x="3867150" y="4464844"/>
            <a:ext cx="7658100" cy="773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93C37"/>
                </a:solidFill>
                <a:latin typeface="Arial"/>
                <a:ea typeface="Arial"/>
                <a:cs typeface="Arial"/>
              </a:defRPr>
            </a:pPr>
            <a:r>
              <a:rPr sz="2025" b="0">
                <a:solidFill>
                  <a:srgbClr val="293C37"/>
                </a:solidFill>
                <a:latin typeface="Arial"/>
                <a:ea typeface="Arial"/>
                <a:cs typeface="Arial"/>
              </a:rPr>
              <a:t>Slide pembahasan memuat sumber internal dan penjelasan tambahan untuk membantu tanya jawab.</a:t>
            </a:r>
          </a:p>
        </p:txBody>
      </p:sp>
      <p:sp>
        <p:nvSpPr>
          <p:cNvPr id="13" name="">
            <a:extLst xmlns:a="http://schemas.openxmlformats.org/drawingml/2006/main">
              <a:ext uri="{FF2B5EF4-FFF2-40B4-BE49-F238E27FC236}">
                <a16:creationId xmlns:a16="http://schemas.microsoft.com/office/drawing/2014/main" id="{93890E2F-AC4B-4D39-A45E-DAC88E86DC5F}"/>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6B55"/>
                </a:solidFill>
                <a:latin typeface="Arial"/>
                <a:ea typeface="Arial"/>
                <a:cs typeface="Arial"/>
              </a:defRPr>
            </a:pPr>
            <a:r>
              <a:rPr sz="1725" b="1">
                <a:solidFill>
                  <a:srgbClr val="176B55"/>
                </a:solidFill>
                <a:latin typeface="Arial"/>
                <a:ea typeface="Arial"/>
                <a:cs typeface="Arial"/>
              </a:rPr>
              <a:t>Materi membedakan ketentuan produk, implementasi yang ditemukan, dan kesiapan operasional yang perlu dikonfirmasi.</a:t>
            </a:r>
          </a:p>
        </p:txBody>
      </p:sp>
    </p:spTree>
    <p:extLst>
      <p:ext uri="{BB962C8B-B14F-4D97-AF65-F5344CB8AC3E}">
        <p14:creationId xmlns:p14="http://schemas.microsoft.com/office/powerpoint/2010/main" val="16305290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2026-09-28T08:35:11.3330000Z</dcterms:created>
  <dcterms:modified xsi:type="dcterms:W3CDTF">2026-09-28T08:35:11.3330000Z</dcterms:modified>
</coreProperties>
</file>